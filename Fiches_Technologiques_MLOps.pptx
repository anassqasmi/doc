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A7E8C"/>
          </a:solidFill>
          <a:ln w="12700">
            <a:solidFill>
              <a:srgbClr val="0A7E8C"/>
            </a:solidFill>
            <a:prstDash val="solid"/>
          </a:ln>
        </p:spPr>
      </p:sp>
      <p:sp>
        <p:nvSpPr>
          <p:cNvPr id="3" name="Shape 1"/>
          <p:cNvSpPr/>
          <p:nvPr/>
        </p:nvSpPr>
        <p:spPr>
          <a:xfrm>
            <a:off x="0" y="0"/>
            <a:ext cx="457200" cy="5143500"/>
          </a:xfrm>
          <a:prstGeom prst="rect">
            <a:avLst/>
          </a:prstGeom>
          <a:solidFill>
            <a:srgbClr val="0A7E8C">
              <a:alpha val="40000"/>
            </a:srgbClr>
          </a:solidFill>
          <a:ln w="12700">
            <a:solidFill>
              <a:srgbClr val="0A7E8C"/>
            </a:solidFill>
            <a:prstDash val="solid"/>
          </a:ln>
        </p:spPr>
      </p:sp>
      <p:sp>
        <p:nvSpPr>
          <p:cNvPr id="4" name="Text 2"/>
          <p:cNvSpPr/>
          <p:nvPr/>
        </p:nvSpPr>
        <p:spPr>
          <a:xfrm>
            <a:off x="731520" y="1188720"/>
            <a:ext cx="7772400" cy="548640"/>
          </a:xfrm>
          <a:prstGeom prst="rect">
            <a:avLst/>
          </a:prstGeom>
          <a:noFill/>
          <a:ln/>
        </p:spPr>
        <p:txBody>
          <a:bodyPr wrap="square" lIns="0" tIns="0" rIns="0" bIns="0" rtlCol="0" anchor="ctr"/>
          <a:lstStyle/>
          <a:p>
            <a:pPr algn="l" indent="0" marL="0">
              <a:buNone/>
            </a:pPr>
            <a:r>
              <a:rPr lang="en-US" sz="1300" b="1" spc="400" kern="0" dirty="0">
                <a:solidFill>
                  <a:srgbClr val="0D9AA8"/>
                </a:solidFill>
              </a:rPr>
              <a:t>FICHES TECHNOLOGIQUES</a:t>
            </a:r>
            <a:endParaRPr lang="en-US" sz="1300" dirty="0"/>
          </a:p>
        </p:txBody>
      </p:sp>
      <p:sp>
        <p:nvSpPr>
          <p:cNvPr id="5" name="Text 3"/>
          <p:cNvSpPr/>
          <p:nvPr/>
        </p:nvSpPr>
        <p:spPr>
          <a:xfrm>
            <a:off x="731520" y="1737360"/>
            <a:ext cx="7772400" cy="1188720"/>
          </a:xfrm>
          <a:prstGeom prst="rect">
            <a:avLst/>
          </a:prstGeom>
          <a:noFill/>
          <a:ln/>
        </p:spPr>
        <p:txBody>
          <a:bodyPr wrap="square" lIns="0" tIns="0" rIns="0" bIns="0" rtlCol="0" anchor="ctr"/>
          <a:lstStyle/>
          <a:p>
            <a:pPr algn="l" indent="0" marL="0">
              <a:buNone/>
            </a:pPr>
            <a:r>
              <a:rPr lang="en-US" sz="4400" b="1" dirty="0">
                <a:solidFill>
                  <a:srgbClr val="FFFFFF"/>
                </a:solidFill>
              </a:rPr>
              <a:t>Composants MLOps</a:t>
            </a:r>
            <a:endParaRPr lang="en-US" sz="4400" dirty="0"/>
          </a:p>
        </p:txBody>
      </p:sp>
      <p:sp>
        <p:nvSpPr>
          <p:cNvPr id="6" name="Text 4"/>
          <p:cNvSpPr/>
          <p:nvPr/>
        </p:nvSpPr>
        <p:spPr>
          <a:xfrm>
            <a:off x="731520" y="2971800"/>
            <a:ext cx="7772400" cy="502920"/>
          </a:xfrm>
          <a:prstGeom prst="rect">
            <a:avLst/>
          </a:prstGeom>
          <a:noFill/>
          <a:ln/>
        </p:spPr>
        <p:txBody>
          <a:bodyPr wrap="square" lIns="0" tIns="0" rIns="0" bIns="0" rtlCol="0" anchor="ctr"/>
          <a:lstStyle/>
          <a:p>
            <a:pPr algn="l" indent="0" marL="0">
              <a:buNone/>
            </a:pPr>
            <a:r>
              <a:rPr lang="en-US" sz="1400" dirty="0">
                <a:solidFill>
                  <a:srgbClr val="A0BCC8"/>
                </a:solidFill>
              </a:rPr>
              <a:t>Airflow  ·  MLflow  ·  DVC  ·  Evidently  ·  KServe</a:t>
            </a:r>
            <a:endParaRPr lang="en-US" sz="1400" dirty="0"/>
          </a:p>
        </p:txBody>
      </p:sp>
      <p:sp>
        <p:nvSpPr>
          <p:cNvPr id="7" name="Text 5"/>
          <p:cNvSpPr/>
          <p:nvPr/>
        </p:nvSpPr>
        <p:spPr>
          <a:xfrm>
            <a:off x="731520" y="3566160"/>
            <a:ext cx="5486400" cy="411480"/>
          </a:xfrm>
          <a:prstGeom prst="rect">
            <a:avLst/>
          </a:prstGeom>
          <a:noFill/>
          <a:ln/>
        </p:spPr>
        <p:txBody>
          <a:bodyPr wrap="square" lIns="0" tIns="0" rIns="0" bIns="0" rtlCol="0" anchor="ctr"/>
          <a:lstStyle/>
          <a:p>
            <a:pPr algn="l" indent="0" marL="0">
              <a:buNone/>
            </a:pPr>
            <a:r>
              <a:rPr lang="en-US" sz="1100" dirty="0">
                <a:solidFill>
                  <a:srgbClr val="6890A0"/>
                </a:solidFill>
              </a:rPr>
              <a:t>Plateforme ML Classique — GCP / S3NS</a:t>
            </a:r>
            <a:endParaRPr lang="en-US" sz="1100" dirty="0"/>
          </a:p>
        </p:txBody>
      </p:sp>
      <p:sp>
        <p:nvSpPr>
          <p:cNvPr id="8" name="Shape 6"/>
          <p:cNvSpPr/>
          <p:nvPr/>
        </p:nvSpPr>
        <p:spPr>
          <a:xfrm>
            <a:off x="7132320" y="4389120"/>
            <a:ext cx="1737360" cy="502920"/>
          </a:xfrm>
          <a:prstGeom prst="roundRect">
            <a:avLst>
              <a:gd name="adj" fmla="val 14545"/>
            </a:avLst>
          </a:prstGeom>
          <a:solidFill>
            <a:srgbClr val="0A7E8C">
              <a:alpha val="80000"/>
            </a:srgbClr>
          </a:solidFill>
          <a:ln w="12700">
            <a:solidFill>
              <a:srgbClr val="0D9AA8"/>
            </a:solidFill>
            <a:prstDash val="solid"/>
          </a:ln>
        </p:spPr>
      </p:sp>
      <p:sp>
        <p:nvSpPr>
          <p:cNvPr id="9" name="Text 7"/>
          <p:cNvSpPr/>
          <p:nvPr/>
        </p:nvSpPr>
        <p:spPr>
          <a:xfrm>
            <a:off x="7132320" y="4389120"/>
            <a:ext cx="1737360" cy="502920"/>
          </a:xfrm>
          <a:prstGeom prst="rect">
            <a:avLst/>
          </a:prstGeom>
          <a:noFill/>
          <a:ln/>
        </p:spPr>
        <p:txBody>
          <a:bodyPr wrap="square" lIns="0" tIns="0" rIns="0" bIns="0" rtlCol="0" anchor="ctr"/>
          <a:lstStyle/>
          <a:p>
            <a:pPr algn="ctr" indent="0" marL="0">
              <a:buNone/>
            </a:pPr>
            <a:r>
              <a:rPr lang="en-US" sz="900" dirty="0">
                <a:solidFill>
                  <a:srgbClr val="FFFFFF"/>
                </a:solidFill>
              </a:rPr>
              <a:t>Premi3ns / MLOps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1B2A"/>
          </a:solidFill>
          <a:ln w="12700">
            <a:solidFill>
              <a:srgbClr val="0D1B2A"/>
            </a:solidFill>
            <a:prstDash val="solid"/>
          </a:ln>
        </p:spPr>
      </p:sp>
      <p:sp>
        <p:nvSpPr>
          <p:cNvPr id="3" name="Shape 1"/>
          <p:cNvSpPr/>
          <p:nvPr/>
        </p:nvSpPr>
        <p:spPr>
          <a:xfrm>
            <a:off x="0" y="0"/>
            <a:ext cx="9144000" cy="54864"/>
          </a:xfrm>
          <a:prstGeom prst="rect">
            <a:avLst/>
          </a:prstGeom>
          <a:solidFill>
            <a:srgbClr val="0A7E8C"/>
          </a:solidFill>
          <a:ln w="12700">
            <a:solidFill>
              <a:srgbClr val="0A7E8C"/>
            </a:solidFill>
            <a:prstDash val="solid"/>
          </a:ln>
        </p:spPr>
      </p:sp>
      <p:sp>
        <p:nvSpPr>
          <p:cNvPr id="4" name="Shape 2"/>
          <p:cNvSpPr/>
          <p:nvPr/>
        </p:nvSpPr>
        <p:spPr>
          <a:xfrm>
            <a:off x="228600" y="164592"/>
            <a:ext cx="713232" cy="713232"/>
          </a:xfrm>
          <a:prstGeom prst="ellipse">
            <a:avLst/>
          </a:prstGeom>
          <a:solidFill>
            <a:srgbClr val="0A7E8C"/>
          </a:solidFill>
          <a:ln w="25400">
            <a:solidFill>
              <a:srgbClr val="0D9AA8"/>
            </a:solidFill>
            <a:prstDash val="solid"/>
          </a:ln>
        </p:spPr>
      </p:sp>
      <p:sp>
        <p:nvSpPr>
          <p:cNvPr id="5" name="Text 3"/>
          <p:cNvSpPr/>
          <p:nvPr/>
        </p:nvSpPr>
        <p:spPr>
          <a:xfrm>
            <a:off x="228600" y="164592"/>
            <a:ext cx="713232" cy="713232"/>
          </a:xfrm>
          <a:prstGeom prst="rect">
            <a:avLst/>
          </a:prstGeom>
          <a:noFill/>
          <a:ln/>
        </p:spPr>
        <p:txBody>
          <a:bodyPr wrap="square" lIns="0" tIns="0" rIns="0" bIns="0" rtlCol="0" anchor="ctr"/>
          <a:lstStyle/>
          <a:p>
            <a:pPr algn="ctr" indent="0" marL="0">
              <a:buNone/>
            </a:pPr>
            <a:r>
              <a:rPr lang="en-US" sz="1100" b="1" dirty="0">
                <a:solidFill>
                  <a:srgbClr val="FFFFFF"/>
                </a:solidFill>
              </a:rPr>
              <a:t>AF</a:t>
            </a:r>
            <a:endParaRPr lang="en-US" sz="1100" dirty="0"/>
          </a:p>
        </p:txBody>
      </p:sp>
      <p:sp>
        <p:nvSpPr>
          <p:cNvPr id="6" name="Text 4"/>
          <p:cNvSpPr/>
          <p:nvPr/>
        </p:nvSpPr>
        <p:spPr>
          <a:xfrm>
            <a:off x="1097280" y="128016"/>
            <a:ext cx="5029200" cy="502920"/>
          </a:xfrm>
          <a:prstGeom prst="rect">
            <a:avLst/>
          </a:prstGeom>
          <a:noFill/>
          <a:ln/>
        </p:spPr>
        <p:txBody>
          <a:bodyPr wrap="square" lIns="0" tIns="0" rIns="0" bIns="0" rtlCol="0" anchor="ctr"/>
          <a:lstStyle/>
          <a:p>
            <a:pPr algn="l" indent="0" marL="0">
              <a:buNone/>
            </a:pPr>
            <a:r>
              <a:rPr lang="en-US" sz="2600" b="1" dirty="0">
                <a:solidFill>
                  <a:srgbClr val="FFFFFF"/>
                </a:solidFill>
              </a:rPr>
              <a:t>Apache Airflow</a:t>
            </a:r>
            <a:endParaRPr lang="en-US" sz="2600" dirty="0"/>
          </a:p>
        </p:txBody>
      </p:sp>
      <p:sp>
        <p:nvSpPr>
          <p:cNvPr id="7" name="Shape 5"/>
          <p:cNvSpPr/>
          <p:nvPr/>
        </p:nvSpPr>
        <p:spPr>
          <a:xfrm>
            <a:off x="1097280" y="658368"/>
            <a:ext cx="1234440" cy="256032"/>
          </a:xfrm>
          <a:prstGeom prst="roundRect">
            <a:avLst>
              <a:gd name="adj" fmla="val 21429"/>
            </a:avLst>
          </a:prstGeom>
          <a:solidFill>
            <a:srgbClr val="0A7E8C"/>
          </a:solidFill>
          <a:ln w="12700">
            <a:solidFill>
              <a:srgbClr val="0A7E8C"/>
            </a:solidFill>
            <a:prstDash val="solid"/>
          </a:ln>
        </p:spPr>
      </p:sp>
      <p:sp>
        <p:nvSpPr>
          <p:cNvPr id="8" name="Text 6"/>
          <p:cNvSpPr/>
          <p:nvPr/>
        </p:nvSpPr>
        <p:spPr>
          <a:xfrm>
            <a:off x="1097280" y="658368"/>
            <a:ext cx="1234440" cy="256032"/>
          </a:xfrm>
          <a:prstGeom prst="rect">
            <a:avLst/>
          </a:prstGeom>
          <a:noFill/>
          <a:ln/>
        </p:spPr>
        <p:txBody>
          <a:bodyPr wrap="square" lIns="0" tIns="0" rIns="0" bIns="0" rtlCol="0" anchor="ctr"/>
          <a:lstStyle/>
          <a:p>
            <a:pPr algn="ctr" indent="0" marL="0">
              <a:buNone/>
            </a:pPr>
            <a:r>
              <a:rPr lang="en-US" sz="850" b="1" dirty="0">
                <a:solidFill>
                  <a:srgbClr val="FFFFFF"/>
                </a:solidFill>
              </a:rPr>
              <a:t>Open Source (Apache 2.0)</a:t>
            </a:r>
            <a:endParaRPr lang="en-US" sz="850" dirty="0"/>
          </a:p>
        </p:txBody>
      </p:sp>
      <p:sp>
        <p:nvSpPr>
          <p:cNvPr id="9" name="Shape 7"/>
          <p:cNvSpPr/>
          <p:nvPr/>
        </p:nvSpPr>
        <p:spPr>
          <a:xfrm>
            <a:off x="2423160" y="658368"/>
            <a:ext cx="1920240" cy="256032"/>
          </a:xfrm>
          <a:prstGeom prst="roundRect">
            <a:avLst>
              <a:gd name="adj" fmla="val 21429"/>
            </a:avLst>
          </a:prstGeom>
          <a:solidFill>
            <a:srgbClr val="1A3A4A"/>
          </a:solidFill>
          <a:ln w="12700">
            <a:solidFill>
              <a:srgbClr val="1A3A4A"/>
            </a:solidFill>
            <a:prstDash val="solid"/>
          </a:ln>
        </p:spPr>
      </p:sp>
      <p:sp>
        <p:nvSpPr>
          <p:cNvPr id="10" name="Text 8"/>
          <p:cNvSpPr/>
          <p:nvPr/>
        </p:nvSpPr>
        <p:spPr>
          <a:xfrm>
            <a:off x="2423160" y="658368"/>
            <a:ext cx="1920240" cy="256032"/>
          </a:xfrm>
          <a:prstGeom prst="rect">
            <a:avLst/>
          </a:prstGeom>
          <a:noFill/>
          <a:ln/>
        </p:spPr>
        <p:txBody>
          <a:bodyPr wrap="square" lIns="0" tIns="0" rIns="0" bIns="0" rtlCol="0" anchor="ctr"/>
          <a:lstStyle/>
          <a:p>
            <a:pPr algn="ctr" indent="0" marL="0">
              <a:buNone/>
            </a:pPr>
            <a:r>
              <a:rPr lang="en-US" sz="850" b="1" dirty="0">
                <a:solidFill>
                  <a:srgbClr val="A8C8D4"/>
                </a:solidFill>
              </a:rPr>
              <a:t>Éditeur: Apache Software Foundation</a:t>
            </a:r>
            <a:endParaRPr lang="en-US" sz="850" dirty="0"/>
          </a:p>
        </p:txBody>
      </p:sp>
      <p:sp>
        <p:nvSpPr>
          <p:cNvPr id="11" name="Shape 9"/>
          <p:cNvSpPr/>
          <p:nvPr/>
        </p:nvSpPr>
        <p:spPr>
          <a:xfrm>
            <a:off x="6858000" y="201168"/>
            <a:ext cx="2057400" cy="640080"/>
          </a:xfrm>
          <a:prstGeom prst="roundRect">
            <a:avLst>
              <a:gd name="adj" fmla="val 11429"/>
            </a:avLst>
          </a:prstGeom>
          <a:solidFill>
            <a:srgbClr val="1A8C4E">
              <a:alpha val="90000"/>
            </a:srgbClr>
          </a:solidFill>
          <a:ln w="12700">
            <a:solidFill>
              <a:srgbClr val="2ABD6E"/>
            </a:solidFill>
            <a:prstDash val="solid"/>
          </a:ln>
        </p:spPr>
      </p:sp>
      <p:sp>
        <p:nvSpPr>
          <p:cNvPr id="12" name="Text 10"/>
          <p:cNvSpPr/>
          <p:nvPr/>
        </p:nvSpPr>
        <p:spPr>
          <a:xfrm>
            <a:off x="6858000" y="201168"/>
            <a:ext cx="2057400" cy="640080"/>
          </a:xfrm>
          <a:prstGeom prst="rect">
            <a:avLst/>
          </a:prstGeom>
          <a:noFill/>
          <a:ln/>
        </p:spPr>
        <p:txBody>
          <a:bodyPr wrap="square" lIns="50800" tIns="50800" rIns="50800" bIns="50800" rtlCol="0" anchor="ctr"/>
          <a:lstStyle/>
          <a:p>
            <a:pPr algn="ctr" indent="0" marL="0">
              <a:buNone/>
            </a:pPr>
            <a:r>
              <a:rPr lang="en-US" sz="750" dirty="0">
                <a:solidFill>
                  <a:srgbClr val="FFFFFF"/>
                </a:solidFill>
              </a:rPr>
              <a:t>✓ Cloud Agnostic</a:t>
            </a:r>
            <a:endParaRPr lang="en-US" sz="750" dirty="0"/>
          </a:p>
          <a:p>
            <a:pPr algn="ctr" indent="0" marL="0">
              <a:buNone/>
            </a:pPr>
            <a:r>
              <a:rPr lang="en-US" sz="750" dirty="0">
                <a:solidFill>
                  <a:srgbClr val="FFFFFF"/>
                </a:solidFill>
              </a:rPr>
              <a:t>✓ K8s Native</a:t>
            </a:r>
            <a:endParaRPr lang="en-US" sz="750" dirty="0"/>
          </a:p>
          <a:p>
            <a:pPr algn="ctr" indent="0" marL="0">
              <a:buNone/>
            </a:pPr>
            <a:r>
              <a:rPr lang="en-US" sz="750" dirty="0">
                <a:solidFill>
                  <a:srgbClr val="FFFFFF"/>
                </a:solidFill>
              </a:rPr>
              <a:t>✓ S3NS Compatible</a:t>
            </a:r>
            <a:endParaRPr lang="en-US" sz="750" dirty="0"/>
          </a:p>
        </p:txBody>
      </p:sp>
      <p:sp>
        <p:nvSpPr>
          <p:cNvPr id="13" name="Shape 11"/>
          <p:cNvSpPr/>
          <p:nvPr/>
        </p:nvSpPr>
        <p:spPr>
          <a:xfrm>
            <a:off x="109728" y="1170432"/>
            <a:ext cx="2743200" cy="1170432"/>
          </a:xfrm>
          <a:prstGeom prst="roundRect">
            <a:avLst>
              <a:gd name="adj" fmla="val 7813"/>
            </a:avLst>
          </a:prstGeom>
          <a:solidFill>
            <a:srgbClr val="F9FCFD"/>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14" name="Shape 12"/>
          <p:cNvSpPr/>
          <p:nvPr/>
        </p:nvSpPr>
        <p:spPr>
          <a:xfrm>
            <a:off x="109728" y="1170432"/>
            <a:ext cx="2743200" cy="246888"/>
          </a:xfrm>
          <a:prstGeom prst="roundRect">
            <a:avLst>
              <a:gd name="adj" fmla="val 22222"/>
            </a:avLst>
          </a:prstGeom>
          <a:solidFill>
            <a:srgbClr val="0A7E8C"/>
          </a:solidFill>
          <a:ln w="12700">
            <a:solidFill>
              <a:srgbClr val="0A7E8C"/>
            </a:solidFill>
            <a:prstDash val="solid"/>
          </a:ln>
        </p:spPr>
      </p:sp>
      <p:sp>
        <p:nvSpPr>
          <p:cNvPr id="15" name="Text 13"/>
          <p:cNvSpPr/>
          <p:nvPr/>
        </p:nvSpPr>
        <p:spPr>
          <a:xfrm>
            <a:off x="109728" y="1170432"/>
            <a:ext cx="2743200" cy="246888"/>
          </a:xfrm>
          <a:prstGeom prst="rect">
            <a:avLst/>
          </a:prstGeom>
          <a:noFill/>
          <a:ln/>
        </p:spPr>
        <p:txBody>
          <a:bodyPr wrap="square" lIns="0" tIns="0" rIns="0" bIns="0" rtlCol="0" anchor="ctr"/>
          <a:lstStyle/>
          <a:p>
            <a:pPr algn="ctr" indent="0" marL="0">
              <a:buNone/>
            </a:pPr>
            <a:r>
              <a:rPr lang="en-US" sz="800" b="1" dirty="0">
                <a:solidFill>
                  <a:srgbClr val="FFFFFF"/>
                </a:solidFill>
              </a:rPr>
              <a:t>FINALITÉ</a:t>
            </a:r>
            <a:endParaRPr lang="en-US" sz="800" dirty="0"/>
          </a:p>
        </p:txBody>
      </p:sp>
      <p:sp>
        <p:nvSpPr>
          <p:cNvPr id="16" name="Text 14"/>
          <p:cNvSpPr/>
          <p:nvPr/>
        </p:nvSpPr>
        <p:spPr>
          <a:xfrm>
            <a:off x="201168" y="1490472"/>
            <a:ext cx="2560320" cy="804672"/>
          </a:xfrm>
          <a:prstGeom prst="rect">
            <a:avLst/>
          </a:prstGeom>
          <a:noFill/>
          <a:ln/>
        </p:spPr>
        <p:txBody>
          <a:bodyPr wrap="square" lIns="0" tIns="0" rIns="0" bIns="0" rtlCol="0" anchor="t"/>
          <a:lstStyle/>
          <a:p>
            <a:pPr algn="l" indent="0" marL="0">
              <a:buNone/>
            </a:pPr>
            <a:r>
              <a:rPr lang="en-US" sz="850" dirty="0">
                <a:solidFill>
                  <a:srgbClr val="1A2B3C"/>
                </a:solidFill>
              </a:rPr>
              <a:t>Orchestrateur de workflows batch. Planifie, surveille et exécute des pipelines de données sous forme de DAGs (Directed Acyclic Graphs). Pilote les étapes d'ingestion, preprocessing, entraînement et validation des modèles ML.</a:t>
            </a:r>
            <a:endParaRPr lang="en-US" sz="850" dirty="0"/>
          </a:p>
        </p:txBody>
      </p:sp>
      <p:sp>
        <p:nvSpPr>
          <p:cNvPr id="17" name="Shape 15"/>
          <p:cNvSpPr/>
          <p:nvPr/>
        </p:nvSpPr>
        <p:spPr>
          <a:xfrm>
            <a:off x="2980944" y="1170432"/>
            <a:ext cx="3063240" cy="1170432"/>
          </a:xfrm>
          <a:prstGeom prst="roundRect">
            <a:avLst>
              <a:gd name="adj" fmla="val 7813"/>
            </a:avLst>
          </a:prstGeom>
          <a:solidFill>
            <a:srgbClr val="F9FCFD"/>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18" name="Shape 16"/>
          <p:cNvSpPr/>
          <p:nvPr/>
        </p:nvSpPr>
        <p:spPr>
          <a:xfrm>
            <a:off x="2980944" y="1170432"/>
            <a:ext cx="3063240" cy="246888"/>
          </a:xfrm>
          <a:prstGeom prst="roundRect">
            <a:avLst>
              <a:gd name="adj" fmla="val 22222"/>
            </a:avLst>
          </a:prstGeom>
          <a:solidFill>
            <a:srgbClr val="0A7E8C"/>
          </a:solidFill>
          <a:ln w="12700">
            <a:solidFill>
              <a:srgbClr val="0A7E8C"/>
            </a:solidFill>
            <a:prstDash val="solid"/>
          </a:ln>
        </p:spPr>
      </p:sp>
      <p:sp>
        <p:nvSpPr>
          <p:cNvPr id="19" name="Text 17"/>
          <p:cNvSpPr/>
          <p:nvPr/>
        </p:nvSpPr>
        <p:spPr>
          <a:xfrm>
            <a:off x="2980944" y="1170432"/>
            <a:ext cx="3063240" cy="246888"/>
          </a:xfrm>
          <a:prstGeom prst="rect">
            <a:avLst/>
          </a:prstGeom>
          <a:noFill/>
          <a:ln/>
        </p:spPr>
        <p:txBody>
          <a:bodyPr wrap="square" lIns="0" tIns="0" rIns="0" bIns="0" rtlCol="0" anchor="ctr"/>
          <a:lstStyle/>
          <a:p>
            <a:pPr algn="ctr" indent="0" marL="0">
              <a:buNone/>
            </a:pPr>
            <a:r>
              <a:rPr lang="en-US" sz="800" b="1" dirty="0">
                <a:solidFill>
                  <a:srgbClr val="FFFFFF"/>
                </a:solidFill>
              </a:rPr>
              <a:t>CAS D'USAGE MÉTIER</a:t>
            </a:r>
            <a:endParaRPr lang="en-US" sz="800" dirty="0"/>
          </a:p>
        </p:txBody>
      </p:sp>
      <p:sp>
        <p:nvSpPr>
          <p:cNvPr id="20" name="Text 18"/>
          <p:cNvSpPr/>
          <p:nvPr/>
        </p:nvSpPr>
        <p:spPr>
          <a:xfrm>
            <a:off x="3090672" y="1481328"/>
            <a:ext cx="2880360" cy="822960"/>
          </a:xfrm>
          <a:prstGeom prst="rect">
            <a:avLst/>
          </a:prstGeom>
          <a:noFill/>
          <a:ln/>
        </p:spPr>
        <p:txBody>
          <a:bodyPr wrap="square" lIns="0" tIns="0" rIns="0" bIns="0" rtlCol="0" anchor="t"/>
          <a:lstStyle/>
          <a:p>
            <a:pPr marL="342900" indent="-342900">
              <a:buSzPct val="100000"/>
              <a:buChar char="•"/>
            </a:pPr>
            <a:r>
              <a:rPr lang="en-US" sz="800" dirty="0">
                <a:solidFill>
                  <a:srgbClr val="1A2B3C"/>
                </a:solidFill>
              </a:rPr>
              <a:t>Orchestration des pipelines d'entraînement ML</a:t>
            </a:r>
            <a:endParaRPr lang="en-US" sz="800" dirty="0"/>
          </a:p>
          <a:p>
            <a:pPr marL="342900" indent="-342900">
              <a:buSzPct val="100000"/>
              <a:buChar char="•"/>
            </a:pPr>
            <a:r>
              <a:rPr lang="en-US" sz="800" dirty="0">
                <a:solidFill>
                  <a:srgbClr val="1A2B3C"/>
                </a:solidFill>
              </a:rPr>
              <a:t>Planification des jobs de feature engineering</a:t>
            </a:r>
            <a:endParaRPr lang="en-US" sz="800" dirty="0"/>
          </a:p>
          <a:p>
            <a:pPr marL="342900" indent="-342900">
              <a:buSzPct val="100000"/>
              <a:buChar char="•"/>
            </a:pPr>
            <a:r>
              <a:rPr lang="en-US" sz="800" dirty="0">
                <a:solidFill>
                  <a:srgbClr val="1A2B3C"/>
                </a:solidFill>
              </a:rPr>
              <a:t>Déclenchement de retraining automatique</a:t>
            </a:r>
            <a:endParaRPr lang="en-US" sz="800" dirty="0"/>
          </a:p>
          <a:p>
            <a:pPr marL="342900" indent="-342900">
              <a:buSzPct val="100000"/>
              <a:buChar char="•"/>
            </a:pPr>
            <a:r>
              <a:rPr lang="en-US" sz="800" dirty="0">
                <a:solidFill>
                  <a:srgbClr val="1A2B3C"/>
                </a:solidFill>
              </a:rPr>
              <a:t>Monitoring &amp; alerting sur les runs</a:t>
            </a:r>
            <a:endParaRPr lang="en-US" sz="800" dirty="0"/>
          </a:p>
          <a:p>
            <a:pPr marL="342900" indent="-342900">
              <a:buSzPct val="100000"/>
              <a:buChar char="•"/>
            </a:pPr>
            <a:r>
              <a:rPr lang="en-US" sz="800" dirty="0">
                <a:solidFill>
                  <a:srgbClr val="1A2B3C"/>
                </a:solidFill>
              </a:rPr>
              <a:t>Coordination multi-équipes data/ML</a:t>
            </a:r>
            <a:endParaRPr lang="en-US" sz="800" dirty="0"/>
          </a:p>
        </p:txBody>
      </p:sp>
      <p:sp>
        <p:nvSpPr>
          <p:cNvPr id="21" name="Shape 19"/>
          <p:cNvSpPr/>
          <p:nvPr/>
        </p:nvSpPr>
        <p:spPr>
          <a:xfrm>
            <a:off x="6172200" y="1170432"/>
            <a:ext cx="2862072" cy="1170432"/>
          </a:xfrm>
          <a:prstGeom prst="roundRect">
            <a:avLst>
              <a:gd name="adj" fmla="val 7813"/>
            </a:avLst>
          </a:prstGeom>
          <a:solidFill>
            <a:srgbClr val="F9FCFD"/>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22" name="Shape 20"/>
          <p:cNvSpPr/>
          <p:nvPr/>
        </p:nvSpPr>
        <p:spPr>
          <a:xfrm>
            <a:off x="6172200" y="1170432"/>
            <a:ext cx="2862072" cy="246888"/>
          </a:xfrm>
          <a:prstGeom prst="roundRect">
            <a:avLst>
              <a:gd name="adj" fmla="val 22222"/>
            </a:avLst>
          </a:prstGeom>
          <a:solidFill>
            <a:srgbClr val="0A7E8C"/>
          </a:solidFill>
          <a:ln w="12700">
            <a:solidFill>
              <a:srgbClr val="0A7E8C"/>
            </a:solidFill>
            <a:prstDash val="solid"/>
          </a:ln>
        </p:spPr>
      </p:sp>
      <p:sp>
        <p:nvSpPr>
          <p:cNvPr id="23" name="Text 21"/>
          <p:cNvSpPr/>
          <p:nvPr/>
        </p:nvSpPr>
        <p:spPr>
          <a:xfrm>
            <a:off x="6172200" y="1170432"/>
            <a:ext cx="2862072" cy="246888"/>
          </a:xfrm>
          <a:prstGeom prst="rect">
            <a:avLst/>
          </a:prstGeom>
          <a:noFill/>
          <a:ln/>
        </p:spPr>
        <p:txBody>
          <a:bodyPr wrap="square" lIns="0" tIns="0" rIns="0" bIns="0" rtlCol="0" anchor="ctr"/>
          <a:lstStyle/>
          <a:p>
            <a:pPr algn="ctr" indent="0" marL="0">
              <a:buNone/>
            </a:pPr>
            <a:r>
              <a:rPr lang="en-US" sz="800" b="1" dirty="0">
                <a:solidFill>
                  <a:srgbClr val="FFFFFF"/>
                </a:solidFill>
              </a:rPr>
              <a:t>IMPÉRATIFS D'UTILISATION</a:t>
            </a:r>
            <a:endParaRPr lang="en-US" sz="800" dirty="0"/>
          </a:p>
        </p:txBody>
      </p:sp>
      <p:sp>
        <p:nvSpPr>
          <p:cNvPr id="24" name="Text 22"/>
          <p:cNvSpPr/>
          <p:nvPr/>
        </p:nvSpPr>
        <p:spPr>
          <a:xfrm>
            <a:off x="6281928" y="1481328"/>
            <a:ext cx="2679192" cy="822960"/>
          </a:xfrm>
          <a:prstGeom prst="rect">
            <a:avLst/>
          </a:prstGeom>
          <a:noFill/>
          <a:ln/>
        </p:spPr>
        <p:txBody>
          <a:bodyPr wrap="square" lIns="0" tIns="0" rIns="0" bIns="0" rtlCol="0" anchor="t"/>
          <a:lstStyle/>
          <a:p>
            <a:pPr marL="342900" indent="-342900">
              <a:buSzPct val="100000"/>
              <a:buChar char="•"/>
            </a:pPr>
            <a:r>
              <a:rPr lang="en-US" sz="800" dirty="0">
                <a:solidFill>
                  <a:srgbClr val="1A2B3C"/>
                </a:solidFill>
              </a:rPr>
              <a:t>Cluster Kubernetes (via KubernetesExecutor)</a:t>
            </a:r>
            <a:endParaRPr lang="en-US" sz="800" dirty="0"/>
          </a:p>
          <a:p>
            <a:pPr marL="342900" indent="-342900">
              <a:buSzPct val="100000"/>
              <a:buChar char="•"/>
            </a:pPr>
            <a:r>
              <a:rPr lang="en-US" sz="800" dirty="0">
                <a:solidFill>
                  <a:srgbClr val="1A2B3C"/>
                </a:solidFill>
              </a:rPr>
              <a:t>Base de données PostgreSQL (metadata)</a:t>
            </a:r>
            <a:endParaRPr lang="en-US" sz="800" dirty="0"/>
          </a:p>
          <a:p>
            <a:pPr marL="342900" indent="-342900">
              <a:buSzPct val="100000"/>
              <a:buChar char="•"/>
            </a:pPr>
            <a:r>
              <a:rPr lang="en-US" sz="800" dirty="0">
                <a:solidFill>
                  <a:srgbClr val="1A2B3C"/>
                </a:solidFill>
              </a:rPr>
              <a:t>Stockage objet S3/GCS pour les artifacts</a:t>
            </a:r>
            <a:endParaRPr lang="en-US" sz="800" dirty="0"/>
          </a:p>
          <a:p>
            <a:pPr marL="342900" indent="-342900">
              <a:buSzPct val="100000"/>
              <a:buChar char="•"/>
            </a:pPr>
            <a:r>
              <a:rPr lang="en-US" sz="800" dirty="0">
                <a:solidFill>
                  <a:srgbClr val="1A2B3C"/>
                </a:solidFill>
              </a:rPr>
              <a:t>Python ≥ 3.8, connaissance des DAGs</a:t>
            </a:r>
            <a:endParaRPr lang="en-US" sz="800" dirty="0"/>
          </a:p>
        </p:txBody>
      </p:sp>
      <p:sp>
        <p:nvSpPr>
          <p:cNvPr id="25" name="Shape 23"/>
          <p:cNvSpPr/>
          <p:nvPr/>
        </p:nvSpPr>
        <p:spPr>
          <a:xfrm>
            <a:off x="109728" y="2450592"/>
            <a:ext cx="2743200" cy="1078992"/>
          </a:xfrm>
          <a:prstGeom prst="roundRect">
            <a:avLst>
              <a:gd name="adj" fmla="val 8475"/>
            </a:avLst>
          </a:prstGeom>
          <a:solidFill>
            <a:srgbClr val="E6F5ED"/>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26" name="Shape 24"/>
          <p:cNvSpPr/>
          <p:nvPr/>
        </p:nvSpPr>
        <p:spPr>
          <a:xfrm>
            <a:off x="109728" y="2450592"/>
            <a:ext cx="2743200" cy="246888"/>
          </a:xfrm>
          <a:prstGeom prst="roundRect">
            <a:avLst>
              <a:gd name="adj" fmla="val 22222"/>
            </a:avLst>
          </a:prstGeom>
          <a:solidFill>
            <a:srgbClr val="0A7E8C"/>
          </a:solidFill>
          <a:ln w="12700">
            <a:solidFill>
              <a:srgbClr val="0A7E8C"/>
            </a:solidFill>
            <a:prstDash val="solid"/>
          </a:ln>
        </p:spPr>
      </p:sp>
      <p:sp>
        <p:nvSpPr>
          <p:cNvPr id="27" name="Text 25"/>
          <p:cNvSpPr/>
          <p:nvPr/>
        </p:nvSpPr>
        <p:spPr>
          <a:xfrm>
            <a:off x="109728" y="2450592"/>
            <a:ext cx="2743200" cy="246888"/>
          </a:xfrm>
          <a:prstGeom prst="rect">
            <a:avLst/>
          </a:prstGeom>
          <a:noFill/>
          <a:ln/>
        </p:spPr>
        <p:txBody>
          <a:bodyPr wrap="square" lIns="0" tIns="0" rIns="0" bIns="0" rtlCol="0" anchor="ctr"/>
          <a:lstStyle/>
          <a:p>
            <a:pPr algn="ctr" indent="0" marL="0">
              <a:buNone/>
            </a:pPr>
            <a:r>
              <a:rPr lang="en-US" sz="800" b="1" dirty="0">
                <a:solidFill>
                  <a:srgbClr val="FFFFFF"/>
                </a:solidFill>
              </a:rPr>
              <a:t>SOLUTION EXISTANTE</a:t>
            </a:r>
            <a:endParaRPr lang="en-US" sz="800" dirty="0"/>
          </a:p>
        </p:txBody>
      </p:sp>
      <p:sp>
        <p:nvSpPr>
          <p:cNvPr id="28" name="Text 26"/>
          <p:cNvSpPr/>
          <p:nvPr/>
        </p:nvSpPr>
        <p:spPr>
          <a:xfrm>
            <a:off x="201168" y="2761488"/>
            <a:ext cx="2560320" cy="731520"/>
          </a:xfrm>
          <a:prstGeom prst="rect">
            <a:avLst/>
          </a:prstGeom>
          <a:noFill/>
          <a:ln/>
        </p:spPr>
        <p:txBody>
          <a:bodyPr wrap="square" lIns="0" tIns="0" rIns="0" bIns="0" rtlCol="0" anchor="t"/>
          <a:lstStyle/>
          <a:p>
            <a:pPr indent="0" marL="0">
              <a:buNone/>
            </a:pPr>
            <a:r>
              <a:rPr lang="en-US" sz="820" dirty="0">
                <a:solidFill>
                  <a:srgbClr val="1A2B3C"/>
                </a:solidFill>
              </a:rPr>
              <a:t>✓ Aucune solution équivalente en place — pas de doublon fonctionnel identifié.</a:t>
            </a:r>
            <a:endParaRPr lang="en-US" sz="820" dirty="0"/>
          </a:p>
        </p:txBody>
      </p:sp>
      <p:sp>
        <p:nvSpPr>
          <p:cNvPr id="29" name="Shape 27"/>
          <p:cNvSpPr/>
          <p:nvPr/>
        </p:nvSpPr>
        <p:spPr>
          <a:xfrm>
            <a:off x="2980944" y="2450592"/>
            <a:ext cx="3063240" cy="1078992"/>
          </a:xfrm>
          <a:prstGeom prst="roundRect">
            <a:avLst>
              <a:gd name="adj" fmla="val 8475"/>
            </a:avLst>
          </a:prstGeom>
          <a:solidFill>
            <a:srgbClr val="EBF5FF"/>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30" name="Shape 28"/>
          <p:cNvSpPr/>
          <p:nvPr/>
        </p:nvSpPr>
        <p:spPr>
          <a:xfrm>
            <a:off x="2980944" y="2450592"/>
            <a:ext cx="3063240" cy="246888"/>
          </a:xfrm>
          <a:prstGeom prst="roundRect">
            <a:avLst>
              <a:gd name="adj" fmla="val 22222"/>
            </a:avLst>
          </a:prstGeom>
          <a:solidFill>
            <a:srgbClr val="0A7E8C"/>
          </a:solidFill>
          <a:ln w="12700">
            <a:solidFill>
              <a:srgbClr val="0A7E8C"/>
            </a:solidFill>
            <a:prstDash val="solid"/>
          </a:ln>
        </p:spPr>
      </p:sp>
      <p:sp>
        <p:nvSpPr>
          <p:cNvPr id="31" name="Text 29"/>
          <p:cNvSpPr/>
          <p:nvPr/>
        </p:nvSpPr>
        <p:spPr>
          <a:xfrm>
            <a:off x="2980944" y="2450592"/>
            <a:ext cx="3063240" cy="246888"/>
          </a:xfrm>
          <a:prstGeom prst="rect">
            <a:avLst/>
          </a:prstGeom>
          <a:noFill/>
          <a:ln/>
        </p:spPr>
        <p:txBody>
          <a:bodyPr wrap="square" lIns="0" tIns="0" rIns="0" bIns="0" rtlCol="0" anchor="ctr"/>
          <a:lstStyle/>
          <a:p>
            <a:pPr algn="ctr" indent="0" marL="0">
              <a:buNone/>
            </a:pPr>
            <a:r>
              <a:rPr lang="en-US" sz="800" b="1" dirty="0">
                <a:solidFill>
                  <a:srgbClr val="FFFFFF"/>
                </a:solidFill>
              </a:rPr>
              <a:t>STRATÉGIE IA &amp; PORTABILITÉ</a:t>
            </a:r>
            <a:endParaRPr lang="en-US" sz="800" dirty="0"/>
          </a:p>
        </p:txBody>
      </p:sp>
      <p:sp>
        <p:nvSpPr>
          <p:cNvPr id="32" name="Text 30"/>
          <p:cNvSpPr/>
          <p:nvPr/>
        </p:nvSpPr>
        <p:spPr>
          <a:xfrm>
            <a:off x="3090672" y="2761488"/>
            <a:ext cx="2880360" cy="731520"/>
          </a:xfrm>
          <a:prstGeom prst="rect">
            <a:avLst/>
          </a:prstGeom>
          <a:noFill/>
          <a:ln/>
        </p:spPr>
        <p:txBody>
          <a:bodyPr wrap="square" lIns="0" tIns="0" rIns="0" bIns="0" rtlCol="0" anchor="t"/>
          <a:lstStyle/>
          <a:p>
            <a:pPr indent="0" marL="0">
              <a:buNone/>
            </a:pPr>
            <a:r>
              <a:rPr lang="en-US" sz="820" dirty="0">
                <a:solidFill>
                  <a:srgbClr val="1A2B3C"/>
                </a:solidFill>
              </a:rPr>
              <a:t>Aligné stratégie IA : orchestration unifiée data &amp; ML sur S3NS/GCP. Portabilité totale — agnostique cloud, déployé via Helm sur K8s. Standard de facto pour les plateformes MLOps. Compatible Kubeflow Pipelines via provider.</a:t>
            </a:r>
            <a:endParaRPr lang="en-US" sz="820" dirty="0"/>
          </a:p>
        </p:txBody>
      </p:sp>
      <p:sp>
        <p:nvSpPr>
          <p:cNvPr id="33" name="Shape 31"/>
          <p:cNvSpPr/>
          <p:nvPr/>
        </p:nvSpPr>
        <p:spPr>
          <a:xfrm>
            <a:off x="6172200" y="2450592"/>
            <a:ext cx="2862072" cy="1078992"/>
          </a:xfrm>
          <a:prstGeom prst="roundRect">
            <a:avLst>
              <a:gd name="adj" fmla="val 8475"/>
            </a:avLst>
          </a:prstGeom>
          <a:solidFill>
            <a:srgbClr val="E6F5ED"/>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34" name="Shape 32"/>
          <p:cNvSpPr/>
          <p:nvPr/>
        </p:nvSpPr>
        <p:spPr>
          <a:xfrm>
            <a:off x="6172200" y="2450592"/>
            <a:ext cx="2862072" cy="246888"/>
          </a:xfrm>
          <a:prstGeom prst="roundRect">
            <a:avLst>
              <a:gd name="adj" fmla="val 22222"/>
            </a:avLst>
          </a:prstGeom>
          <a:solidFill>
            <a:srgbClr val="0A7E8C"/>
          </a:solidFill>
          <a:ln w="12700">
            <a:solidFill>
              <a:srgbClr val="0A7E8C"/>
            </a:solidFill>
            <a:prstDash val="solid"/>
          </a:ln>
        </p:spPr>
      </p:sp>
      <p:sp>
        <p:nvSpPr>
          <p:cNvPr id="35" name="Text 33"/>
          <p:cNvSpPr/>
          <p:nvPr/>
        </p:nvSpPr>
        <p:spPr>
          <a:xfrm>
            <a:off x="6172200" y="2450592"/>
            <a:ext cx="2862072" cy="246888"/>
          </a:xfrm>
          <a:prstGeom prst="rect">
            <a:avLst/>
          </a:prstGeom>
          <a:noFill/>
          <a:ln/>
        </p:spPr>
        <p:txBody>
          <a:bodyPr wrap="square" lIns="0" tIns="0" rIns="0" bIns="0" rtlCol="0" anchor="ctr"/>
          <a:lstStyle/>
          <a:p>
            <a:pPr algn="ctr" indent="0" marL="0">
              <a:buNone/>
            </a:pPr>
            <a:r>
              <a:rPr lang="en-US" sz="800" b="1" dirty="0">
                <a:solidFill>
                  <a:srgbClr val="FFFFFF"/>
                </a:solidFill>
              </a:rPr>
              <a:t>COMPATIBILITÉ S3NS / STANDARDS</a:t>
            </a:r>
            <a:endParaRPr lang="en-US" sz="800" dirty="0"/>
          </a:p>
        </p:txBody>
      </p:sp>
      <p:sp>
        <p:nvSpPr>
          <p:cNvPr id="36" name="Text 34"/>
          <p:cNvSpPr/>
          <p:nvPr/>
        </p:nvSpPr>
        <p:spPr>
          <a:xfrm>
            <a:off x="6281928" y="2761488"/>
            <a:ext cx="2679192" cy="731520"/>
          </a:xfrm>
          <a:prstGeom prst="rect">
            <a:avLst/>
          </a:prstGeom>
          <a:noFill/>
          <a:ln/>
        </p:spPr>
        <p:txBody>
          <a:bodyPr wrap="square" lIns="0" tIns="0" rIns="0" bIns="0" rtlCol="0" anchor="t"/>
          <a:lstStyle/>
          <a:p>
            <a:pPr indent="0" marL="0">
              <a:buNone/>
            </a:pPr>
            <a:r>
              <a:rPr lang="en-US" sz="820" dirty="0">
                <a:solidFill>
                  <a:srgbClr val="1A2B3C"/>
                </a:solidFill>
              </a:rPr>
              <a:t>✓ Agnostique cloud provider</a:t>
            </a:r>
            <a:endParaRPr lang="en-US" sz="820" dirty="0"/>
          </a:p>
          <a:p>
            <a:pPr indent="0" marL="0">
              <a:buNone/>
            </a:pPr>
            <a:r>
              <a:rPr lang="en-US" sz="820" dirty="0">
                <a:solidFill>
                  <a:srgbClr val="1A2B3C"/>
                </a:solidFill>
              </a:rPr>
              <a:t>✓ Déploiement Helm/K8s natif</a:t>
            </a:r>
            <a:endParaRPr lang="en-US" sz="820" dirty="0"/>
          </a:p>
          <a:p>
            <a:pPr indent="0" marL="0">
              <a:buNone/>
            </a:pPr>
            <a:r>
              <a:rPr lang="en-US" sz="820" dirty="0">
                <a:solidFill>
                  <a:srgbClr val="1A2B3C"/>
                </a:solidFill>
              </a:rPr>
              <a:t>✓ S3NS : accès objet via provider S3</a:t>
            </a:r>
            <a:endParaRPr lang="en-US" sz="820" dirty="0"/>
          </a:p>
          <a:p>
            <a:pPr indent="0" marL="0">
              <a:buNone/>
            </a:pPr>
            <a:r>
              <a:rPr lang="en-US" sz="820" dirty="0">
                <a:solidFill>
                  <a:srgbClr val="1A2B3C"/>
                </a:solidFill>
              </a:rPr>
              <a:t>✓ Aucune dépendance GCP-specific</a:t>
            </a:r>
            <a:endParaRPr lang="en-US" sz="820" dirty="0"/>
          </a:p>
          <a:p>
            <a:pPr indent="0" marL="0">
              <a:buNone/>
            </a:pPr>
            <a:r>
              <a:rPr lang="en-US" sz="820" dirty="0">
                <a:solidFill>
                  <a:srgbClr val="1A2B3C"/>
                </a:solidFill>
              </a:rPr>
              <a:t>✓ Compatible GitLab CI pour déploiement</a:t>
            </a:r>
            <a:endParaRPr lang="en-US" sz="820" dirty="0"/>
          </a:p>
        </p:txBody>
      </p:sp>
      <p:sp>
        <p:nvSpPr>
          <p:cNvPr id="37" name="Shape 35"/>
          <p:cNvSpPr/>
          <p:nvPr/>
        </p:nvSpPr>
        <p:spPr>
          <a:xfrm>
            <a:off x="109728" y="3639312"/>
            <a:ext cx="2743200" cy="1325880"/>
          </a:xfrm>
          <a:prstGeom prst="roundRect">
            <a:avLst>
              <a:gd name="adj" fmla="val 6897"/>
            </a:avLst>
          </a:prstGeom>
          <a:solidFill>
            <a:srgbClr val="F9FCFD"/>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38" name="Shape 36"/>
          <p:cNvSpPr/>
          <p:nvPr/>
        </p:nvSpPr>
        <p:spPr>
          <a:xfrm>
            <a:off x="109728" y="3639312"/>
            <a:ext cx="2743200" cy="246888"/>
          </a:xfrm>
          <a:prstGeom prst="roundRect">
            <a:avLst>
              <a:gd name="adj" fmla="val 22222"/>
            </a:avLst>
          </a:prstGeom>
          <a:solidFill>
            <a:srgbClr val="0A7E8C"/>
          </a:solidFill>
          <a:ln w="12700">
            <a:solidFill>
              <a:srgbClr val="0A7E8C"/>
            </a:solidFill>
            <a:prstDash val="solid"/>
          </a:ln>
        </p:spPr>
      </p:sp>
      <p:sp>
        <p:nvSpPr>
          <p:cNvPr id="39" name="Text 37"/>
          <p:cNvSpPr/>
          <p:nvPr/>
        </p:nvSpPr>
        <p:spPr>
          <a:xfrm>
            <a:off x="109728" y="3639312"/>
            <a:ext cx="2743200" cy="246888"/>
          </a:xfrm>
          <a:prstGeom prst="rect">
            <a:avLst/>
          </a:prstGeom>
          <a:noFill/>
          <a:ln/>
        </p:spPr>
        <p:txBody>
          <a:bodyPr wrap="square" lIns="0" tIns="0" rIns="0" bIns="0" rtlCol="0" anchor="ctr"/>
          <a:lstStyle/>
          <a:p>
            <a:pPr algn="ctr" indent="0" marL="0">
              <a:buNone/>
            </a:pPr>
            <a:r>
              <a:rPr lang="en-US" sz="800" b="1" dirty="0">
                <a:solidFill>
                  <a:srgbClr val="FFFFFF"/>
                </a:solidFill>
              </a:rPr>
              <a:t>PÉRENNITÉ &amp; ADOPTION MARCHÉ</a:t>
            </a:r>
            <a:endParaRPr lang="en-US" sz="800" dirty="0"/>
          </a:p>
        </p:txBody>
      </p:sp>
      <p:sp>
        <p:nvSpPr>
          <p:cNvPr id="40" name="Text 38"/>
          <p:cNvSpPr/>
          <p:nvPr/>
        </p:nvSpPr>
        <p:spPr>
          <a:xfrm>
            <a:off x="201168" y="3950208"/>
            <a:ext cx="2560320" cy="960120"/>
          </a:xfrm>
          <a:prstGeom prst="rect">
            <a:avLst/>
          </a:prstGeom>
          <a:noFill/>
          <a:ln/>
        </p:spPr>
        <p:txBody>
          <a:bodyPr wrap="square" lIns="0" tIns="0" rIns="0" bIns="0" rtlCol="0" anchor="t"/>
          <a:lstStyle/>
          <a:p>
            <a:pPr indent="0" marL="0">
              <a:buNone/>
            </a:pPr>
            <a:r>
              <a:rPr lang="en-US" sz="820" dirty="0">
                <a:solidFill>
                  <a:srgbClr val="1A2B3C"/>
                </a:solidFill>
              </a:rPr>
              <a:t>⭐ 35 000+ stars GitHub. Standard industrie depuis 2015. Adopté par Airbnb, LinkedIn, Twitter. Astronomer Inc. assure le support enterprise. Communauté active (400+ providers). Roadmap publique garantie.</a:t>
            </a:r>
            <a:endParaRPr lang="en-US" sz="820" dirty="0"/>
          </a:p>
        </p:txBody>
      </p:sp>
      <p:sp>
        <p:nvSpPr>
          <p:cNvPr id="41" name="Shape 39"/>
          <p:cNvSpPr/>
          <p:nvPr/>
        </p:nvSpPr>
        <p:spPr>
          <a:xfrm>
            <a:off x="2980944" y="3639312"/>
            <a:ext cx="6053328" cy="1325880"/>
          </a:xfrm>
          <a:prstGeom prst="roundRect">
            <a:avLst>
              <a:gd name="adj" fmla="val 6897"/>
            </a:avLst>
          </a:prstGeom>
          <a:solidFill>
            <a:srgbClr val="F9FCFD"/>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42" name="Shape 40"/>
          <p:cNvSpPr/>
          <p:nvPr/>
        </p:nvSpPr>
        <p:spPr>
          <a:xfrm>
            <a:off x="2980944" y="3639312"/>
            <a:ext cx="6053328" cy="246888"/>
          </a:xfrm>
          <a:prstGeom prst="roundRect">
            <a:avLst>
              <a:gd name="adj" fmla="val 22222"/>
            </a:avLst>
          </a:prstGeom>
          <a:solidFill>
            <a:srgbClr val="0A7E8C"/>
          </a:solidFill>
          <a:ln w="12700">
            <a:solidFill>
              <a:srgbClr val="0A7E8C"/>
            </a:solidFill>
            <a:prstDash val="solid"/>
          </a:ln>
        </p:spPr>
      </p:sp>
      <p:sp>
        <p:nvSpPr>
          <p:cNvPr id="43" name="Text 41"/>
          <p:cNvSpPr/>
          <p:nvPr/>
        </p:nvSpPr>
        <p:spPr>
          <a:xfrm>
            <a:off x="2980944" y="3639312"/>
            <a:ext cx="6053328" cy="246888"/>
          </a:xfrm>
          <a:prstGeom prst="rect">
            <a:avLst/>
          </a:prstGeom>
          <a:noFill/>
          <a:ln/>
        </p:spPr>
        <p:txBody>
          <a:bodyPr wrap="square" lIns="0" tIns="0" rIns="0" bIns="0" rtlCol="0" anchor="ctr"/>
          <a:lstStyle/>
          <a:p>
            <a:pPr algn="ctr" indent="0" marL="0">
              <a:buNone/>
            </a:pPr>
            <a:r>
              <a:rPr lang="en-US" sz="800" b="1" dirty="0">
                <a:solidFill>
                  <a:srgbClr val="FFFFFF"/>
                </a:solidFill>
              </a:rPr>
              <a:t>CONDITIONS D'UTILISATION</a:t>
            </a:r>
            <a:endParaRPr lang="en-US" sz="800" dirty="0"/>
          </a:p>
        </p:txBody>
      </p:sp>
      <p:sp>
        <p:nvSpPr>
          <p:cNvPr id="44" name="Shape 42"/>
          <p:cNvSpPr/>
          <p:nvPr/>
        </p:nvSpPr>
        <p:spPr>
          <a:xfrm>
            <a:off x="3072384" y="3959352"/>
            <a:ext cx="1901952" cy="969264"/>
          </a:xfrm>
          <a:prstGeom prst="roundRect">
            <a:avLst>
              <a:gd name="adj" fmla="val 6604"/>
            </a:avLst>
          </a:prstGeom>
          <a:solidFill>
            <a:srgbClr val="EEF2FF"/>
          </a:solidFill>
          <a:ln w="12700">
            <a:solidFill>
              <a:srgbClr val="C7D2FE"/>
            </a:solidFill>
            <a:prstDash val="solid"/>
          </a:ln>
        </p:spPr>
      </p:sp>
      <p:sp>
        <p:nvSpPr>
          <p:cNvPr id="45" name="Text 43"/>
          <p:cNvSpPr/>
          <p:nvPr/>
        </p:nvSpPr>
        <p:spPr>
          <a:xfrm>
            <a:off x="3072384" y="3959352"/>
            <a:ext cx="1901952" cy="228600"/>
          </a:xfrm>
          <a:prstGeom prst="rect">
            <a:avLst/>
          </a:prstGeom>
          <a:noFill/>
          <a:ln/>
        </p:spPr>
        <p:txBody>
          <a:bodyPr wrap="square" lIns="0" tIns="0" rIns="0" bIns="0" rtlCol="0" anchor="ctr"/>
          <a:lstStyle/>
          <a:p>
            <a:pPr algn="ctr" indent="0" marL="0">
              <a:buNone/>
            </a:pPr>
            <a:r>
              <a:rPr lang="en-US" sz="750" b="1" dirty="0">
                <a:solidFill>
                  <a:srgbClr val="4338CA"/>
                </a:solidFill>
              </a:rPr>
              <a:t>COMPÉTENCES</a:t>
            </a:r>
            <a:endParaRPr lang="en-US" sz="750" dirty="0"/>
          </a:p>
        </p:txBody>
      </p:sp>
      <p:sp>
        <p:nvSpPr>
          <p:cNvPr id="46" name="Text 44"/>
          <p:cNvSpPr/>
          <p:nvPr/>
        </p:nvSpPr>
        <p:spPr>
          <a:xfrm>
            <a:off x="3145536" y="4187952"/>
            <a:ext cx="1755648" cy="713232"/>
          </a:xfrm>
          <a:prstGeom prst="rect">
            <a:avLst/>
          </a:prstGeom>
          <a:noFill/>
          <a:ln/>
        </p:spPr>
        <p:txBody>
          <a:bodyPr wrap="square" lIns="0" tIns="0" rIns="0" bIns="0" rtlCol="0" anchor="t"/>
          <a:lstStyle/>
          <a:p>
            <a:pPr indent="0" marL="0">
              <a:buNone/>
            </a:pPr>
            <a:r>
              <a:rPr lang="en-US" sz="800" dirty="0">
                <a:solidFill>
                  <a:srgbClr val="1A2B3C"/>
                </a:solidFill>
              </a:rPr>
              <a:t>Python confirmé, compréhension des DAGs &amp; operators, notions K8s/Helm, administration Airflow (connexions, variables, XComs).</a:t>
            </a:r>
            <a:endParaRPr lang="en-US" sz="800" dirty="0"/>
          </a:p>
        </p:txBody>
      </p:sp>
      <p:sp>
        <p:nvSpPr>
          <p:cNvPr id="47" name="Shape 45"/>
          <p:cNvSpPr/>
          <p:nvPr/>
        </p:nvSpPr>
        <p:spPr>
          <a:xfrm>
            <a:off x="5102352" y="3959352"/>
            <a:ext cx="1901952" cy="969264"/>
          </a:xfrm>
          <a:prstGeom prst="roundRect">
            <a:avLst>
              <a:gd name="adj" fmla="val 6604"/>
            </a:avLst>
          </a:prstGeom>
          <a:solidFill>
            <a:srgbClr val="FFF7ED"/>
          </a:solidFill>
          <a:ln w="12700">
            <a:solidFill>
              <a:srgbClr val="FED7AA"/>
            </a:solidFill>
            <a:prstDash val="solid"/>
          </a:ln>
        </p:spPr>
      </p:sp>
      <p:sp>
        <p:nvSpPr>
          <p:cNvPr id="48" name="Text 46"/>
          <p:cNvSpPr/>
          <p:nvPr/>
        </p:nvSpPr>
        <p:spPr>
          <a:xfrm>
            <a:off x="5102352" y="3959352"/>
            <a:ext cx="1901952" cy="228600"/>
          </a:xfrm>
          <a:prstGeom prst="rect">
            <a:avLst/>
          </a:prstGeom>
          <a:noFill/>
          <a:ln/>
        </p:spPr>
        <p:txBody>
          <a:bodyPr wrap="square" lIns="0" tIns="0" rIns="0" bIns="0" rtlCol="0" anchor="ctr"/>
          <a:lstStyle/>
          <a:p>
            <a:pPr algn="ctr" indent="0" marL="0">
              <a:buNone/>
            </a:pPr>
            <a:r>
              <a:rPr lang="en-US" sz="750" b="1" dirty="0">
                <a:solidFill>
                  <a:srgbClr val="C2410C"/>
                </a:solidFill>
              </a:rPr>
              <a:t>COÛTS BUILD / RUN</a:t>
            </a:r>
            <a:endParaRPr lang="en-US" sz="750" dirty="0"/>
          </a:p>
        </p:txBody>
      </p:sp>
      <p:sp>
        <p:nvSpPr>
          <p:cNvPr id="49" name="Text 47"/>
          <p:cNvSpPr/>
          <p:nvPr/>
        </p:nvSpPr>
        <p:spPr>
          <a:xfrm>
            <a:off x="5175504" y="4187952"/>
            <a:ext cx="1755648" cy="713232"/>
          </a:xfrm>
          <a:prstGeom prst="rect">
            <a:avLst/>
          </a:prstGeom>
          <a:noFill/>
          <a:ln/>
        </p:spPr>
        <p:txBody>
          <a:bodyPr wrap="square" lIns="0" tIns="0" rIns="0" bIns="0" rtlCol="0" anchor="t"/>
          <a:lstStyle/>
          <a:p>
            <a:pPr indent="0" marL="0">
              <a:buNone/>
            </a:pPr>
            <a:r>
              <a:rPr lang="en-US" sz="800" dirty="0">
                <a:solidFill>
                  <a:srgbClr val="1A2B3C"/>
                </a:solidFill>
              </a:rPr>
              <a:t>Build : 3-5j intégration K8s + DAGs initiaux.</a:t>
            </a:r>
            <a:endParaRPr lang="en-US" sz="800" dirty="0"/>
          </a:p>
          <a:p>
            <a:pPr indent="0" marL="0">
              <a:buNone/>
            </a:pPr>
            <a:r>
              <a:rPr lang="en-US" sz="800" dirty="0">
                <a:solidFill>
                  <a:srgbClr val="1A2B3C"/>
                </a:solidFill>
              </a:rPr>
              <a:t>Run : coût infra K8s (workers éphémères). Licence : gratuit. Support enterprise Astronomer optionnel.</a:t>
            </a:r>
            <a:endParaRPr lang="en-US" sz="800" dirty="0"/>
          </a:p>
        </p:txBody>
      </p:sp>
      <p:sp>
        <p:nvSpPr>
          <p:cNvPr id="50" name="Shape 48"/>
          <p:cNvSpPr/>
          <p:nvPr/>
        </p:nvSpPr>
        <p:spPr>
          <a:xfrm>
            <a:off x="7132320" y="3959352"/>
            <a:ext cx="1810512" cy="969264"/>
          </a:xfrm>
          <a:prstGeom prst="roundRect">
            <a:avLst>
              <a:gd name="adj" fmla="val 6604"/>
            </a:avLst>
          </a:prstGeom>
          <a:solidFill>
            <a:srgbClr val="F0FDF4"/>
          </a:solidFill>
          <a:ln w="12700">
            <a:solidFill>
              <a:srgbClr val="86EFAC"/>
            </a:solidFill>
            <a:prstDash val="solid"/>
          </a:ln>
        </p:spPr>
      </p:sp>
      <p:sp>
        <p:nvSpPr>
          <p:cNvPr id="51" name="Text 49"/>
          <p:cNvSpPr/>
          <p:nvPr/>
        </p:nvSpPr>
        <p:spPr>
          <a:xfrm>
            <a:off x="7132320" y="3959352"/>
            <a:ext cx="1810512" cy="228600"/>
          </a:xfrm>
          <a:prstGeom prst="rect">
            <a:avLst/>
          </a:prstGeom>
          <a:noFill/>
          <a:ln/>
        </p:spPr>
        <p:txBody>
          <a:bodyPr wrap="square" lIns="0" tIns="0" rIns="0" bIns="0" rtlCol="0" anchor="ctr"/>
          <a:lstStyle/>
          <a:p>
            <a:pPr algn="ctr" indent="0" marL="0">
              <a:buNone/>
            </a:pPr>
            <a:r>
              <a:rPr lang="en-US" sz="750" b="1" dirty="0">
                <a:solidFill>
                  <a:srgbClr val="15803D"/>
                </a:solidFill>
              </a:rPr>
              <a:t>INTÉGRATION SI</a:t>
            </a:r>
            <a:endParaRPr lang="en-US" sz="750" dirty="0"/>
          </a:p>
        </p:txBody>
      </p:sp>
      <p:sp>
        <p:nvSpPr>
          <p:cNvPr id="52" name="Text 50"/>
          <p:cNvSpPr/>
          <p:nvPr/>
        </p:nvSpPr>
        <p:spPr>
          <a:xfrm>
            <a:off x="7205472" y="4187952"/>
            <a:ext cx="1664208" cy="713232"/>
          </a:xfrm>
          <a:prstGeom prst="rect">
            <a:avLst/>
          </a:prstGeom>
          <a:noFill/>
          <a:ln/>
        </p:spPr>
        <p:txBody>
          <a:bodyPr wrap="square" lIns="0" tIns="0" rIns="0" bIns="0" rtlCol="0" anchor="t"/>
          <a:lstStyle/>
          <a:p>
            <a:pPr indent="0" marL="0">
              <a:buNone/>
            </a:pPr>
            <a:r>
              <a:rPr lang="en-US" sz="800" dirty="0">
                <a:solidFill>
                  <a:srgbClr val="1A2B3C"/>
                </a:solidFill>
              </a:rPr>
              <a:t>API REST Airflow v2, providers GitLab, MLflow, GCS/S3. Trigger depuis CI/CD ou événements. Logs centralisés ELK/Loki.</a:t>
            </a:r>
            <a:endParaRPr lang="en-US" sz="800" dirty="0"/>
          </a:p>
        </p:txBody>
      </p:sp>
      <p:sp>
        <p:nvSpPr>
          <p:cNvPr id="53" name="Text 51"/>
          <p:cNvSpPr/>
          <p:nvPr/>
        </p:nvSpPr>
        <p:spPr>
          <a:xfrm>
            <a:off x="109728" y="4956048"/>
            <a:ext cx="8924544" cy="182880"/>
          </a:xfrm>
          <a:prstGeom prst="rect">
            <a:avLst/>
          </a:prstGeom>
          <a:noFill/>
          <a:ln/>
        </p:spPr>
        <p:txBody>
          <a:bodyPr wrap="square" lIns="0" tIns="0" rIns="0" bIns="0" rtlCol="0" anchor="ctr"/>
          <a:lstStyle/>
          <a:p>
            <a:pPr algn="r" indent="0" marL="0">
              <a:buNone/>
            </a:pPr>
            <a:r>
              <a:rPr lang="en-US" sz="700" dirty="0">
                <a:solidFill>
                  <a:srgbClr val="90A8B0"/>
                </a:solidFill>
              </a:rPr>
              <a:t>Apache Airflow  —  Fiche Technologique MLOps  |  Premi3ns</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1B2A"/>
          </a:solidFill>
          <a:ln w="12700">
            <a:solidFill>
              <a:srgbClr val="0D1B2A"/>
            </a:solidFill>
            <a:prstDash val="solid"/>
          </a:ln>
        </p:spPr>
      </p:sp>
      <p:sp>
        <p:nvSpPr>
          <p:cNvPr id="3" name="Shape 1"/>
          <p:cNvSpPr/>
          <p:nvPr/>
        </p:nvSpPr>
        <p:spPr>
          <a:xfrm>
            <a:off x="0" y="0"/>
            <a:ext cx="9144000" cy="54864"/>
          </a:xfrm>
          <a:prstGeom prst="rect">
            <a:avLst/>
          </a:prstGeom>
          <a:solidFill>
            <a:srgbClr val="0A7E8C"/>
          </a:solidFill>
          <a:ln w="12700">
            <a:solidFill>
              <a:srgbClr val="0A7E8C"/>
            </a:solidFill>
            <a:prstDash val="solid"/>
          </a:ln>
        </p:spPr>
      </p:sp>
      <p:sp>
        <p:nvSpPr>
          <p:cNvPr id="4" name="Shape 2"/>
          <p:cNvSpPr/>
          <p:nvPr/>
        </p:nvSpPr>
        <p:spPr>
          <a:xfrm>
            <a:off x="228600" y="164592"/>
            <a:ext cx="713232" cy="713232"/>
          </a:xfrm>
          <a:prstGeom prst="ellipse">
            <a:avLst/>
          </a:prstGeom>
          <a:solidFill>
            <a:srgbClr val="0A7E8C"/>
          </a:solidFill>
          <a:ln w="25400">
            <a:solidFill>
              <a:srgbClr val="0D9AA8"/>
            </a:solidFill>
            <a:prstDash val="solid"/>
          </a:ln>
        </p:spPr>
      </p:sp>
      <p:sp>
        <p:nvSpPr>
          <p:cNvPr id="5" name="Text 3"/>
          <p:cNvSpPr/>
          <p:nvPr/>
        </p:nvSpPr>
        <p:spPr>
          <a:xfrm>
            <a:off x="228600" y="164592"/>
            <a:ext cx="713232" cy="713232"/>
          </a:xfrm>
          <a:prstGeom prst="rect">
            <a:avLst/>
          </a:prstGeom>
          <a:noFill/>
          <a:ln/>
        </p:spPr>
        <p:txBody>
          <a:bodyPr wrap="square" lIns="0" tIns="0" rIns="0" bIns="0" rtlCol="0" anchor="ctr"/>
          <a:lstStyle/>
          <a:p>
            <a:pPr algn="ctr" indent="0" marL="0">
              <a:buNone/>
            </a:pPr>
            <a:r>
              <a:rPr lang="en-US" sz="1100" b="1" dirty="0">
                <a:solidFill>
                  <a:srgbClr val="FFFFFF"/>
                </a:solidFill>
              </a:rPr>
              <a:t>ML</a:t>
            </a:r>
            <a:endParaRPr lang="en-US" sz="1100" dirty="0"/>
          </a:p>
        </p:txBody>
      </p:sp>
      <p:sp>
        <p:nvSpPr>
          <p:cNvPr id="6" name="Text 4"/>
          <p:cNvSpPr/>
          <p:nvPr/>
        </p:nvSpPr>
        <p:spPr>
          <a:xfrm>
            <a:off x="1097280" y="128016"/>
            <a:ext cx="5029200" cy="502920"/>
          </a:xfrm>
          <a:prstGeom prst="rect">
            <a:avLst/>
          </a:prstGeom>
          <a:noFill/>
          <a:ln/>
        </p:spPr>
        <p:txBody>
          <a:bodyPr wrap="square" lIns="0" tIns="0" rIns="0" bIns="0" rtlCol="0" anchor="ctr"/>
          <a:lstStyle/>
          <a:p>
            <a:pPr algn="l" indent="0" marL="0">
              <a:buNone/>
            </a:pPr>
            <a:r>
              <a:rPr lang="en-US" sz="2600" b="1" dirty="0">
                <a:solidFill>
                  <a:srgbClr val="FFFFFF"/>
                </a:solidFill>
              </a:rPr>
              <a:t>MLflow</a:t>
            </a:r>
            <a:endParaRPr lang="en-US" sz="2600" dirty="0"/>
          </a:p>
        </p:txBody>
      </p:sp>
      <p:sp>
        <p:nvSpPr>
          <p:cNvPr id="7" name="Shape 5"/>
          <p:cNvSpPr/>
          <p:nvPr/>
        </p:nvSpPr>
        <p:spPr>
          <a:xfrm>
            <a:off x="1097280" y="658368"/>
            <a:ext cx="1234440" cy="256032"/>
          </a:xfrm>
          <a:prstGeom prst="roundRect">
            <a:avLst>
              <a:gd name="adj" fmla="val 21429"/>
            </a:avLst>
          </a:prstGeom>
          <a:solidFill>
            <a:srgbClr val="0A7E8C"/>
          </a:solidFill>
          <a:ln w="12700">
            <a:solidFill>
              <a:srgbClr val="0A7E8C"/>
            </a:solidFill>
            <a:prstDash val="solid"/>
          </a:ln>
        </p:spPr>
      </p:sp>
      <p:sp>
        <p:nvSpPr>
          <p:cNvPr id="8" name="Text 6"/>
          <p:cNvSpPr/>
          <p:nvPr/>
        </p:nvSpPr>
        <p:spPr>
          <a:xfrm>
            <a:off x="1097280" y="658368"/>
            <a:ext cx="1234440" cy="256032"/>
          </a:xfrm>
          <a:prstGeom prst="rect">
            <a:avLst/>
          </a:prstGeom>
          <a:noFill/>
          <a:ln/>
        </p:spPr>
        <p:txBody>
          <a:bodyPr wrap="square" lIns="0" tIns="0" rIns="0" bIns="0" rtlCol="0" anchor="ctr"/>
          <a:lstStyle/>
          <a:p>
            <a:pPr algn="ctr" indent="0" marL="0">
              <a:buNone/>
            </a:pPr>
            <a:r>
              <a:rPr lang="en-US" sz="850" b="1" dirty="0">
                <a:solidFill>
                  <a:srgbClr val="FFFFFF"/>
                </a:solidFill>
              </a:rPr>
              <a:t>Open Source (Apache 2.0)</a:t>
            </a:r>
            <a:endParaRPr lang="en-US" sz="850" dirty="0"/>
          </a:p>
        </p:txBody>
      </p:sp>
      <p:sp>
        <p:nvSpPr>
          <p:cNvPr id="9" name="Shape 7"/>
          <p:cNvSpPr/>
          <p:nvPr/>
        </p:nvSpPr>
        <p:spPr>
          <a:xfrm>
            <a:off x="2423160" y="658368"/>
            <a:ext cx="1920240" cy="256032"/>
          </a:xfrm>
          <a:prstGeom prst="roundRect">
            <a:avLst>
              <a:gd name="adj" fmla="val 21429"/>
            </a:avLst>
          </a:prstGeom>
          <a:solidFill>
            <a:srgbClr val="1A3A4A"/>
          </a:solidFill>
          <a:ln w="12700">
            <a:solidFill>
              <a:srgbClr val="1A3A4A"/>
            </a:solidFill>
            <a:prstDash val="solid"/>
          </a:ln>
        </p:spPr>
      </p:sp>
      <p:sp>
        <p:nvSpPr>
          <p:cNvPr id="10" name="Text 8"/>
          <p:cNvSpPr/>
          <p:nvPr/>
        </p:nvSpPr>
        <p:spPr>
          <a:xfrm>
            <a:off x="2423160" y="658368"/>
            <a:ext cx="1920240" cy="256032"/>
          </a:xfrm>
          <a:prstGeom prst="rect">
            <a:avLst/>
          </a:prstGeom>
          <a:noFill/>
          <a:ln/>
        </p:spPr>
        <p:txBody>
          <a:bodyPr wrap="square" lIns="0" tIns="0" rIns="0" bIns="0" rtlCol="0" anchor="ctr"/>
          <a:lstStyle/>
          <a:p>
            <a:pPr algn="ctr" indent="0" marL="0">
              <a:buNone/>
            </a:pPr>
            <a:r>
              <a:rPr lang="en-US" sz="850" b="1" dirty="0">
                <a:solidFill>
                  <a:srgbClr val="A8C8D4"/>
                </a:solidFill>
              </a:rPr>
              <a:t>Éditeur: Databricks (Linux Foundation)</a:t>
            </a:r>
            <a:endParaRPr lang="en-US" sz="850" dirty="0"/>
          </a:p>
        </p:txBody>
      </p:sp>
      <p:sp>
        <p:nvSpPr>
          <p:cNvPr id="11" name="Shape 9"/>
          <p:cNvSpPr/>
          <p:nvPr/>
        </p:nvSpPr>
        <p:spPr>
          <a:xfrm>
            <a:off x="6858000" y="201168"/>
            <a:ext cx="2057400" cy="640080"/>
          </a:xfrm>
          <a:prstGeom prst="roundRect">
            <a:avLst>
              <a:gd name="adj" fmla="val 11429"/>
            </a:avLst>
          </a:prstGeom>
          <a:solidFill>
            <a:srgbClr val="1A8C4E">
              <a:alpha val="90000"/>
            </a:srgbClr>
          </a:solidFill>
          <a:ln w="12700">
            <a:solidFill>
              <a:srgbClr val="2ABD6E"/>
            </a:solidFill>
            <a:prstDash val="solid"/>
          </a:ln>
        </p:spPr>
      </p:sp>
      <p:sp>
        <p:nvSpPr>
          <p:cNvPr id="12" name="Text 10"/>
          <p:cNvSpPr/>
          <p:nvPr/>
        </p:nvSpPr>
        <p:spPr>
          <a:xfrm>
            <a:off x="6858000" y="201168"/>
            <a:ext cx="2057400" cy="640080"/>
          </a:xfrm>
          <a:prstGeom prst="rect">
            <a:avLst/>
          </a:prstGeom>
          <a:noFill/>
          <a:ln/>
        </p:spPr>
        <p:txBody>
          <a:bodyPr wrap="square" lIns="50800" tIns="50800" rIns="50800" bIns="50800" rtlCol="0" anchor="ctr"/>
          <a:lstStyle/>
          <a:p>
            <a:pPr algn="ctr" indent="0" marL="0">
              <a:buNone/>
            </a:pPr>
            <a:r>
              <a:rPr lang="en-US" sz="750" dirty="0">
                <a:solidFill>
                  <a:srgbClr val="FFFFFF"/>
                </a:solidFill>
              </a:rPr>
              <a:t>✓ Cloud Agnostic</a:t>
            </a:r>
            <a:endParaRPr lang="en-US" sz="750" dirty="0"/>
          </a:p>
          <a:p>
            <a:pPr algn="ctr" indent="0" marL="0">
              <a:buNone/>
            </a:pPr>
            <a:r>
              <a:rPr lang="en-US" sz="750" dirty="0">
                <a:solidFill>
                  <a:srgbClr val="FFFFFF"/>
                </a:solidFill>
              </a:rPr>
              <a:t>✓ K8s Native</a:t>
            </a:r>
            <a:endParaRPr lang="en-US" sz="750" dirty="0"/>
          </a:p>
          <a:p>
            <a:pPr algn="ctr" indent="0" marL="0">
              <a:buNone/>
            </a:pPr>
            <a:r>
              <a:rPr lang="en-US" sz="750" dirty="0">
                <a:solidFill>
                  <a:srgbClr val="FFFFFF"/>
                </a:solidFill>
              </a:rPr>
              <a:t>✓ S3NS Compatible</a:t>
            </a:r>
            <a:endParaRPr lang="en-US" sz="750" dirty="0"/>
          </a:p>
        </p:txBody>
      </p:sp>
      <p:sp>
        <p:nvSpPr>
          <p:cNvPr id="13" name="Shape 11"/>
          <p:cNvSpPr/>
          <p:nvPr/>
        </p:nvSpPr>
        <p:spPr>
          <a:xfrm>
            <a:off x="109728" y="1170432"/>
            <a:ext cx="2743200" cy="1170432"/>
          </a:xfrm>
          <a:prstGeom prst="roundRect">
            <a:avLst>
              <a:gd name="adj" fmla="val 7813"/>
            </a:avLst>
          </a:prstGeom>
          <a:solidFill>
            <a:srgbClr val="F9FCFD"/>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14" name="Shape 12"/>
          <p:cNvSpPr/>
          <p:nvPr/>
        </p:nvSpPr>
        <p:spPr>
          <a:xfrm>
            <a:off x="109728" y="1170432"/>
            <a:ext cx="2743200" cy="246888"/>
          </a:xfrm>
          <a:prstGeom prst="roundRect">
            <a:avLst>
              <a:gd name="adj" fmla="val 22222"/>
            </a:avLst>
          </a:prstGeom>
          <a:solidFill>
            <a:srgbClr val="0A7E8C"/>
          </a:solidFill>
          <a:ln w="12700">
            <a:solidFill>
              <a:srgbClr val="0A7E8C"/>
            </a:solidFill>
            <a:prstDash val="solid"/>
          </a:ln>
        </p:spPr>
      </p:sp>
      <p:sp>
        <p:nvSpPr>
          <p:cNvPr id="15" name="Text 13"/>
          <p:cNvSpPr/>
          <p:nvPr/>
        </p:nvSpPr>
        <p:spPr>
          <a:xfrm>
            <a:off x="109728" y="1170432"/>
            <a:ext cx="2743200" cy="246888"/>
          </a:xfrm>
          <a:prstGeom prst="rect">
            <a:avLst/>
          </a:prstGeom>
          <a:noFill/>
          <a:ln/>
        </p:spPr>
        <p:txBody>
          <a:bodyPr wrap="square" lIns="0" tIns="0" rIns="0" bIns="0" rtlCol="0" anchor="ctr"/>
          <a:lstStyle/>
          <a:p>
            <a:pPr algn="ctr" indent="0" marL="0">
              <a:buNone/>
            </a:pPr>
            <a:r>
              <a:rPr lang="en-US" sz="800" b="1" dirty="0">
                <a:solidFill>
                  <a:srgbClr val="FFFFFF"/>
                </a:solidFill>
              </a:rPr>
              <a:t>FINALITÉ</a:t>
            </a:r>
            <a:endParaRPr lang="en-US" sz="800" dirty="0"/>
          </a:p>
        </p:txBody>
      </p:sp>
      <p:sp>
        <p:nvSpPr>
          <p:cNvPr id="16" name="Text 14"/>
          <p:cNvSpPr/>
          <p:nvPr/>
        </p:nvSpPr>
        <p:spPr>
          <a:xfrm>
            <a:off x="201168" y="1490472"/>
            <a:ext cx="2560320" cy="804672"/>
          </a:xfrm>
          <a:prstGeom prst="rect">
            <a:avLst/>
          </a:prstGeom>
          <a:noFill/>
          <a:ln/>
        </p:spPr>
        <p:txBody>
          <a:bodyPr wrap="square" lIns="0" tIns="0" rIns="0" bIns="0" rtlCol="0" anchor="t"/>
          <a:lstStyle/>
          <a:p>
            <a:pPr algn="l" indent="0" marL="0">
              <a:buNone/>
            </a:pPr>
            <a:r>
              <a:rPr lang="en-US" sz="850" dirty="0">
                <a:solidFill>
                  <a:srgbClr val="1A2B3C"/>
                </a:solidFill>
              </a:rPr>
              <a:t>Plateforme de gestion du cycle de vie ML. Assure le tracking d'expériences, la gestion du Model Registry, le packaging des modèles (MLflow Projects) et le serving. Pivot central de traçabilité et gouvernance des modèles.</a:t>
            </a:r>
            <a:endParaRPr lang="en-US" sz="850" dirty="0"/>
          </a:p>
        </p:txBody>
      </p:sp>
      <p:sp>
        <p:nvSpPr>
          <p:cNvPr id="17" name="Shape 15"/>
          <p:cNvSpPr/>
          <p:nvPr/>
        </p:nvSpPr>
        <p:spPr>
          <a:xfrm>
            <a:off x="2980944" y="1170432"/>
            <a:ext cx="3063240" cy="1170432"/>
          </a:xfrm>
          <a:prstGeom prst="roundRect">
            <a:avLst>
              <a:gd name="adj" fmla="val 7813"/>
            </a:avLst>
          </a:prstGeom>
          <a:solidFill>
            <a:srgbClr val="F9FCFD"/>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18" name="Shape 16"/>
          <p:cNvSpPr/>
          <p:nvPr/>
        </p:nvSpPr>
        <p:spPr>
          <a:xfrm>
            <a:off x="2980944" y="1170432"/>
            <a:ext cx="3063240" cy="246888"/>
          </a:xfrm>
          <a:prstGeom prst="roundRect">
            <a:avLst>
              <a:gd name="adj" fmla="val 22222"/>
            </a:avLst>
          </a:prstGeom>
          <a:solidFill>
            <a:srgbClr val="0A7E8C"/>
          </a:solidFill>
          <a:ln w="12700">
            <a:solidFill>
              <a:srgbClr val="0A7E8C"/>
            </a:solidFill>
            <a:prstDash val="solid"/>
          </a:ln>
        </p:spPr>
      </p:sp>
      <p:sp>
        <p:nvSpPr>
          <p:cNvPr id="19" name="Text 17"/>
          <p:cNvSpPr/>
          <p:nvPr/>
        </p:nvSpPr>
        <p:spPr>
          <a:xfrm>
            <a:off x="2980944" y="1170432"/>
            <a:ext cx="3063240" cy="246888"/>
          </a:xfrm>
          <a:prstGeom prst="rect">
            <a:avLst/>
          </a:prstGeom>
          <a:noFill/>
          <a:ln/>
        </p:spPr>
        <p:txBody>
          <a:bodyPr wrap="square" lIns="0" tIns="0" rIns="0" bIns="0" rtlCol="0" anchor="ctr"/>
          <a:lstStyle/>
          <a:p>
            <a:pPr algn="ctr" indent="0" marL="0">
              <a:buNone/>
            </a:pPr>
            <a:r>
              <a:rPr lang="en-US" sz="800" b="1" dirty="0">
                <a:solidFill>
                  <a:srgbClr val="FFFFFF"/>
                </a:solidFill>
              </a:rPr>
              <a:t>CAS D'USAGE MÉTIER</a:t>
            </a:r>
            <a:endParaRPr lang="en-US" sz="800" dirty="0"/>
          </a:p>
        </p:txBody>
      </p:sp>
      <p:sp>
        <p:nvSpPr>
          <p:cNvPr id="20" name="Text 18"/>
          <p:cNvSpPr/>
          <p:nvPr/>
        </p:nvSpPr>
        <p:spPr>
          <a:xfrm>
            <a:off x="3090672" y="1481328"/>
            <a:ext cx="2880360" cy="822960"/>
          </a:xfrm>
          <a:prstGeom prst="rect">
            <a:avLst/>
          </a:prstGeom>
          <a:noFill/>
          <a:ln/>
        </p:spPr>
        <p:txBody>
          <a:bodyPr wrap="square" lIns="0" tIns="0" rIns="0" bIns="0" rtlCol="0" anchor="t"/>
          <a:lstStyle/>
          <a:p>
            <a:pPr marL="342900" indent="-342900">
              <a:buSzPct val="100000"/>
              <a:buChar char="•"/>
            </a:pPr>
            <a:r>
              <a:rPr lang="en-US" sz="800" dirty="0">
                <a:solidFill>
                  <a:srgbClr val="1A2B3C"/>
                </a:solidFill>
              </a:rPr>
              <a:t>Tracking métriques &amp; hyperparamètres d'entraînement</a:t>
            </a:r>
            <a:endParaRPr lang="en-US" sz="800" dirty="0"/>
          </a:p>
          <a:p>
            <a:pPr marL="342900" indent="-342900">
              <a:buSzPct val="100000"/>
              <a:buChar char="•"/>
            </a:pPr>
            <a:r>
              <a:rPr lang="en-US" sz="800" dirty="0">
                <a:solidFill>
                  <a:srgbClr val="1A2B3C"/>
                </a:solidFill>
              </a:rPr>
              <a:t>Versioning et promotion des modèles (Staging/Prod)</a:t>
            </a:r>
            <a:endParaRPr lang="en-US" sz="800" dirty="0"/>
          </a:p>
          <a:p>
            <a:pPr marL="342900" indent="-342900">
              <a:buSzPct val="100000"/>
              <a:buChar char="•"/>
            </a:pPr>
            <a:r>
              <a:rPr lang="en-US" sz="800" dirty="0">
                <a:solidFill>
                  <a:srgbClr val="1A2B3C"/>
                </a:solidFill>
              </a:rPr>
              <a:t>Comparaison et audit d'expériences</a:t>
            </a:r>
            <a:endParaRPr lang="en-US" sz="800" dirty="0"/>
          </a:p>
          <a:p>
            <a:pPr marL="342900" indent="-342900">
              <a:buSzPct val="100000"/>
              <a:buChar char="•"/>
            </a:pPr>
            <a:r>
              <a:rPr lang="en-US" sz="800" dirty="0">
                <a:solidFill>
                  <a:srgbClr val="1A2B3C"/>
                </a:solidFill>
              </a:rPr>
              <a:t>Packaging modèle universel (MLmodel format)</a:t>
            </a:r>
            <a:endParaRPr lang="en-US" sz="800" dirty="0"/>
          </a:p>
          <a:p>
            <a:pPr marL="342900" indent="-342900">
              <a:buSzPct val="100000"/>
              <a:buChar char="•"/>
            </a:pPr>
            <a:r>
              <a:rPr lang="en-US" sz="800" dirty="0">
                <a:solidFill>
                  <a:srgbClr val="1A2B3C"/>
                </a:solidFill>
              </a:rPr>
              <a:t>Scoring batch et REST serving intégré</a:t>
            </a:r>
            <a:endParaRPr lang="en-US" sz="800" dirty="0"/>
          </a:p>
        </p:txBody>
      </p:sp>
      <p:sp>
        <p:nvSpPr>
          <p:cNvPr id="21" name="Shape 19"/>
          <p:cNvSpPr/>
          <p:nvPr/>
        </p:nvSpPr>
        <p:spPr>
          <a:xfrm>
            <a:off x="6172200" y="1170432"/>
            <a:ext cx="2862072" cy="1170432"/>
          </a:xfrm>
          <a:prstGeom prst="roundRect">
            <a:avLst>
              <a:gd name="adj" fmla="val 7813"/>
            </a:avLst>
          </a:prstGeom>
          <a:solidFill>
            <a:srgbClr val="F9FCFD"/>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22" name="Shape 20"/>
          <p:cNvSpPr/>
          <p:nvPr/>
        </p:nvSpPr>
        <p:spPr>
          <a:xfrm>
            <a:off x="6172200" y="1170432"/>
            <a:ext cx="2862072" cy="246888"/>
          </a:xfrm>
          <a:prstGeom prst="roundRect">
            <a:avLst>
              <a:gd name="adj" fmla="val 22222"/>
            </a:avLst>
          </a:prstGeom>
          <a:solidFill>
            <a:srgbClr val="0A7E8C"/>
          </a:solidFill>
          <a:ln w="12700">
            <a:solidFill>
              <a:srgbClr val="0A7E8C"/>
            </a:solidFill>
            <a:prstDash val="solid"/>
          </a:ln>
        </p:spPr>
      </p:sp>
      <p:sp>
        <p:nvSpPr>
          <p:cNvPr id="23" name="Text 21"/>
          <p:cNvSpPr/>
          <p:nvPr/>
        </p:nvSpPr>
        <p:spPr>
          <a:xfrm>
            <a:off x="6172200" y="1170432"/>
            <a:ext cx="2862072" cy="246888"/>
          </a:xfrm>
          <a:prstGeom prst="rect">
            <a:avLst/>
          </a:prstGeom>
          <a:noFill/>
          <a:ln/>
        </p:spPr>
        <p:txBody>
          <a:bodyPr wrap="square" lIns="0" tIns="0" rIns="0" bIns="0" rtlCol="0" anchor="ctr"/>
          <a:lstStyle/>
          <a:p>
            <a:pPr algn="ctr" indent="0" marL="0">
              <a:buNone/>
            </a:pPr>
            <a:r>
              <a:rPr lang="en-US" sz="800" b="1" dirty="0">
                <a:solidFill>
                  <a:srgbClr val="FFFFFF"/>
                </a:solidFill>
              </a:rPr>
              <a:t>IMPÉRATIFS D'UTILISATION</a:t>
            </a:r>
            <a:endParaRPr lang="en-US" sz="800" dirty="0"/>
          </a:p>
        </p:txBody>
      </p:sp>
      <p:sp>
        <p:nvSpPr>
          <p:cNvPr id="24" name="Text 22"/>
          <p:cNvSpPr/>
          <p:nvPr/>
        </p:nvSpPr>
        <p:spPr>
          <a:xfrm>
            <a:off x="6281928" y="1481328"/>
            <a:ext cx="2679192" cy="822960"/>
          </a:xfrm>
          <a:prstGeom prst="rect">
            <a:avLst/>
          </a:prstGeom>
          <a:noFill/>
          <a:ln/>
        </p:spPr>
        <p:txBody>
          <a:bodyPr wrap="square" lIns="0" tIns="0" rIns="0" bIns="0" rtlCol="0" anchor="t"/>
          <a:lstStyle/>
          <a:p>
            <a:pPr marL="342900" indent="-342900">
              <a:buSzPct val="100000"/>
              <a:buChar char="•"/>
            </a:pPr>
            <a:r>
              <a:rPr lang="en-US" sz="800" dirty="0">
                <a:solidFill>
                  <a:srgbClr val="1A2B3C"/>
                </a:solidFill>
              </a:rPr>
              <a:t>Backend store : PostgreSQL ou S3-compatible</a:t>
            </a:r>
            <a:endParaRPr lang="en-US" sz="800" dirty="0"/>
          </a:p>
          <a:p>
            <a:pPr marL="342900" indent="-342900">
              <a:buSzPct val="100000"/>
              <a:buChar char="•"/>
            </a:pPr>
            <a:r>
              <a:rPr lang="en-US" sz="800" dirty="0">
                <a:solidFill>
                  <a:srgbClr val="1A2B3C"/>
                </a:solidFill>
              </a:rPr>
              <a:t>Artifact store : S3/GCS/MinIO</a:t>
            </a:r>
            <a:endParaRPr lang="en-US" sz="800" dirty="0"/>
          </a:p>
          <a:p>
            <a:pPr marL="342900" indent="-342900">
              <a:buSzPct val="100000"/>
              <a:buChar char="•"/>
            </a:pPr>
            <a:r>
              <a:rPr lang="en-US" sz="800" dirty="0">
                <a:solidFill>
                  <a:srgbClr val="1A2B3C"/>
                </a:solidFill>
              </a:rPr>
              <a:t>Intégration framework ML (sklearn, PyTorch…)</a:t>
            </a:r>
            <a:endParaRPr lang="en-US" sz="800" dirty="0"/>
          </a:p>
          <a:p>
            <a:pPr marL="342900" indent="-342900">
              <a:buSzPct val="100000"/>
              <a:buChar char="•"/>
            </a:pPr>
            <a:r>
              <a:rPr lang="en-US" sz="800" dirty="0">
                <a:solidFill>
                  <a:srgbClr val="1A2B3C"/>
                </a:solidFill>
              </a:rPr>
              <a:t>K8s pour déploiement HA</a:t>
            </a:r>
            <a:endParaRPr lang="en-US" sz="800" dirty="0"/>
          </a:p>
        </p:txBody>
      </p:sp>
      <p:sp>
        <p:nvSpPr>
          <p:cNvPr id="25" name="Shape 23"/>
          <p:cNvSpPr/>
          <p:nvPr/>
        </p:nvSpPr>
        <p:spPr>
          <a:xfrm>
            <a:off x="109728" y="2450592"/>
            <a:ext cx="2743200" cy="1078992"/>
          </a:xfrm>
          <a:prstGeom prst="roundRect">
            <a:avLst>
              <a:gd name="adj" fmla="val 8475"/>
            </a:avLst>
          </a:prstGeom>
          <a:solidFill>
            <a:srgbClr val="FFF8E6"/>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26" name="Shape 24"/>
          <p:cNvSpPr/>
          <p:nvPr/>
        </p:nvSpPr>
        <p:spPr>
          <a:xfrm>
            <a:off x="109728" y="2450592"/>
            <a:ext cx="2743200" cy="246888"/>
          </a:xfrm>
          <a:prstGeom prst="roundRect">
            <a:avLst>
              <a:gd name="adj" fmla="val 22222"/>
            </a:avLst>
          </a:prstGeom>
          <a:solidFill>
            <a:srgbClr val="0A7E8C"/>
          </a:solidFill>
          <a:ln w="12700">
            <a:solidFill>
              <a:srgbClr val="0A7E8C"/>
            </a:solidFill>
            <a:prstDash val="solid"/>
          </a:ln>
        </p:spPr>
      </p:sp>
      <p:sp>
        <p:nvSpPr>
          <p:cNvPr id="27" name="Text 25"/>
          <p:cNvSpPr/>
          <p:nvPr/>
        </p:nvSpPr>
        <p:spPr>
          <a:xfrm>
            <a:off x="109728" y="2450592"/>
            <a:ext cx="2743200" cy="246888"/>
          </a:xfrm>
          <a:prstGeom prst="rect">
            <a:avLst/>
          </a:prstGeom>
          <a:noFill/>
          <a:ln/>
        </p:spPr>
        <p:txBody>
          <a:bodyPr wrap="square" lIns="0" tIns="0" rIns="0" bIns="0" rtlCol="0" anchor="ctr"/>
          <a:lstStyle/>
          <a:p>
            <a:pPr algn="ctr" indent="0" marL="0">
              <a:buNone/>
            </a:pPr>
            <a:r>
              <a:rPr lang="en-US" sz="800" b="1" dirty="0">
                <a:solidFill>
                  <a:srgbClr val="FFFFFF"/>
                </a:solidFill>
              </a:rPr>
              <a:t>SOLUTION EXISTANTE</a:t>
            </a:r>
            <a:endParaRPr lang="en-US" sz="800" dirty="0"/>
          </a:p>
        </p:txBody>
      </p:sp>
      <p:sp>
        <p:nvSpPr>
          <p:cNvPr id="28" name="Text 26"/>
          <p:cNvSpPr/>
          <p:nvPr/>
        </p:nvSpPr>
        <p:spPr>
          <a:xfrm>
            <a:off x="201168" y="2761488"/>
            <a:ext cx="2560320" cy="731520"/>
          </a:xfrm>
          <a:prstGeom prst="rect">
            <a:avLst/>
          </a:prstGeom>
          <a:noFill/>
          <a:ln/>
        </p:spPr>
        <p:txBody>
          <a:bodyPr wrap="square" lIns="0" tIns="0" rIns="0" bIns="0" rtlCol="0" anchor="t"/>
          <a:lstStyle/>
          <a:p>
            <a:pPr indent="0" marL="0">
              <a:buNone/>
            </a:pPr>
            <a:r>
              <a:rPr lang="en-US" sz="820" dirty="0">
                <a:solidFill>
                  <a:srgbClr val="1A2B3C"/>
                </a:solidFill>
              </a:rPr>
              <a:t>Vertex AI Experiments (GCP natif) — Non retenu car : dépendance GCP exclusive (lock-in), portabilité nulle hors GCP/S3NS, coût licence API, incompatible avec la stratégie open source souveraine.</a:t>
            </a:r>
            <a:endParaRPr lang="en-US" sz="820" dirty="0"/>
          </a:p>
        </p:txBody>
      </p:sp>
      <p:sp>
        <p:nvSpPr>
          <p:cNvPr id="29" name="Shape 27"/>
          <p:cNvSpPr/>
          <p:nvPr/>
        </p:nvSpPr>
        <p:spPr>
          <a:xfrm>
            <a:off x="2980944" y="2450592"/>
            <a:ext cx="3063240" cy="1078992"/>
          </a:xfrm>
          <a:prstGeom prst="roundRect">
            <a:avLst>
              <a:gd name="adj" fmla="val 8475"/>
            </a:avLst>
          </a:prstGeom>
          <a:solidFill>
            <a:srgbClr val="EBF5FF"/>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30" name="Shape 28"/>
          <p:cNvSpPr/>
          <p:nvPr/>
        </p:nvSpPr>
        <p:spPr>
          <a:xfrm>
            <a:off x="2980944" y="2450592"/>
            <a:ext cx="3063240" cy="246888"/>
          </a:xfrm>
          <a:prstGeom prst="roundRect">
            <a:avLst>
              <a:gd name="adj" fmla="val 22222"/>
            </a:avLst>
          </a:prstGeom>
          <a:solidFill>
            <a:srgbClr val="0A7E8C"/>
          </a:solidFill>
          <a:ln w="12700">
            <a:solidFill>
              <a:srgbClr val="0A7E8C"/>
            </a:solidFill>
            <a:prstDash val="solid"/>
          </a:ln>
        </p:spPr>
      </p:sp>
      <p:sp>
        <p:nvSpPr>
          <p:cNvPr id="31" name="Text 29"/>
          <p:cNvSpPr/>
          <p:nvPr/>
        </p:nvSpPr>
        <p:spPr>
          <a:xfrm>
            <a:off x="2980944" y="2450592"/>
            <a:ext cx="3063240" cy="246888"/>
          </a:xfrm>
          <a:prstGeom prst="rect">
            <a:avLst/>
          </a:prstGeom>
          <a:noFill/>
          <a:ln/>
        </p:spPr>
        <p:txBody>
          <a:bodyPr wrap="square" lIns="0" tIns="0" rIns="0" bIns="0" rtlCol="0" anchor="ctr"/>
          <a:lstStyle/>
          <a:p>
            <a:pPr algn="ctr" indent="0" marL="0">
              <a:buNone/>
            </a:pPr>
            <a:r>
              <a:rPr lang="en-US" sz="800" b="1" dirty="0">
                <a:solidFill>
                  <a:srgbClr val="FFFFFF"/>
                </a:solidFill>
              </a:rPr>
              <a:t>STRATÉGIE IA &amp; PORTABILITÉ</a:t>
            </a:r>
            <a:endParaRPr lang="en-US" sz="800" dirty="0"/>
          </a:p>
        </p:txBody>
      </p:sp>
      <p:sp>
        <p:nvSpPr>
          <p:cNvPr id="32" name="Text 30"/>
          <p:cNvSpPr/>
          <p:nvPr/>
        </p:nvSpPr>
        <p:spPr>
          <a:xfrm>
            <a:off x="3090672" y="2761488"/>
            <a:ext cx="2880360" cy="731520"/>
          </a:xfrm>
          <a:prstGeom prst="rect">
            <a:avLst/>
          </a:prstGeom>
          <a:noFill/>
          <a:ln/>
        </p:spPr>
        <p:txBody>
          <a:bodyPr wrap="square" lIns="0" tIns="0" rIns="0" bIns="0" rtlCol="0" anchor="t"/>
          <a:lstStyle/>
          <a:p>
            <a:pPr indent="0" marL="0">
              <a:buNone/>
            </a:pPr>
            <a:r>
              <a:rPr lang="en-US" sz="820" dirty="0">
                <a:solidFill>
                  <a:srgbClr val="1A2B3C"/>
                </a:solidFill>
              </a:rPr>
              <a:t>✓ Stratégie IA : traçabilité &amp; reproductibilité complètes. Portabilité : MLmodel format multi-framework (sklearn, PyTorch, TF). Déployable sur tout K8s. Intégration native KServe pour servir les modèles.</a:t>
            </a:r>
            <a:endParaRPr lang="en-US" sz="820" dirty="0"/>
          </a:p>
        </p:txBody>
      </p:sp>
      <p:sp>
        <p:nvSpPr>
          <p:cNvPr id="33" name="Shape 31"/>
          <p:cNvSpPr/>
          <p:nvPr/>
        </p:nvSpPr>
        <p:spPr>
          <a:xfrm>
            <a:off x="6172200" y="2450592"/>
            <a:ext cx="2862072" cy="1078992"/>
          </a:xfrm>
          <a:prstGeom prst="roundRect">
            <a:avLst>
              <a:gd name="adj" fmla="val 8475"/>
            </a:avLst>
          </a:prstGeom>
          <a:solidFill>
            <a:srgbClr val="E6F5ED"/>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34" name="Shape 32"/>
          <p:cNvSpPr/>
          <p:nvPr/>
        </p:nvSpPr>
        <p:spPr>
          <a:xfrm>
            <a:off x="6172200" y="2450592"/>
            <a:ext cx="2862072" cy="246888"/>
          </a:xfrm>
          <a:prstGeom prst="roundRect">
            <a:avLst>
              <a:gd name="adj" fmla="val 22222"/>
            </a:avLst>
          </a:prstGeom>
          <a:solidFill>
            <a:srgbClr val="0A7E8C"/>
          </a:solidFill>
          <a:ln w="12700">
            <a:solidFill>
              <a:srgbClr val="0A7E8C"/>
            </a:solidFill>
            <a:prstDash val="solid"/>
          </a:ln>
        </p:spPr>
      </p:sp>
      <p:sp>
        <p:nvSpPr>
          <p:cNvPr id="35" name="Text 33"/>
          <p:cNvSpPr/>
          <p:nvPr/>
        </p:nvSpPr>
        <p:spPr>
          <a:xfrm>
            <a:off x="6172200" y="2450592"/>
            <a:ext cx="2862072" cy="246888"/>
          </a:xfrm>
          <a:prstGeom prst="rect">
            <a:avLst/>
          </a:prstGeom>
          <a:noFill/>
          <a:ln/>
        </p:spPr>
        <p:txBody>
          <a:bodyPr wrap="square" lIns="0" tIns="0" rIns="0" bIns="0" rtlCol="0" anchor="ctr"/>
          <a:lstStyle/>
          <a:p>
            <a:pPr algn="ctr" indent="0" marL="0">
              <a:buNone/>
            </a:pPr>
            <a:r>
              <a:rPr lang="en-US" sz="800" b="1" dirty="0">
                <a:solidFill>
                  <a:srgbClr val="FFFFFF"/>
                </a:solidFill>
              </a:rPr>
              <a:t>COMPATIBILITÉ S3NS / STANDARDS</a:t>
            </a:r>
            <a:endParaRPr lang="en-US" sz="800" dirty="0"/>
          </a:p>
        </p:txBody>
      </p:sp>
      <p:sp>
        <p:nvSpPr>
          <p:cNvPr id="36" name="Text 34"/>
          <p:cNvSpPr/>
          <p:nvPr/>
        </p:nvSpPr>
        <p:spPr>
          <a:xfrm>
            <a:off x="6281928" y="2761488"/>
            <a:ext cx="2679192" cy="731520"/>
          </a:xfrm>
          <a:prstGeom prst="rect">
            <a:avLst/>
          </a:prstGeom>
          <a:noFill/>
          <a:ln/>
        </p:spPr>
        <p:txBody>
          <a:bodyPr wrap="square" lIns="0" tIns="0" rIns="0" bIns="0" rtlCol="0" anchor="t"/>
          <a:lstStyle/>
          <a:p>
            <a:pPr indent="0" marL="0">
              <a:buNone/>
            </a:pPr>
            <a:r>
              <a:rPr lang="en-US" sz="820" dirty="0">
                <a:solidFill>
                  <a:srgbClr val="1A2B3C"/>
                </a:solidFill>
              </a:rPr>
              <a:t>✓ Agnostique cloud (S3, GCS, MinIO)</a:t>
            </a:r>
            <a:endParaRPr lang="en-US" sz="820" dirty="0"/>
          </a:p>
          <a:p>
            <a:pPr indent="0" marL="0">
              <a:buNone/>
            </a:pPr>
            <a:r>
              <a:rPr lang="en-US" sz="820" dirty="0">
                <a:solidFill>
                  <a:srgbClr val="1A2B3C"/>
                </a:solidFill>
              </a:rPr>
              <a:t>✓ K8s Helm chart officiel</a:t>
            </a:r>
            <a:endParaRPr lang="en-US" sz="820" dirty="0"/>
          </a:p>
          <a:p>
            <a:pPr indent="0" marL="0">
              <a:buNone/>
            </a:pPr>
            <a:r>
              <a:rPr lang="en-US" sz="820" dirty="0">
                <a:solidFill>
                  <a:srgbClr val="1A2B3C"/>
                </a:solidFill>
              </a:rPr>
              <a:t>✓ S3NS : artifact store via S3 protocol</a:t>
            </a:r>
            <a:endParaRPr lang="en-US" sz="820" dirty="0"/>
          </a:p>
          <a:p>
            <a:pPr indent="0" marL="0">
              <a:buNone/>
            </a:pPr>
            <a:r>
              <a:rPr lang="en-US" sz="820" dirty="0">
                <a:solidFill>
                  <a:srgbClr val="1A2B3C"/>
                </a:solidFill>
              </a:rPr>
              <a:t>✓ Pas d'API propriétaire GCP</a:t>
            </a:r>
            <a:endParaRPr lang="en-US" sz="820" dirty="0"/>
          </a:p>
          <a:p>
            <a:pPr indent="0" marL="0">
              <a:buNone/>
            </a:pPr>
            <a:r>
              <a:rPr lang="en-US" sz="820" dirty="0">
                <a:solidFill>
                  <a:srgbClr val="1A2B3C"/>
                </a:solidFill>
              </a:rPr>
              <a:t>✓ REST API standard</a:t>
            </a:r>
            <a:endParaRPr lang="en-US" sz="820" dirty="0"/>
          </a:p>
        </p:txBody>
      </p:sp>
      <p:sp>
        <p:nvSpPr>
          <p:cNvPr id="37" name="Shape 35"/>
          <p:cNvSpPr/>
          <p:nvPr/>
        </p:nvSpPr>
        <p:spPr>
          <a:xfrm>
            <a:off x="109728" y="3639312"/>
            <a:ext cx="2743200" cy="1325880"/>
          </a:xfrm>
          <a:prstGeom prst="roundRect">
            <a:avLst>
              <a:gd name="adj" fmla="val 6897"/>
            </a:avLst>
          </a:prstGeom>
          <a:solidFill>
            <a:srgbClr val="F9FCFD"/>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38" name="Shape 36"/>
          <p:cNvSpPr/>
          <p:nvPr/>
        </p:nvSpPr>
        <p:spPr>
          <a:xfrm>
            <a:off x="109728" y="3639312"/>
            <a:ext cx="2743200" cy="246888"/>
          </a:xfrm>
          <a:prstGeom prst="roundRect">
            <a:avLst>
              <a:gd name="adj" fmla="val 22222"/>
            </a:avLst>
          </a:prstGeom>
          <a:solidFill>
            <a:srgbClr val="0A7E8C"/>
          </a:solidFill>
          <a:ln w="12700">
            <a:solidFill>
              <a:srgbClr val="0A7E8C"/>
            </a:solidFill>
            <a:prstDash val="solid"/>
          </a:ln>
        </p:spPr>
      </p:sp>
      <p:sp>
        <p:nvSpPr>
          <p:cNvPr id="39" name="Text 37"/>
          <p:cNvSpPr/>
          <p:nvPr/>
        </p:nvSpPr>
        <p:spPr>
          <a:xfrm>
            <a:off x="109728" y="3639312"/>
            <a:ext cx="2743200" cy="246888"/>
          </a:xfrm>
          <a:prstGeom prst="rect">
            <a:avLst/>
          </a:prstGeom>
          <a:noFill/>
          <a:ln/>
        </p:spPr>
        <p:txBody>
          <a:bodyPr wrap="square" lIns="0" tIns="0" rIns="0" bIns="0" rtlCol="0" anchor="ctr"/>
          <a:lstStyle/>
          <a:p>
            <a:pPr algn="ctr" indent="0" marL="0">
              <a:buNone/>
            </a:pPr>
            <a:r>
              <a:rPr lang="en-US" sz="800" b="1" dirty="0">
                <a:solidFill>
                  <a:srgbClr val="FFFFFF"/>
                </a:solidFill>
              </a:rPr>
              <a:t>PÉRENNITÉ &amp; ADOPTION MARCHÉ</a:t>
            </a:r>
            <a:endParaRPr lang="en-US" sz="800" dirty="0"/>
          </a:p>
        </p:txBody>
      </p:sp>
      <p:sp>
        <p:nvSpPr>
          <p:cNvPr id="40" name="Text 38"/>
          <p:cNvSpPr/>
          <p:nvPr/>
        </p:nvSpPr>
        <p:spPr>
          <a:xfrm>
            <a:off x="201168" y="3950208"/>
            <a:ext cx="2560320" cy="960120"/>
          </a:xfrm>
          <a:prstGeom prst="rect">
            <a:avLst/>
          </a:prstGeom>
          <a:noFill/>
          <a:ln/>
        </p:spPr>
        <p:txBody>
          <a:bodyPr wrap="square" lIns="0" tIns="0" rIns="0" bIns="0" rtlCol="0" anchor="t"/>
          <a:lstStyle/>
          <a:p>
            <a:pPr indent="0" marL="0">
              <a:buNone/>
            </a:pPr>
            <a:r>
              <a:rPr lang="en-US" sz="820" dirty="0">
                <a:solidFill>
                  <a:srgbClr val="1A2B3C"/>
                </a:solidFill>
              </a:rPr>
              <a:t>⭐ 19 000+ stars GitHub. Adopté par Nike, Facebook, Microsoft. Maintenu par Databricks + 500+ contributeurs. Linux Foundation garantit la neutralité. MLflow 2.x activemont développé. Version enterprise Managed MLflow disponible.</a:t>
            </a:r>
            <a:endParaRPr lang="en-US" sz="820" dirty="0"/>
          </a:p>
        </p:txBody>
      </p:sp>
      <p:sp>
        <p:nvSpPr>
          <p:cNvPr id="41" name="Shape 39"/>
          <p:cNvSpPr/>
          <p:nvPr/>
        </p:nvSpPr>
        <p:spPr>
          <a:xfrm>
            <a:off x="2980944" y="3639312"/>
            <a:ext cx="6053328" cy="1325880"/>
          </a:xfrm>
          <a:prstGeom prst="roundRect">
            <a:avLst>
              <a:gd name="adj" fmla="val 6897"/>
            </a:avLst>
          </a:prstGeom>
          <a:solidFill>
            <a:srgbClr val="F9FCFD"/>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42" name="Shape 40"/>
          <p:cNvSpPr/>
          <p:nvPr/>
        </p:nvSpPr>
        <p:spPr>
          <a:xfrm>
            <a:off x="2980944" y="3639312"/>
            <a:ext cx="6053328" cy="246888"/>
          </a:xfrm>
          <a:prstGeom prst="roundRect">
            <a:avLst>
              <a:gd name="adj" fmla="val 22222"/>
            </a:avLst>
          </a:prstGeom>
          <a:solidFill>
            <a:srgbClr val="0A7E8C"/>
          </a:solidFill>
          <a:ln w="12700">
            <a:solidFill>
              <a:srgbClr val="0A7E8C"/>
            </a:solidFill>
            <a:prstDash val="solid"/>
          </a:ln>
        </p:spPr>
      </p:sp>
      <p:sp>
        <p:nvSpPr>
          <p:cNvPr id="43" name="Text 41"/>
          <p:cNvSpPr/>
          <p:nvPr/>
        </p:nvSpPr>
        <p:spPr>
          <a:xfrm>
            <a:off x="2980944" y="3639312"/>
            <a:ext cx="6053328" cy="246888"/>
          </a:xfrm>
          <a:prstGeom prst="rect">
            <a:avLst/>
          </a:prstGeom>
          <a:noFill/>
          <a:ln/>
        </p:spPr>
        <p:txBody>
          <a:bodyPr wrap="square" lIns="0" tIns="0" rIns="0" bIns="0" rtlCol="0" anchor="ctr"/>
          <a:lstStyle/>
          <a:p>
            <a:pPr algn="ctr" indent="0" marL="0">
              <a:buNone/>
            </a:pPr>
            <a:r>
              <a:rPr lang="en-US" sz="800" b="1" dirty="0">
                <a:solidFill>
                  <a:srgbClr val="FFFFFF"/>
                </a:solidFill>
              </a:rPr>
              <a:t>CONDITIONS D'UTILISATION</a:t>
            </a:r>
            <a:endParaRPr lang="en-US" sz="800" dirty="0"/>
          </a:p>
        </p:txBody>
      </p:sp>
      <p:sp>
        <p:nvSpPr>
          <p:cNvPr id="44" name="Shape 42"/>
          <p:cNvSpPr/>
          <p:nvPr/>
        </p:nvSpPr>
        <p:spPr>
          <a:xfrm>
            <a:off x="3072384" y="3959352"/>
            <a:ext cx="1901952" cy="969264"/>
          </a:xfrm>
          <a:prstGeom prst="roundRect">
            <a:avLst>
              <a:gd name="adj" fmla="val 6604"/>
            </a:avLst>
          </a:prstGeom>
          <a:solidFill>
            <a:srgbClr val="EEF2FF"/>
          </a:solidFill>
          <a:ln w="12700">
            <a:solidFill>
              <a:srgbClr val="C7D2FE"/>
            </a:solidFill>
            <a:prstDash val="solid"/>
          </a:ln>
        </p:spPr>
      </p:sp>
      <p:sp>
        <p:nvSpPr>
          <p:cNvPr id="45" name="Text 43"/>
          <p:cNvSpPr/>
          <p:nvPr/>
        </p:nvSpPr>
        <p:spPr>
          <a:xfrm>
            <a:off x="3072384" y="3959352"/>
            <a:ext cx="1901952" cy="228600"/>
          </a:xfrm>
          <a:prstGeom prst="rect">
            <a:avLst/>
          </a:prstGeom>
          <a:noFill/>
          <a:ln/>
        </p:spPr>
        <p:txBody>
          <a:bodyPr wrap="square" lIns="0" tIns="0" rIns="0" bIns="0" rtlCol="0" anchor="ctr"/>
          <a:lstStyle/>
          <a:p>
            <a:pPr algn="ctr" indent="0" marL="0">
              <a:buNone/>
            </a:pPr>
            <a:r>
              <a:rPr lang="en-US" sz="750" b="1" dirty="0">
                <a:solidFill>
                  <a:srgbClr val="4338CA"/>
                </a:solidFill>
              </a:rPr>
              <a:t>COMPÉTENCES</a:t>
            </a:r>
            <a:endParaRPr lang="en-US" sz="750" dirty="0"/>
          </a:p>
        </p:txBody>
      </p:sp>
      <p:sp>
        <p:nvSpPr>
          <p:cNvPr id="46" name="Text 44"/>
          <p:cNvSpPr/>
          <p:nvPr/>
        </p:nvSpPr>
        <p:spPr>
          <a:xfrm>
            <a:off x="3145536" y="4187952"/>
            <a:ext cx="1755648" cy="713232"/>
          </a:xfrm>
          <a:prstGeom prst="rect">
            <a:avLst/>
          </a:prstGeom>
          <a:noFill/>
          <a:ln/>
        </p:spPr>
        <p:txBody>
          <a:bodyPr wrap="square" lIns="0" tIns="0" rIns="0" bIns="0" rtlCol="0" anchor="t"/>
          <a:lstStyle/>
          <a:p>
            <a:pPr indent="0" marL="0">
              <a:buNone/>
            </a:pPr>
            <a:r>
              <a:rPr lang="en-US" sz="800" dirty="0">
                <a:solidFill>
                  <a:srgbClr val="1A2B3C"/>
                </a:solidFill>
              </a:rPr>
              <a:t>Python ML (sklearn/PyTorch), MLflow SDK (logging, registry API), notions REST API, administration PostgreSQL pour le backend.</a:t>
            </a:r>
            <a:endParaRPr lang="en-US" sz="800" dirty="0"/>
          </a:p>
        </p:txBody>
      </p:sp>
      <p:sp>
        <p:nvSpPr>
          <p:cNvPr id="47" name="Shape 45"/>
          <p:cNvSpPr/>
          <p:nvPr/>
        </p:nvSpPr>
        <p:spPr>
          <a:xfrm>
            <a:off x="5102352" y="3959352"/>
            <a:ext cx="1901952" cy="969264"/>
          </a:xfrm>
          <a:prstGeom prst="roundRect">
            <a:avLst>
              <a:gd name="adj" fmla="val 6604"/>
            </a:avLst>
          </a:prstGeom>
          <a:solidFill>
            <a:srgbClr val="FFF7ED"/>
          </a:solidFill>
          <a:ln w="12700">
            <a:solidFill>
              <a:srgbClr val="FED7AA"/>
            </a:solidFill>
            <a:prstDash val="solid"/>
          </a:ln>
        </p:spPr>
      </p:sp>
      <p:sp>
        <p:nvSpPr>
          <p:cNvPr id="48" name="Text 46"/>
          <p:cNvSpPr/>
          <p:nvPr/>
        </p:nvSpPr>
        <p:spPr>
          <a:xfrm>
            <a:off x="5102352" y="3959352"/>
            <a:ext cx="1901952" cy="228600"/>
          </a:xfrm>
          <a:prstGeom prst="rect">
            <a:avLst/>
          </a:prstGeom>
          <a:noFill/>
          <a:ln/>
        </p:spPr>
        <p:txBody>
          <a:bodyPr wrap="square" lIns="0" tIns="0" rIns="0" bIns="0" rtlCol="0" anchor="ctr"/>
          <a:lstStyle/>
          <a:p>
            <a:pPr algn="ctr" indent="0" marL="0">
              <a:buNone/>
            </a:pPr>
            <a:r>
              <a:rPr lang="en-US" sz="750" b="1" dirty="0">
                <a:solidFill>
                  <a:srgbClr val="C2410C"/>
                </a:solidFill>
              </a:rPr>
              <a:t>COÛTS BUILD / RUN</a:t>
            </a:r>
            <a:endParaRPr lang="en-US" sz="750" dirty="0"/>
          </a:p>
        </p:txBody>
      </p:sp>
      <p:sp>
        <p:nvSpPr>
          <p:cNvPr id="49" name="Text 47"/>
          <p:cNvSpPr/>
          <p:nvPr/>
        </p:nvSpPr>
        <p:spPr>
          <a:xfrm>
            <a:off x="5175504" y="4187952"/>
            <a:ext cx="1755648" cy="713232"/>
          </a:xfrm>
          <a:prstGeom prst="rect">
            <a:avLst/>
          </a:prstGeom>
          <a:noFill/>
          <a:ln/>
        </p:spPr>
        <p:txBody>
          <a:bodyPr wrap="square" lIns="0" tIns="0" rIns="0" bIns="0" rtlCol="0" anchor="t"/>
          <a:lstStyle/>
          <a:p>
            <a:pPr indent="0" marL="0">
              <a:buNone/>
            </a:pPr>
            <a:r>
              <a:rPr lang="en-US" sz="800" dirty="0">
                <a:solidFill>
                  <a:srgbClr val="1A2B3C"/>
                </a:solidFill>
              </a:rPr>
              <a:t>Build : 2-3j setup K8s + intégration pipelines.</a:t>
            </a:r>
            <a:endParaRPr lang="en-US" sz="800" dirty="0"/>
          </a:p>
          <a:p>
            <a:pPr indent="0" marL="0">
              <a:buNone/>
            </a:pPr>
            <a:r>
              <a:rPr lang="en-US" sz="800" dirty="0">
                <a:solidFill>
                  <a:srgbClr val="1A2B3C"/>
                </a:solidFill>
              </a:rPr>
              <a:t>Run : stockage S3 artifacts (variable), compute K8s faible. Licence : gratuit. Databricks managed optionnel.</a:t>
            </a:r>
            <a:endParaRPr lang="en-US" sz="800" dirty="0"/>
          </a:p>
        </p:txBody>
      </p:sp>
      <p:sp>
        <p:nvSpPr>
          <p:cNvPr id="50" name="Shape 48"/>
          <p:cNvSpPr/>
          <p:nvPr/>
        </p:nvSpPr>
        <p:spPr>
          <a:xfrm>
            <a:off x="7132320" y="3959352"/>
            <a:ext cx="1810512" cy="969264"/>
          </a:xfrm>
          <a:prstGeom prst="roundRect">
            <a:avLst>
              <a:gd name="adj" fmla="val 6604"/>
            </a:avLst>
          </a:prstGeom>
          <a:solidFill>
            <a:srgbClr val="F0FDF4"/>
          </a:solidFill>
          <a:ln w="12700">
            <a:solidFill>
              <a:srgbClr val="86EFAC"/>
            </a:solidFill>
            <a:prstDash val="solid"/>
          </a:ln>
        </p:spPr>
      </p:sp>
      <p:sp>
        <p:nvSpPr>
          <p:cNvPr id="51" name="Text 49"/>
          <p:cNvSpPr/>
          <p:nvPr/>
        </p:nvSpPr>
        <p:spPr>
          <a:xfrm>
            <a:off x="7132320" y="3959352"/>
            <a:ext cx="1810512" cy="228600"/>
          </a:xfrm>
          <a:prstGeom prst="rect">
            <a:avLst/>
          </a:prstGeom>
          <a:noFill/>
          <a:ln/>
        </p:spPr>
        <p:txBody>
          <a:bodyPr wrap="square" lIns="0" tIns="0" rIns="0" bIns="0" rtlCol="0" anchor="ctr"/>
          <a:lstStyle/>
          <a:p>
            <a:pPr algn="ctr" indent="0" marL="0">
              <a:buNone/>
            </a:pPr>
            <a:r>
              <a:rPr lang="en-US" sz="750" b="1" dirty="0">
                <a:solidFill>
                  <a:srgbClr val="15803D"/>
                </a:solidFill>
              </a:rPr>
              <a:t>INTÉGRATION SI</a:t>
            </a:r>
            <a:endParaRPr lang="en-US" sz="750" dirty="0"/>
          </a:p>
        </p:txBody>
      </p:sp>
      <p:sp>
        <p:nvSpPr>
          <p:cNvPr id="52" name="Text 50"/>
          <p:cNvSpPr/>
          <p:nvPr/>
        </p:nvSpPr>
        <p:spPr>
          <a:xfrm>
            <a:off x="7205472" y="4187952"/>
            <a:ext cx="1664208" cy="713232"/>
          </a:xfrm>
          <a:prstGeom prst="rect">
            <a:avLst/>
          </a:prstGeom>
          <a:noFill/>
          <a:ln/>
        </p:spPr>
        <p:txBody>
          <a:bodyPr wrap="square" lIns="0" tIns="0" rIns="0" bIns="0" rtlCol="0" anchor="t"/>
          <a:lstStyle/>
          <a:p>
            <a:pPr indent="0" marL="0">
              <a:buNone/>
            </a:pPr>
            <a:r>
              <a:rPr lang="en-US" sz="800" dirty="0">
                <a:solidFill>
                  <a:srgbClr val="1A2B3C"/>
                </a:solidFill>
              </a:rPr>
              <a:t>SDK Python natif, REST API v2, plugins Airflow (mlflow provider), KServe MLflow ServingRuntime, GitLab CI via mlflow CLI.</a:t>
            </a:r>
            <a:endParaRPr lang="en-US" sz="800" dirty="0"/>
          </a:p>
        </p:txBody>
      </p:sp>
      <p:sp>
        <p:nvSpPr>
          <p:cNvPr id="53" name="Text 51"/>
          <p:cNvSpPr/>
          <p:nvPr/>
        </p:nvSpPr>
        <p:spPr>
          <a:xfrm>
            <a:off x="109728" y="4956048"/>
            <a:ext cx="8924544" cy="182880"/>
          </a:xfrm>
          <a:prstGeom prst="rect">
            <a:avLst/>
          </a:prstGeom>
          <a:noFill/>
          <a:ln/>
        </p:spPr>
        <p:txBody>
          <a:bodyPr wrap="square" lIns="0" tIns="0" rIns="0" bIns="0" rtlCol="0" anchor="ctr"/>
          <a:lstStyle/>
          <a:p>
            <a:pPr algn="r" indent="0" marL="0">
              <a:buNone/>
            </a:pPr>
            <a:r>
              <a:rPr lang="en-US" sz="700" dirty="0">
                <a:solidFill>
                  <a:srgbClr val="90A8B0"/>
                </a:solidFill>
              </a:rPr>
              <a:t>MLflow  —  Fiche Technologique MLOps  |  Premi3ns</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1B2A"/>
          </a:solidFill>
          <a:ln w="12700">
            <a:solidFill>
              <a:srgbClr val="0D1B2A"/>
            </a:solidFill>
            <a:prstDash val="solid"/>
          </a:ln>
        </p:spPr>
      </p:sp>
      <p:sp>
        <p:nvSpPr>
          <p:cNvPr id="3" name="Shape 1"/>
          <p:cNvSpPr/>
          <p:nvPr/>
        </p:nvSpPr>
        <p:spPr>
          <a:xfrm>
            <a:off x="0" y="0"/>
            <a:ext cx="9144000" cy="54864"/>
          </a:xfrm>
          <a:prstGeom prst="rect">
            <a:avLst/>
          </a:prstGeom>
          <a:solidFill>
            <a:srgbClr val="0A7E8C"/>
          </a:solidFill>
          <a:ln w="12700">
            <a:solidFill>
              <a:srgbClr val="0A7E8C"/>
            </a:solidFill>
            <a:prstDash val="solid"/>
          </a:ln>
        </p:spPr>
      </p:sp>
      <p:sp>
        <p:nvSpPr>
          <p:cNvPr id="4" name="Shape 2"/>
          <p:cNvSpPr/>
          <p:nvPr/>
        </p:nvSpPr>
        <p:spPr>
          <a:xfrm>
            <a:off x="228600" y="164592"/>
            <a:ext cx="713232" cy="713232"/>
          </a:xfrm>
          <a:prstGeom prst="ellipse">
            <a:avLst/>
          </a:prstGeom>
          <a:solidFill>
            <a:srgbClr val="0A7E8C"/>
          </a:solidFill>
          <a:ln w="25400">
            <a:solidFill>
              <a:srgbClr val="0D9AA8"/>
            </a:solidFill>
            <a:prstDash val="solid"/>
          </a:ln>
        </p:spPr>
      </p:sp>
      <p:sp>
        <p:nvSpPr>
          <p:cNvPr id="5" name="Text 3"/>
          <p:cNvSpPr/>
          <p:nvPr/>
        </p:nvSpPr>
        <p:spPr>
          <a:xfrm>
            <a:off x="228600" y="164592"/>
            <a:ext cx="713232" cy="713232"/>
          </a:xfrm>
          <a:prstGeom prst="rect">
            <a:avLst/>
          </a:prstGeom>
          <a:noFill/>
          <a:ln/>
        </p:spPr>
        <p:txBody>
          <a:bodyPr wrap="square" lIns="0" tIns="0" rIns="0" bIns="0" rtlCol="0" anchor="ctr"/>
          <a:lstStyle/>
          <a:p>
            <a:pPr algn="ctr" indent="0" marL="0">
              <a:buNone/>
            </a:pPr>
            <a:r>
              <a:rPr lang="en-US" sz="1100" b="1" dirty="0">
                <a:solidFill>
                  <a:srgbClr val="FFFFFF"/>
                </a:solidFill>
              </a:rPr>
              <a:t>DV</a:t>
            </a:r>
            <a:endParaRPr lang="en-US" sz="1100" dirty="0"/>
          </a:p>
        </p:txBody>
      </p:sp>
      <p:sp>
        <p:nvSpPr>
          <p:cNvPr id="6" name="Text 4"/>
          <p:cNvSpPr/>
          <p:nvPr/>
        </p:nvSpPr>
        <p:spPr>
          <a:xfrm>
            <a:off x="1097280" y="128016"/>
            <a:ext cx="5029200" cy="502920"/>
          </a:xfrm>
          <a:prstGeom prst="rect">
            <a:avLst/>
          </a:prstGeom>
          <a:noFill/>
          <a:ln/>
        </p:spPr>
        <p:txBody>
          <a:bodyPr wrap="square" lIns="0" tIns="0" rIns="0" bIns="0" rtlCol="0" anchor="ctr"/>
          <a:lstStyle/>
          <a:p>
            <a:pPr algn="l" indent="0" marL="0">
              <a:buNone/>
            </a:pPr>
            <a:r>
              <a:rPr lang="en-US" sz="2600" b="1" dirty="0">
                <a:solidFill>
                  <a:srgbClr val="FFFFFF"/>
                </a:solidFill>
              </a:rPr>
              <a:t>DVC</a:t>
            </a:r>
            <a:endParaRPr lang="en-US" sz="2600" dirty="0"/>
          </a:p>
        </p:txBody>
      </p:sp>
      <p:sp>
        <p:nvSpPr>
          <p:cNvPr id="7" name="Shape 5"/>
          <p:cNvSpPr/>
          <p:nvPr/>
        </p:nvSpPr>
        <p:spPr>
          <a:xfrm>
            <a:off x="1097280" y="658368"/>
            <a:ext cx="1234440" cy="256032"/>
          </a:xfrm>
          <a:prstGeom prst="roundRect">
            <a:avLst>
              <a:gd name="adj" fmla="val 21429"/>
            </a:avLst>
          </a:prstGeom>
          <a:solidFill>
            <a:srgbClr val="0A7E8C"/>
          </a:solidFill>
          <a:ln w="12700">
            <a:solidFill>
              <a:srgbClr val="0A7E8C"/>
            </a:solidFill>
            <a:prstDash val="solid"/>
          </a:ln>
        </p:spPr>
      </p:sp>
      <p:sp>
        <p:nvSpPr>
          <p:cNvPr id="8" name="Text 6"/>
          <p:cNvSpPr/>
          <p:nvPr/>
        </p:nvSpPr>
        <p:spPr>
          <a:xfrm>
            <a:off x="1097280" y="658368"/>
            <a:ext cx="1234440" cy="256032"/>
          </a:xfrm>
          <a:prstGeom prst="rect">
            <a:avLst/>
          </a:prstGeom>
          <a:noFill/>
          <a:ln/>
        </p:spPr>
        <p:txBody>
          <a:bodyPr wrap="square" lIns="0" tIns="0" rIns="0" bIns="0" rtlCol="0" anchor="ctr"/>
          <a:lstStyle/>
          <a:p>
            <a:pPr algn="ctr" indent="0" marL="0">
              <a:buNone/>
            </a:pPr>
            <a:r>
              <a:rPr lang="en-US" sz="850" b="1" dirty="0">
                <a:solidFill>
                  <a:srgbClr val="FFFFFF"/>
                </a:solidFill>
              </a:rPr>
              <a:t>Open Source (Apache 2.0)</a:t>
            </a:r>
            <a:endParaRPr lang="en-US" sz="850" dirty="0"/>
          </a:p>
        </p:txBody>
      </p:sp>
      <p:sp>
        <p:nvSpPr>
          <p:cNvPr id="9" name="Shape 7"/>
          <p:cNvSpPr/>
          <p:nvPr/>
        </p:nvSpPr>
        <p:spPr>
          <a:xfrm>
            <a:off x="2423160" y="658368"/>
            <a:ext cx="1920240" cy="256032"/>
          </a:xfrm>
          <a:prstGeom prst="roundRect">
            <a:avLst>
              <a:gd name="adj" fmla="val 21429"/>
            </a:avLst>
          </a:prstGeom>
          <a:solidFill>
            <a:srgbClr val="1A3A4A"/>
          </a:solidFill>
          <a:ln w="12700">
            <a:solidFill>
              <a:srgbClr val="1A3A4A"/>
            </a:solidFill>
            <a:prstDash val="solid"/>
          </a:ln>
        </p:spPr>
      </p:sp>
      <p:sp>
        <p:nvSpPr>
          <p:cNvPr id="10" name="Text 8"/>
          <p:cNvSpPr/>
          <p:nvPr/>
        </p:nvSpPr>
        <p:spPr>
          <a:xfrm>
            <a:off x="2423160" y="658368"/>
            <a:ext cx="1920240" cy="256032"/>
          </a:xfrm>
          <a:prstGeom prst="rect">
            <a:avLst/>
          </a:prstGeom>
          <a:noFill/>
          <a:ln/>
        </p:spPr>
        <p:txBody>
          <a:bodyPr wrap="square" lIns="0" tIns="0" rIns="0" bIns="0" rtlCol="0" anchor="ctr"/>
          <a:lstStyle/>
          <a:p>
            <a:pPr algn="ctr" indent="0" marL="0">
              <a:buNone/>
            </a:pPr>
            <a:r>
              <a:rPr lang="en-US" sz="850" b="1" dirty="0">
                <a:solidFill>
                  <a:srgbClr val="A8C8D4"/>
                </a:solidFill>
              </a:rPr>
              <a:t>Éditeur: Iterative.ai</a:t>
            </a:r>
            <a:endParaRPr lang="en-US" sz="850" dirty="0"/>
          </a:p>
        </p:txBody>
      </p:sp>
      <p:sp>
        <p:nvSpPr>
          <p:cNvPr id="11" name="Shape 9"/>
          <p:cNvSpPr/>
          <p:nvPr/>
        </p:nvSpPr>
        <p:spPr>
          <a:xfrm>
            <a:off x="6858000" y="201168"/>
            <a:ext cx="2057400" cy="640080"/>
          </a:xfrm>
          <a:prstGeom prst="roundRect">
            <a:avLst>
              <a:gd name="adj" fmla="val 11429"/>
            </a:avLst>
          </a:prstGeom>
          <a:solidFill>
            <a:srgbClr val="1A8C4E">
              <a:alpha val="90000"/>
            </a:srgbClr>
          </a:solidFill>
          <a:ln w="12700">
            <a:solidFill>
              <a:srgbClr val="2ABD6E"/>
            </a:solidFill>
            <a:prstDash val="solid"/>
          </a:ln>
        </p:spPr>
      </p:sp>
      <p:sp>
        <p:nvSpPr>
          <p:cNvPr id="12" name="Text 10"/>
          <p:cNvSpPr/>
          <p:nvPr/>
        </p:nvSpPr>
        <p:spPr>
          <a:xfrm>
            <a:off x="6858000" y="201168"/>
            <a:ext cx="2057400" cy="640080"/>
          </a:xfrm>
          <a:prstGeom prst="rect">
            <a:avLst/>
          </a:prstGeom>
          <a:noFill/>
          <a:ln/>
        </p:spPr>
        <p:txBody>
          <a:bodyPr wrap="square" lIns="50800" tIns="50800" rIns="50800" bIns="50800" rtlCol="0" anchor="ctr"/>
          <a:lstStyle/>
          <a:p>
            <a:pPr algn="ctr" indent="0" marL="0">
              <a:buNone/>
            </a:pPr>
            <a:r>
              <a:rPr lang="en-US" sz="750" dirty="0">
                <a:solidFill>
                  <a:srgbClr val="FFFFFF"/>
                </a:solidFill>
              </a:rPr>
              <a:t>✓ Cloud Agnostic</a:t>
            </a:r>
            <a:endParaRPr lang="en-US" sz="750" dirty="0"/>
          </a:p>
          <a:p>
            <a:pPr algn="ctr" indent="0" marL="0">
              <a:buNone/>
            </a:pPr>
            <a:r>
              <a:rPr lang="en-US" sz="750" dirty="0">
                <a:solidFill>
                  <a:srgbClr val="FFFFFF"/>
                </a:solidFill>
              </a:rPr>
              <a:t>✓ K8s Native</a:t>
            </a:r>
            <a:endParaRPr lang="en-US" sz="750" dirty="0"/>
          </a:p>
          <a:p>
            <a:pPr algn="ctr" indent="0" marL="0">
              <a:buNone/>
            </a:pPr>
            <a:r>
              <a:rPr lang="en-US" sz="750" dirty="0">
                <a:solidFill>
                  <a:srgbClr val="FFFFFF"/>
                </a:solidFill>
              </a:rPr>
              <a:t>✓ S3NS Compatible</a:t>
            </a:r>
            <a:endParaRPr lang="en-US" sz="750" dirty="0"/>
          </a:p>
        </p:txBody>
      </p:sp>
      <p:sp>
        <p:nvSpPr>
          <p:cNvPr id="13" name="Shape 11"/>
          <p:cNvSpPr/>
          <p:nvPr/>
        </p:nvSpPr>
        <p:spPr>
          <a:xfrm>
            <a:off x="109728" y="1170432"/>
            <a:ext cx="2743200" cy="1170432"/>
          </a:xfrm>
          <a:prstGeom prst="roundRect">
            <a:avLst>
              <a:gd name="adj" fmla="val 7813"/>
            </a:avLst>
          </a:prstGeom>
          <a:solidFill>
            <a:srgbClr val="F9FCFD"/>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14" name="Shape 12"/>
          <p:cNvSpPr/>
          <p:nvPr/>
        </p:nvSpPr>
        <p:spPr>
          <a:xfrm>
            <a:off x="109728" y="1170432"/>
            <a:ext cx="2743200" cy="246888"/>
          </a:xfrm>
          <a:prstGeom prst="roundRect">
            <a:avLst>
              <a:gd name="adj" fmla="val 22222"/>
            </a:avLst>
          </a:prstGeom>
          <a:solidFill>
            <a:srgbClr val="0A7E8C"/>
          </a:solidFill>
          <a:ln w="12700">
            <a:solidFill>
              <a:srgbClr val="0A7E8C"/>
            </a:solidFill>
            <a:prstDash val="solid"/>
          </a:ln>
        </p:spPr>
      </p:sp>
      <p:sp>
        <p:nvSpPr>
          <p:cNvPr id="15" name="Text 13"/>
          <p:cNvSpPr/>
          <p:nvPr/>
        </p:nvSpPr>
        <p:spPr>
          <a:xfrm>
            <a:off x="109728" y="1170432"/>
            <a:ext cx="2743200" cy="246888"/>
          </a:xfrm>
          <a:prstGeom prst="rect">
            <a:avLst/>
          </a:prstGeom>
          <a:noFill/>
          <a:ln/>
        </p:spPr>
        <p:txBody>
          <a:bodyPr wrap="square" lIns="0" tIns="0" rIns="0" bIns="0" rtlCol="0" anchor="ctr"/>
          <a:lstStyle/>
          <a:p>
            <a:pPr algn="ctr" indent="0" marL="0">
              <a:buNone/>
            </a:pPr>
            <a:r>
              <a:rPr lang="en-US" sz="800" b="1" dirty="0">
                <a:solidFill>
                  <a:srgbClr val="FFFFFF"/>
                </a:solidFill>
              </a:rPr>
              <a:t>FINALITÉ</a:t>
            </a:r>
            <a:endParaRPr lang="en-US" sz="800" dirty="0"/>
          </a:p>
        </p:txBody>
      </p:sp>
      <p:sp>
        <p:nvSpPr>
          <p:cNvPr id="16" name="Text 14"/>
          <p:cNvSpPr/>
          <p:nvPr/>
        </p:nvSpPr>
        <p:spPr>
          <a:xfrm>
            <a:off x="201168" y="1490472"/>
            <a:ext cx="2560320" cy="804672"/>
          </a:xfrm>
          <a:prstGeom prst="rect">
            <a:avLst/>
          </a:prstGeom>
          <a:noFill/>
          <a:ln/>
        </p:spPr>
        <p:txBody>
          <a:bodyPr wrap="square" lIns="0" tIns="0" rIns="0" bIns="0" rtlCol="0" anchor="t"/>
          <a:lstStyle/>
          <a:p>
            <a:pPr algn="l" indent="0" marL="0">
              <a:buNone/>
            </a:pPr>
            <a:r>
              <a:rPr lang="en-US" sz="850" dirty="0">
                <a:solidFill>
                  <a:srgbClr val="1A2B3C"/>
                </a:solidFill>
              </a:rPr>
              <a:t>Gestion de versions des données et des modèles ML, inspirée de Git. Permet de versionner datasets volumineux, pipelines reproductibles et artifacts ML sans les stocker dans Git. Complète GitLab pour la traçabilité end-to-end data→modèle.</a:t>
            </a:r>
            <a:endParaRPr lang="en-US" sz="850" dirty="0"/>
          </a:p>
        </p:txBody>
      </p:sp>
      <p:sp>
        <p:nvSpPr>
          <p:cNvPr id="17" name="Shape 15"/>
          <p:cNvSpPr/>
          <p:nvPr/>
        </p:nvSpPr>
        <p:spPr>
          <a:xfrm>
            <a:off x="2980944" y="1170432"/>
            <a:ext cx="3063240" cy="1170432"/>
          </a:xfrm>
          <a:prstGeom prst="roundRect">
            <a:avLst>
              <a:gd name="adj" fmla="val 7813"/>
            </a:avLst>
          </a:prstGeom>
          <a:solidFill>
            <a:srgbClr val="F9FCFD"/>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18" name="Shape 16"/>
          <p:cNvSpPr/>
          <p:nvPr/>
        </p:nvSpPr>
        <p:spPr>
          <a:xfrm>
            <a:off x="2980944" y="1170432"/>
            <a:ext cx="3063240" cy="246888"/>
          </a:xfrm>
          <a:prstGeom prst="roundRect">
            <a:avLst>
              <a:gd name="adj" fmla="val 22222"/>
            </a:avLst>
          </a:prstGeom>
          <a:solidFill>
            <a:srgbClr val="0A7E8C"/>
          </a:solidFill>
          <a:ln w="12700">
            <a:solidFill>
              <a:srgbClr val="0A7E8C"/>
            </a:solidFill>
            <a:prstDash val="solid"/>
          </a:ln>
        </p:spPr>
      </p:sp>
      <p:sp>
        <p:nvSpPr>
          <p:cNvPr id="19" name="Text 17"/>
          <p:cNvSpPr/>
          <p:nvPr/>
        </p:nvSpPr>
        <p:spPr>
          <a:xfrm>
            <a:off x="2980944" y="1170432"/>
            <a:ext cx="3063240" cy="246888"/>
          </a:xfrm>
          <a:prstGeom prst="rect">
            <a:avLst/>
          </a:prstGeom>
          <a:noFill/>
          <a:ln/>
        </p:spPr>
        <p:txBody>
          <a:bodyPr wrap="square" lIns="0" tIns="0" rIns="0" bIns="0" rtlCol="0" anchor="ctr"/>
          <a:lstStyle/>
          <a:p>
            <a:pPr algn="ctr" indent="0" marL="0">
              <a:buNone/>
            </a:pPr>
            <a:r>
              <a:rPr lang="en-US" sz="800" b="1" dirty="0">
                <a:solidFill>
                  <a:srgbClr val="FFFFFF"/>
                </a:solidFill>
              </a:rPr>
              <a:t>CAS D'USAGE MÉTIER</a:t>
            </a:r>
            <a:endParaRPr lang="en-US" sz="800" dirty="0"/>
          </a:p>
        </p:txBody>
      </p:sp>
      <p:sp>
        <p:nvSpPr>
          <p:cNvPr id="20" name="Text 18"/>
          <p:cNvSpPr/>
          <p:nvPr/>
        </p:nvSpPr>
        <p:spPr>
          <a:xfrm>
            <a:off x="3090672" y="1481328"/>
            <a:ext cx="2880360" cy="822960"/>
          </a:xfrm>
          <a:prstGeom prst="rect">
            <a:avLst/>
          </a:prstGeom>
          <a:noFill/>
          <a:ln/>
        </p:spPr>
        <p:txBody>
          <a:bodyPr wrap="square" lIns="0" tIns="0" rIns="0" bIns="0" rtlCol="0" anchor="t"/>
          <a:lstStyle/>
          <a:p>
            <a:pPr marL="342900" indent="-342900">
              <a:buSzPct val="100000"/>
              <a:buChar char="•"/>
            </a:pPr>
            <a:r>
              <a:rPr lang="en-US" sz="800" dirty="0">
                <a:solidFill>
                  <a:srgbClr val="1A2B3C"/>
                </a:solidFill>
              </a:rPr>
              <a:t>Versioning des datasets (GBs/TBs)</a:t>
            </a:r>
            <a:endParaRPr lang="en-US" sz="800" dirty="0"/>
          </a:p>
          <a:p>
            <a:pPr marL="342900" indent="-342900">
              <a:buSzPct val="100000"/>
              <a:buChar char="•"/>
            </a:pPr>
            <a:r>
              <a:rPr lang="en-US" sz="800" dirty="0">
                <a:solidFill>
                  <a:srgbClr val="1A2B3C"/>
                </a:solidFill>
              </a:rPr>
              <a:t>Pipelines ML reproductibles (dvc.yaml)</a:t>
            </a:r>
            <a:endParaRPr lang="en-US" sz="800" dirty="0"/>
          </a:p>
          <a:p>
            <a:pPr marL="342900" indent="-342900">
              <a:buSzPct val="100000"/>
              <a:buChar char="•"/>
            </a:pPr>
            <a:r>
              <a:rPr lang="en-US" sz="800" dirty="0">
                <a:solidFill>
                  <a:srgbClr val="1A2B3C"/>
                </a:solidFill>
              </a:rPr>
              <a:t>Partage &amp; synchronisation des données d'équipe</a:t>
            </a:r>
            <a:endParaRPr lang="en-US" sz="800" dirty="0"/>
          </a:p>
          <a:p>
            <a:pPr marL="342900" indent="-342900">
              <a:buSzPct val="100000"/>
              <a:buChar char="•"/>
            </a:pPr>
            <a:r>
              <a:rPr lang="en-US" sz="800" dirty="0">
                <a:solidFill>
                  <a:srgbClr val="1A2B3C"/>
                </a:solidFill>
              </a:rPr>
              <a:t>Comparaison d'expériences via DVC Metrics</a:t>
            </a:r>
            <a:endParaRPr lang="en-US" sz="800" dirty="0"/>
          </a:p>
          <a:p>
            <a:pPr marL="342900" indent="-342900">
              <a:buSzPct val="100000"/>
              <a:buChar char="•"/>
            </a:pPr>
            <a:r>
              <a:rPr lang="en-US" sz="800" dirty="0">
                <a:solidFill>
                  <a:srgbClr val="1A2B3C"/>
                </a:solidFill>
              </a:rPr>
              <a:t>Audit de lignage données → modèle</a:t>
            </a:r>
            <a:endParaRPr lang="en-US" sz="800" dirty="0"/>
          </a:p>
        </p:txBody>
      </p:sp>
      <p:sp>
        <p:nvSpPr>
          <p:cNvPr id="21" name="Shape 19"/>
          <p:cNvSpPr/>
          <p:nvPr/>
        </p:nvSpPr>
        <p:spPr>
          <a:xfrm>
            <a:off x="6172200" y="1170432"/>
            <a:ext cx="2862072" cy="1170432"/>
          </a:xfrm>
          <a:prstGeom prst="roundRect">
            <a:avLst>
              <a:gd name="adj" fmla="val 7813"/>
            </a:avLst>
          </a:prstGeom>
          <a:solidFill>
            <a:srgbClr val="F9FCFD"/>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22" name="Shape 20"/>
          <p:cNvSpPr/>
          <p:nvPr/>
        </p:nvSpPr>
        <p:spPr>
          <a:xfrm>
            <a:off x="6172200" y="1170432"/>
            <a:ext cx="2862072" cy="246888"/>
          </a:xfrm>
          <a:prstGeom prst="roundRect">
            <a:avLst>
              <a:gd name="adj" fmla="val 22222"/>
            </a:avLst>
          </a:prstGeom>
          <a:solidFill>
            <a:srgbClr val="0A7E8C"/>
          </a:solidFill>
          <a:ln w="12700">
            <a:solidFill>
              <a:srgbClr val="0A7E8C"/>
            </a:solidFill>
            <a:prstDash val="solid"/>
          </a:ln>
        </p:spPr>
      </p:sp>
      <p:sp>
        <p:nvSpPr>
          <p:cNvPr id="23" name="Text 21"/>
          <p:cNvSpPr/>
          <p:nvPr/>
        </p:nvSpPr>
        <p:spPr>
          <a:xfrm>
            <a:off x="6172200" y="1170432"/>
            <a:ext cx="2862072" cy="246888"/>
          </a:xfrm>
          <a:prstGeom prst="rect">
            <a:avLst/>
          </a:prstGeom>
          <a:noFill/>
          <a:ln/>
        </p:spPr>
        <p:txBody>
          <a:bodyPr wrap="square" lIns="0" tIns="0" rIns="0" bIns="0" rtlCol="0" anchor="ctr"/>
          <a:lstStyle/>
          <a:p>
            <a:pPr algn="ctr" indent="0" marL="0">
              <a:buNone/>
            </a:pPr>
            <a:r>
              <a:rPr lang="en-US" sz="800" b="1" dirty="0">
                <a:solidFill>
                  <a:srgbClr val="FFFFFF"/>
                </a:solidFill>
              </a:rPr>
              <a:t>IMPÉRATIFS D'UTILISATION</a:t>
            </a:r>
            <a:endParaRPr lang="en-US" sz="800" dirty="0"/>
          </a:p>
        </p:txBody>
      </p:sp>
      <p:sp>
        <p:nvSpPr>
          <p:cNvPr id="24" name="Text 22"/>
          <p:cNvSpPr/>
          <p:nvPr/>
        </p:nvSpPr>
        <p:spPr>
          <a:xfrm>
            <a:off x="6281928" y="1481328"/>
            <a:ext cx="2679192" cy="822960"/>
          </a:xfrm>
          <a:prstGeom prst="rect">
            <a:avLst/>
          </a:prstGeom>
          <a:noFill/>
          <a:ln/>
        </p:spPr>
        <p:txBody>
          <a:bodyPr wrap="square" lIns="0" tIns="0" rIns="0" bIns="0" rtlCol="0" anchor="t"/>
          <a:lstStyle/>
          <a:p>
            <a:pPr marL="342900" indent="-342900">
              <a:buSzPct val="100000"/>
              <a:buChar char="•"/>
            </a:pPr>
            <a:r>
              <a:rPr lang="en-US" sz="800" dirty="0">
                <a:solidFill>
                  <a:srgbClr val="1A2B3C"/>
                </a:solidFill>
              </a:rPr>
              <a:t>Dépôt Git (GitLab) existant</a:t>
            </a:r>
            <a:endParaRPr lang="en-US" sz="800" dirty="0"/>
          </a:p>
          <a:p>
            <a:pPr marL="342900" indent="-342900">
              <a:buSzPct val="100000"/>
              <a:buChar char="•"/>
            </a:pPr>
            <a:r>
              <a:rPr lang="en-US" sz="800" dirty="0">
                <a:solidFill>
                  <a:srgbClr val="1A2B3C"/>
                </a:solidFill>
              </a:rPr>
              <a:t>Remote storage S3/GCS/SFTP</a:t>
            </a:r>
            <a:endParaRPr lang="en-US" sz="800" dirty="0"/>
          </a:p>
          <a:p>
            <a:pPr marL="342900" indent="-342900">
              <a:buSzPct val="100000"/>
              <a:buChar char="•"/>
            </a:pPr>
            <a:r>
              <a:rPr lang="en-US" sz="800" dirty="0">
                <a:solidFill>
                  <a:srgbClr val="1A2B3C"/>
                </a:solidFill>
              </a:rPr>
              <a:t>Python ≥ 3.8</a:t>
            </a:r>
            <a:endParaRPr lang="en-US" sz="800" dirty="0"/>
          </a:p>
          <a:p>
            <a:pPr marL="342900" indent="-342900">
              <a:buSzPct val="100000"/>
              <a:buChar char="•"/>
            </a:pPr>
            <a:r>
              <a:rPr lang="en-US" sz="800" dirty="0">
                <a:solidFill>
                  <a:srgbClr val="1A2B3C"/>
                </a:solidFill>
              </a:rPr>
              <a:t>Accès en écriture au bucket S3NS</a:t>
            </a:r>
            <a:endParaRPr lang="en-US" sz="800" dirty="0"/>
          </a:p>
        </p:txBody>
      </p:sp>
      <p:sp>
        <p:nvSpPr>
          <p:cNvPr id="25" name="Shape 23"/>
          <p:cNvSpPr/>
          <p:nvPr/>
        </p:nvSpPr>
        <p:spPr>
          <a:xfrm>
            <a:off x="109728" y="2450592"/>
            <a:ext cx="2743200" cy="1078992"/>
          </a:xfrm>
          <a:prstGeom prst="roundRect">
            <a:avLst>
              <a:gd name="adj" fmla="val 8475"/>
            </a:avLst>
          </a:prstGeom>
          <a:solidFill>
            <a:srgbClr val="E6F5ED"/>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26" name="Shape 24"/>
          <p:cNvSpPr/>
          <p:nvPr/>
        </p:nvSpPr>
        <p:spPr>
          <a:xfrm>
            <a:off x="109728" y="2450592"/>
            <a:ext cx="2743200" cy="246888"/>
          </a:xfrm>
          <a:prstGeom prst="roundRect">
            <a:avLst>
              <a:gd name="adj" fmla="val 22222"/>
            </a:avLst>
          </a:prstGeom>
          <a:solidFill>
            <a:srgbClr val="0A7E8C"/>
          </a:solidFill>
          <a:ln w="12700">
            <a:solidFill>
              <a:srgbClr val="0A7E8C"/>
            </a:solidFill>
            <a:prstDash val="solid"/>
          </a:ln>
        </p:spPr>
      </p:sp>
      <p:sp>
        <p:nvSpPr>
          <p:cNvPr id="27" name="Text 25"/>
          <p:cNvSpPr/>
          <p:nvPr/>
        </p:nvSpPr>
        <p:spPr>
          <a:xfrm>
            <a:off x="109728" y="2450592"/>
            <a:ext cx="2743200" cy="246888"/>
          </a:xfrm>
          <a:prstGeom prst="rect">
            <a:avLst/>
          </a:prstGeom>
          <a:noFill/>
          <a:ln/>
        </p:spPr>
        <p:txBody>
          <a:bodyPr wrap="square" lIns="0" tIns="0" rIns="0" bIns="0" rtlCol="0" anchor="ctr"/>
          <a:lstStyle/>
          <a:p>
            <a:pPr algn="ctr" indent="0" marL="0">
              <a:buNone/>
            </a:pPr>
            <a:r>
              <a:rPr lang="en-US" sz="800" b="1" dirty="0">
                <a:solidFill>
                  <a:srgbClr val="FFFFFF"/>
                </a:solidFill>
              </a:rPr>
              <a:t>SOLUTION EXISTANTE</a:t>
            </a:r>
            <a:endParaRPr lang="en-US" sz="800" dirty="0"/>
          </a:p>
        </p:txBody>
      </p:sp>
      <p:sp>
        <p:nvSpPr>
          <p:cNvPr id="28" name="Text 26"/>
          <p:cNvSpPr/>
          <p:nvPr/>
        </p:nvSpPr>
        <p:spPr>
          <a:xfrm>
            <a:off x="201168" y="2761488"/>
            <a:ext cx="2560320" cy="731520"/>
          </a:xfrm>
          <a:prstGeom prst="rect">
            <a:avLst/>
          </a:prstGeom>
          <a:noFill/>
          <a:ln/>
        </p:spPr>
        <p:txBody>
          <a:bodyPr wrap="square" lIns="0" tIns="0" rIns="0" bIns="0" rtlCol="0" anchor="t"/>
          <a:lstStyle/>
          <a:p>
            <a:pPr indent="0" marL="0">
              <a:buNone/>
            </a:pPr>
            <a:r>
              <a:rPr lang="en-US" sz="820" dirty="0">
                <a:solidFill>
                  <a:srgbClr val="1A2B3C"/>
                </a:solidFill>
              </a:rPr>
              <a:t>✓ Aucune solution équivalente en place — pas de doublon fonctionnel identifié.</a:t>
            </a:r>
            <a:endParaRPr lang="en-US" sz="820" dirty="0"/>
          </a:p>
        </p:txBody>
      </p:sp>
      <p:sp>
        <p:nvSpPr>
          <p:cNvPr id="29" name="Shape 27"/>
          <p:cNvSpPr/>
          <p:nvPr/>
        </p:nvSpPr>
        <p:spPr>
          <a:xfrm>
            <a:off x="2980944" y="2450592"/>
            <a:ext cx="3063240" cy="1078992"/>
          </a:xfrm>
          <a:prstGeom prst="roundRect">
            <a:avLst>
              <a:gd name="adj" fmla="val 8475"/>
            </a:avLst>
          </a:prstGeom>
          <a:solidFill>
            <a:srgbClr val="EBF5FF"/>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30" name="Shape 28"/>
          <p:cNvSpPr/>
          <p:nvPr/>
        </p:nvSpPr>
        <p:spPr>
          <a:xfrm>
            <a:off x="2980944" y="2450592"/>
            <a:ext cx="3063240" cy="246888"/>
          </a:xfrm>
          <a:prstGeom prst="roundRect">
            <a:avLst>
              <a:gd name="adj" fmla="val 22222"/>
            </a:avLst>
          </a:prstGeom>
          <a:solidFill>
            <a:srgbClr val="0A7E8C"/>
          </a:solidFill>
          <a:ln w="12700">
            <a:solidFill>
              <a:srgbClr val="0A7E8C"/>
            </a:solidFill>
            <a:prstDash val="solid"/>
          </a:ln>
        </p:spPr>
      </p:sp>
      <p:sp>
        <p:nvSpPr>
          <p:cNvPr id="31" name="Text 29"/>
          <p:cNvSpPr/>
          <p:nvPr/>
        </p:nvSpPr>
        <p:spPr>
          <a:xfrm>
            <a:off x="2980944" y="2450592"/>
            <a:ext cx="3063240" cy="246888"/>
          </a:xfrm>
          <a:prstGeom prst="rect">
            <a:avLst/>
          </a:prstGeom>
          <a:noFill/>
          <a:ln/>
        </p:spPr>
        <p:txBody>
          <a:bodyPr wrap="square" lIns="0" tIns="0" rIns="0" bIns="0" rtlCol="0" anchor="ctr"/>
          <a:lstStyle/>
          <a:p>
            <a:pPr algn="ctr" indent="0" marL="0">
              <a:buNone/>
            </a:pPr>
            <a:r>
              <a:rPr lang="en-US" sz="800" b="1" dirty="0">
                <a:solidFill>
                  <a:srgbClr val="FFFFFF"/>
                </a:solidFill>
              </a:rPr>
              <a:t>STRATÉGIE IA &amp; PORTABILITÉ</a:t>
            </a:r>
            <a:endParaRPr lang="en-US" sz="800" dirty="0"/>
          </a:p>
        </p:txBody>
      </p:sp>
      <p:sp>
        <p:nvSpPr>
          <p:cNvPr id="32" name="Text 30"/>
          <p:cNvSpPr/>
          <p:nvPr/>
        </p:nvSpPr>
        <p:spPr>
          <a:xfrm>
            <a:off x="3090672" y="2761488"/>
            <a:ext cx="2880360" cy="731520"/>
          </a:xfrm>
          <a:prstGeom prst="rect">
            <a:avLst/>
          </a:prstGeom>
          <a:noFill/>
          <a:ln/>
        </p:spPr>
        <p:txBody>
          <a:bodyPr wrap="square" lIns="0" tIns="0" rIns="0" bIns="0" rtlCol="0" anchor="t"/>
          <a:lstStyle/>
          <a:p>
            <a:pPr indent="0" marL="0">
              <a:buNone/>
            </a:pPr>
            <a:r>
              <a:rPr lang="en-US" sz="820" dirty="0">
                <a:solidFill>
                  <a:srgbClr val="1A2B3C"/>
                </a:solidFill>
              </a:rPr>
              <a:t>✓ Stratégie IA : reproducibilité &amp; traçabilité données critiques. Portabilité maximale — CLI Git-compatible, remote S3-compatible (S3NS). Intégration native GitLab CI. Pas de serveur central requis.</a:t>
            </a:r>
            <a:endParaRPr lang="en-US" sz="820" dirty="0"/>
          </a:p>
        </p:txBody>
      </p:sp>
      <p:sp>
        <p:nvSpPr>
          <p:cNvPr id="33" name="Shape 31"/>
          <p:cNvSpPr/>
          <p:nvPr/>
        </p:nvSpPr>
        <p:spPr>
          <a:xfrm>
            <a:off x="6172200" y="2450592"/>
            <a:ext cx="2862072" cy="1078992"/>
          </a:xfrm>
          <a:prstGeom prst="roundRect">
            <a:avLst>
              <a:gd name="adj" fmla="val 8475"/>
            </a:avLst>
          </a:prstGeom>
          <a:solidFill>
            <a:srgbClr val="E6F5ED"/>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34" name="Shape 32"/>
          <p:cNvSpPr/>
          <p:nvPr/>
        </p:nvSpPr>
        <p:spPr>
          <a:xfrm>
            <a:off x="6172200" y="2450592"/>
            <a:ext cx="2862072" cy="246888"/>
          </a:xfrm>
          <a:prstGeom prst="roundRect">
            <a:avLst>
              <a:gd name="adj" fmla="val 22222"/>
            </a:avLst>
          </a:prstGeom>
          <a:solidFill>
            <a:srgbClr val="0A7E8C"/>
          </a:solidFill>
          <a:ln w="12700">
            <a:solidFill>
              <a:srgbClr val="0A7E8C"/>
            </a:solidFill>
            <a:prstDash val="solid"/>
          </a:ln>
        </p:spPr>
      </p:sp>
      <p:sp>
        <p:nvSpPr>
          <p:cNvPr id="35" name="Text 33"/>
          <p:cNvSpPr/>
          <p:nvPr/>
        </p:nvSpPr>
        <p:spPr>
          <a:xfrm>
            <a:off x="6172200" y="2450592"/>
            <a:ext cx="2862072" cy="246888"/>
          </a:xfrm>
          <a:prstGeom prst="rect">
            <a:avLst/>
          </a:prstGeom>
          <a:noFill/>
          <a:ln/>
        </p:spPr>
        <p:txBody>
          <a:bodyPr wrap="square" lIns="0" tIns="0" rIns="0" bIns="0" rtlCol="0" anchor="ctr"/>
          <a:lstStyle/>
          <a:p>
            <a:pPr algn="ctr" indent="0" marL="0">
              <a:buNone/>
            </a:pPr>
            <a:r>
              <a:rPr lang="en-US" sz="800" b="1" dirty="0">
                <a:solidFill>
                  <a:srgbClr val="FFFFFF"/>
                </a:solidFill>
              </a:rPr>
              <a:t>COMPATIBILITÉ S3NS / STANDARDS</a:t>
            </a:r>
            <a:endParaRPr lang="en-US" sz="800" dirty="0"/>
          </a:p>
        </p:txBody>
      </p:sp>
      <p:sp>
        <p:nvSpPr>
          <p:cNvPr id="36" name="Text 34"/>
          <p:cNvSpPr/>
          <p:nvPr/>
        </p:nvSpPr>
        <p:spPr>
          <a:xfrm>
            <a:off x="6281928" y="2761488"/>
            <a:ext cx="2679192" cy="731520"/>
          </a:xfrm>
          <a:prstGeom prst="rect">
            <a:avLst/>
          </a:prstGeom>
          <a:noFill/>
          <a:ln/>
        </p:spPr>
        <p:txBody>
          <a:bodyPr wrap="square" lIns="0" tIns="0" rIns="0" bIns="0" rtlCol="0" anchor="t"/>
          <a:lstStyle/>
          <a:p>
            <a:pPr indent="0" marL="0">
              <a:buNone/>
            </a:pPr>
            <a:r>
              <a:rPr lang="en-US" sz="820" dirty="0">
                <a:solidFill>
                  <a:srgbClr val="1A2B3C"/>
                </a:solidFill>
              </a:rPr>
              <a:t>✓ Remote S3-compatible (protocole standard)</a:t>
            </a:r>
            <a:endParaRPr lang="en-US" sz="820" dirty="0"/>
          </a:p>
          <a:p>
            <a:pPr indent="0" marL="0">
              <a:buNone/>
            </a:pPr>
            <a:r>
              <a:rPr lang="en-US" sz="820" dirty="0">
                <a:solidFill>
                  <a:srgbClr val="1A2B3C"/>
                </a:solidFill>
              </a:rPr>
              <a:t>✓ S3NS : config remote s3://bucket</a:t>
            </a:r>
            <a:endParaRPr lang="en-US" sz="820" dirty="0"/>
          </a:p>
          <a:p>
            <a:pPr indent="0" marL="0">
              <a:buNone/>
            </a:pPr>
            <a:r>
              <a:rPr lang="en-US" sz="820" dirty="0">
                <a:solidFill>
                  <a:srgbClr val="1A2B3C"/>
                </a:solidFill>
              </a:rPr>
              <a:t>✓ Aucun composant cloud-specific</a:t>
            </a:r>
            <a:endParaRPr lang="en-US" sz="820" dirty="0"/>
          </a:p>
          <a:p>
            <a:pPr indent="0" marL="0">
              <a:buNone/>
            </a:pPr>
            <a:r>
              <a:rPr lang="en-US" sz="820" dirty="0">
                <a:solidFill>
                  <a:srgbClr val="1A2B3C"/>
                </a:solidFill>
              </a:rPr>
              <a:t>✓ GitLab CI : dvc pull/push natif</a:t>
            </a:r>
            <a:endParaRPr lang="en-US" sz="820" dirty="0"/>
          </a:p>
          <a:p>
            <a:pPr indent="0" marL="0">
              <a:buNone/>
            </a:pPr>
            <a:r>
              <a:rPr lang="en-US" sz="820" dirty="0">
                <a:solidFill>
                  <a:srgbClr val="1A2B3C"/>
                </a:solidFill>
              </a:rPr>
              <a:t>✓ Fonctionne on-prem et cloud</a:t>
            </a:r>
            <a:endParaRPr lang="en-US" sz="820" dirty="0"/>
          </a:p>
        </p:txBody>
      </p:sp>
      <p:sp>
        <p:nvSpPr>
          <p:cNvPr id="37" name="Shape 35"/>
          <p:cNvSpPr/>
          <p:nvPr/>
        </p:nvSpPr>
        <p:spPr>
          <a:xfrm>
            <a:off x="109728" y="3639312"/>
            <a:ext cx="2743200" cy="1325880"/>
          </a:xfrm>
          <a:prstGeom prst="roundRect">
            <a:avLst>
              <a:gd name="adj" fmla="val 6897"/>
            </a:avLst>
          </a:prstGeom>
          <a:solidFill>
            <a:srgbClr val="F9FCFD"/>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38" name="Shape 36"/>
          <p:cNvSpPr/>
          <p:nvPr/>
        </p:nvSpPr>
        <p:spPr>
          <a:xfrm>
            <a:off x="109728" y="3639312"/>
            <a:ext cx="2743200" cy="246888"/>
          </a:xfrm>
          <a:prstGeom prst="roundRect">
            <a:avLst>
              <a:gd name="adj" fmla="val 22222"/>
            </a:avLst>
          </a:prstGeom>
          <a:solidFill>
            <a:srgbClr val="0A7E8C"/>
          </a:solidFill>
          <a:ln w="12700">
            <a:solidFill>
              <a:srgbClr val="0A7E8C"/>
            </a:solidFill>
            <a:prstDash val="solid"/>
          </a:ln>
        </p:spPr>
      </p:sp>
      <p:sp>
        <p:nvSpPr>
          <p:cNvPr id="39" name="Text 37"/>
          <p:cNvSpPr/>
          <p:nvPr/>
        </p:nvSpPr>
        <p:spPr>
          <a:xfrm>
            <a:off x="109728" y="3639312"/>
            <a:ext cx="2743200" cy="246888"/>
          </a:xfrm>
          <a:prstGeom prst="rect">
            <a:avLst/>
          </a:prstGeom>
          <a:noFill/>
          <a:ln/>
        </p:spPr>
        <p:txBody>
          <a:bodyPr wrap="square" lIns="0" tIns="0" rIns="0" bIns="0" rtlCol="0" anchor="ctr"/>
          <a:lstStyle/>
          <a:p>
            <a:pPr algn="ctr" indent="0" marL="0">
              <a:buNone/>
            </a:pPr>
            <a:r>
              <a:rPr lang="en-US" sz="800" b="1" dirty="0">
                <a:solidFill>
                  <a:srgbClr val="FFFFFF"/>
                </a:solidFill>
              </a:rPr>
              <a:t>PÉRENNITÉ &amp; ADOPTION MARCHÉ</a:t>
            </a:r>
            <a:endParaRPr lang="en-US" sz="800" dirty="0"/>
          </a:p>
        </p:txBody>
      </p:sp>
      <p:sp>
        <p:nvSpPr>
          <p:cNvPr id="40" name="Text 38"/>
          <p:cNvSpPr/>
          <p:nvPr/>
        </p:nvSpPr>
        <p:spPr>
          <a:xfrm>
            <a:off x="201168" y="3950208"/>
            <a:ext cx="2560320" cy="960120"/>
          </a:xfrm>
          <a:prstGeom prst="rect">
            <a:avLst/>
          </a:prstGeom>
          <a:noFill/>
          <a:ln/>
        </p:spPr>
        <p:txBody>
          <a:bodyPr wrap="square" lIns="0" tIns="0" rIns="0" bIns="0" rtlCol="0" anchor="t"/>
          <a:lstStyle/>
          <a:p>
            <a:pPr indent="0" marL="0">
              <a:buNone/>
            </a:pPr>
            <a:r>
              <a:rPr lang="en-US" sz="820" dirty="0">
                <a:solidFill>
                  <a:srgbClr val="1A2B3C"/>
                </a:solidFill>
              </a:rPr>
              <a:t>⭐ 14 000+ stars GitHub. Adopté par Shell, Société Générale, Booking.com. Iterative.ai lève 20M$ (2022). Communauté active, roadmap publique. DVC Studio (UI) disponible. Forte croissance MLOps 2022-2025.</a:t>
            </a:r>
            <a:endParaRPr lang="en-US" sz="820" dirty="0"/>
          </a:p>
        </p:txBody>
      </p:sp>
      <p:sp>
        <p:nvSpPr>
          <p:cNvPr id="41" name="Shape 39"/>
          <p:cNvSpPr/>
          <p:nvPr/>
        </p:nvSpPr>
        <p:spPr>
          <a:xfrm>
            <a:off x="2980944" y="3639312"/>
            <a:ext cx="6053328" cy="1325880"/>
          </a:xfrm>
          <a:prstGeom prst="roundRect">
            <a:avLst>
              <a:gd name="adj" fmla="val 6897"/>
            </a:avLst>
          </a:prstGeom>
          <a:solidFill>
            <a:srgbClr val="F9FCFD"/>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42" name="Shape 40"/>
          <p:cNvSpPr/>
          <p:nvPr/>
        </p:nvSpPr>
        <p:spPr>
          <a:xfrm>
            <a:off x="2980944" y="3639312"/>
            <a:ext cx="6053328" cy="246888"/>
          </a:xfrm>
          <a:prstGeom prst="roundRect">
            <a:avLst>
              <a:gd name="adj" fmla="val 22222"/>
            </a:avLst>
          </a:prstGeom>
          <a:solidFill>
            <a:srgbClr val="0A7E8C"/>
          </a:solidFill>
          <a:ln w="12700">
            <a:solidFill>
              <a:srgbClr val="0A7E8C"/>
            </a:solidFill>
            <a:prstDash val="solid"/>
          </a:ln>
        </p:spPr>
      </p:sp>
      <p:sp>
        <p:nvSpPr>
          <p:cNvPr id="43" name="Text 41"/>
          <p:cNvSpPr/>
          <p:nvPr/>
        </p:nvSpPr>
        <p:spPr>
          <a:xfrm>
            <a:off x="2980944" y="3639312"/>
            <a:ext cx="6053328" cy="246888"/>
          </a:xfrm>
          <a:prstGeom prst="rect">
            <a:avLst/>
          </a:prstGeom>
          <a:noFill/>
          <a:ln/>
        </p:spPr>
        <p:txBody>
          <a:bodyPr wrap="square" lIns="0" tIns="0" rIns="0" bIns="0" rtlCol="0" anchor="ctr"/>
          <a:lstStyle/>
          <a:p>
            <a:pPr algn="ctr" indent="0" marL="0">
              <a:buNone/>
            </a:pPr>
            <a:r>
              <a:rPr lang="en-US" sz="800" b="1" dirty="0">
                <a:solidFill>
                  <a:srgbClr val="FFFFFF"/>
                </a:solidFill>
              </a:rPr>
              <a:t>CONDITIONS D'UTILISATION</a:t>
            </a:r>
            <a:endParaRPr lang="en-US" sz="800" dirty="0"/>
          </a:p>
        </p:txBody>
      </p:sp>
      <p:sp>
        <p:nvSpPr>
          <p:cNvPr id="44" name="Shape 42"/>
          <p:cNvSpPr/>
          <p:nvPr/>
        </p:nvSpPr>
        <p:spPr>
          <a:xfrm>
            <a:off x="3072384" y="3959352"/>
            <a:ext cx="1901952" cy="969264"/>
          </a:xfrm>
          <a:prstGeom prst="roundRect">
            <a:avLst>
              <a:gd name="adj" fmla="val 6604"/>
            </a:avLst>
          </a:prstGeom>
          <a:solidFill>
            <a:srgbClr val="EEF2FF"/>
          </a:solidFill>
          <a:ln w="12700">
            <a:solidFill>
              <a:srgbClr val="C7D2FE"/>
            </a:solidFill>
            <a:prstDash val="solid"/>
          </a:ln>
        </p:spPr>
      </p:sp>
      <p:sp>
        <p:nvSpPr>
          <p:cNvPr id="45" name="Text 43"/>
          <p:cNvSpPr/>
          <p:nvPr/>
        </p:nvSpPr>
        <p:spPr>
          <a:xfrm>
            <a:off x="3072384" y="3959352"/>
            <a:ext cx="1901952" cy="228600"/>
          </a:xfrm>
          <a:prstGeom prst="rect">
            <a:avLst/>
          </a:prstGeom>
          <a:noFill/>
          <a:ln/>
        </p:spPr>
        <p:txBody>
          <a:bodyPr wrap="square" lIns="0" tIns="0" rIns="0" bIns="0" rtlCol="0" anchor="ctr"/>
          <a:lstStyle/>
          <a:p>
            <a:pPr algn="ctr" indent="0" marL="0">
              <a:buNone/>
            </a:pPr>
            <a:r>
              <a:rPr lang="en-US" sz="750" b="1" dirty="0">
                <a:solidFill>
                  <a:srgbClr val="4338CA"/>
                </a:solidFill>
              </a:rPr>
              <a:t>COMPÉTENCES</a:t>
            </a:r>
            <a:endParaRPr lang="en-US" sz="750" dirty="0"/>
          </a:p>
        </p:txBody>
      </p:sp>
      <p:sp>
        <p:nvSpPr>
          <p:cNvPr id="46" name="Text 44"/>
          <p:cNvSpPr/>
          <p:nvPr/>
        </p:nvSpPr>
        <p:spPr>
          <a:xfrm>
            <a:off x="3145536" y="4187952"/>
            <a:ext cx="1755648" cy="713232"/>
          </a:xfrm>
          <a:prstGeom prst="rect">
            <a:avLst/>
          </a:prstGeom>
          <a:noFill/>
          <a:ln/>
        </p:spPr>
        <p:txBody>
          <a:bodyPr wrap="square" lIns="0" tIns="0" rIns="0" bIns="0" rtlCol="0" anchor="t"/>
          <a:lstStyle/>
          <a:p>
            <a:pPr indent="0" marL="0">
              <a:buNone/>
            </a:pPr>
            <a:r>
              <a:rPr lang="en-US" sz="800" dirty="0">
                <a:solidFill>
                  <a:srgbClr val="1A2B3C"/>
                </a:solidFill>
              </a:rPr>
              <a:t>Maîtrise Git, CLI DVC, configuration remote S3, compréhension pipelines dvc.yaml, YAML pour la définition des stages.</a:t>
            </a:r>
            <a:endParaRPr lang="en-US" sz="800" dirty="0"/>
          </a:p>
        </p:txBody>
      </p:sp>
      <p:sp>
        <p:nvSpPr>
          <p:cNvPr id="47" name="Shape 45"/>
          <p:cNvSpPr/>
          <p:nvPr/>
        </p:nvSpPr>
        <p:spPr>
          <a:xfrm>
            <a:off x="5102352" y="3959352"/>
            <a:ext cx="1901952" cy="969264"/>
          </a:xfrm>
          <a:prstGeom prst="roundRect">
            <a:avLst>
              <a:gd name="adj" fmla="val 6604"/>
            </a:avLst>
          </a:prstGeom>
          <a:solidFill>
            <a:srgbClr val="FFF7ED"/>
          </a:solidFill>
          <a:ln w="12700">
            <a:solidFill>
              <a:srgbClr val="FED7AA"/>
            </a:solidFill>
            <a:prstDash val="solid"/>
          </a:ln>
        </p:spPr>
      </p:sp>
      <p:sp>
        <p:nvSpPr>
          <p:cNvPr id="48" name="Text 46"/>
          <p:cNvSpPr/>
          <p:nvPr/>
        </p:nvSpPr>
        <p:spPr>
          <a:xfrm>
            <a:off x="5102352" y="3959352"/>
            <a:ext cx="1901952" cy="228600"/>
          </a:xfrm>
          <a:prstGeom prst="rect">
            <a:avLst/>
          </a:prstGeom>
          <a:noFill/>
          <a:ln/>
        </p:spPr>
        <p:txBody>
          <a:bodyPr wrap="square" lIns="0" tIns="0" rIns="0" bIns="0" rtlCol="0" anchor="ctr"/>
          <a:lstStyle/>
          <a:p>
            <a:pPr algn="ctr" indent="0" marL="0">
              <a:buNone/>
            </a:pPr>
            <a:r>
              <a:rPr lang="en-US" sz="750" b="1" dirty="0">
                <a:solidFill>
                  <a:srgbClr val="C2410C"/>
                </a:solidFill>
              </a:rPr>
              <a:t>COÛTS BUILD / RUN</a:t>
            </a:r>
            <a:endParaRPr lang="en-US" sz="750" dirty="0"/>
          </a:p>
        </p:txBody>
      </p:sp>
      <p:sp>
        <p:nvSpPr>
          <p:cNvPr id="49" name="Text 47"/>
          <p:cNvSpPr/>
          <p:nvPr/>
        </p:nvSpPr>
        <p:spPr>
          <a:xfrm>
            <a:off x="5175504" y="4187952"/>
            <a:ext cx="1755648" cy="713232"/>
          </a:xfrm>
          <a:prstGeom prst="rect">
            <a:avLst/>
          </a:prstGeom>
          <a:noFill/>
          <a:ln/>
        </p:spPr>
        <p:txBody>
          <a:bodyPr wrap="square" lIns="0" tIns="0" rIns="0" bIns="0" rtlCol="0" anchor="t"/>
          <a:lstStyle/>
          <a:p>
            <a:pPr indent="0" marL="0">
              <a:buNone/>
            </a:pPr>
            <a:r>
              <a:rPr lang="en-US" sz="800" dirty="0">
                <a:solidFill>
                  <a:srgbClr val="1A2B3C"/>
                </a:solidFill>
              </a:rPr>
              <a:t>Build : 1-2j setup remote + intégration GitLab.</a:t>
            </a:r>
            <a:endParaRPr lang="en-US" sz="800" dirty="0"/>
          </a:p>
          <a:p>
            <a:pPr indent="0" marL="0">
              <a:buNone/>
            </a:pPr>
            <a:r>
              <a:rPr lang="en-US" sz="800" dirty="0">
                <a:solidFill>
                  <a:srgbClr val="1A2B3C"/>
                </a:solidFill>
              </a:rPr>
              <a:t>Run : coût stockage S3 uniquement (pas de compute DVC). Licence : gratuit. DVC Studio optionnel (SaaS payant).</a:t>
            </a:r>
            <a:endParaRPr lang="en-US" sz="800" dirty="0"/>
          </a:p>
        </p:txBody>
      </p:sp>
      <p:sp>
        <p:nvSpPr>
          <p:cNvPr id="50" name="Shape 48"/>
          <p:cNvSpPr/>
          <p:nvPr/>
        </p:nvSpPr>
        <p:spPr>
          <a:xfrm>
            <a:off x="7132320" y="3959352"/>
            <a:ext cx="1810512" cy="969264"/>
          </a:xfrm>
          <a:prstGeom prst="roundRect">
            <a:avLst>
              <a:gd name="adj" fmla="val 6604"/>
            </a:avLst>
          </a:prstGeom>
          <a:solidFill>
            <a:srgbClr val="F0FDF4"/>
          </a:solidFill>
          <a:ln w="12700">
            <a:solidFill>
              <a:srgbClr val="86EFAC"/>
            </a:solidFill>
            <a:prstDash val="solid"/>
          </a:ln>
        </p:spPr>
      </p:sp>
      <p:sp>
        <p:nvSpPr>
          <p:cNvPr id="51" name="Text 49"/>
          <p:cNvSpPr/>
          <p:nvPr/>
        </p:nvSpPr>
        <p:spPr>
          <a:xfrm>
            <a:off x="7132320" y="3959352"/>
            <a:ext cx="1810512" cy="228600"/>
          </a:xfrm>
          <a:prstGeom prst="rect">
            <a:avLst/>
          </a:prstGeom>
          <a:noFill/>
          <a:ln/>
        </p:spPr>
        <p:txBody>
          <a:bodyPr wrap="square" lIns="0" tIns="0" rIns="0" bIns="0" rtlCol="0" anchor="ctr"/>
          <a:lstStyle/>
          <a:p>
            <a:pPr algn="ctr" indent="0" marL="0">
              <a:buNone/>
            </a:pPr>
            <a:r>
              <a:rPr lang="en-US" sz="750" b="1" dirty="0">
                <a:solidFill>
                  <a:srgbClr val="15803D"/>
                </a:solidFill>
              </a:rPr>
              <a:t>INTÉGRATION SI</a:t>
            </a:r>
            <a:endParaRPr lang="en-US" sz="750" dirty="0"/>
          </a:p>
        </p:txBody>
      </p:sp>
      <p:sp>
        <p:nvSpPr>
          <p:cNvPr id="52" name="Text 50"/>
          <p:cNvSpPr/>
          <p:nvPr/>
        </p:nvSpPr>
        <p:spPr>
          <a:xfrm>
            <a:off x="7205472" y="4187952"/>
            <a:ext cx="1664208" cy="713232"/>
          </a:xfrm>
          <a:prstGeom prst="rect">
            <a:avLst/>
          </a:prstGeom>
          <a:noFill/>
          <a:ln/>
        </p:spPr>
        <p:txBody>
          <a:bodyPr wrap="square" lIns="0" tIns="0" rIns="0" bIns="0" rtlCol="0" anchor="t"/>
          <a:lstStyle/>
          <a:p>
            <a:pPr indent="0" marL="0">
              <a:buNone/>
            </a:pPr>
            <a:r>
              <a:rPr lang="en-US" sz="800" dirty="0">
                <a:solidFill>
                  <a:srgbClr val="1A2B3C"/>
                </a:solidFill>
              </a:rPr>
              <a:t>Plugin GitLab CI (dvc repro), hook pre-commit, intégration MLflow pour corrélation run↔dataset version, Airflow operator DVC.</a:t>
            </a:r>
            <a:endParaRPr lang="en-US" sz="800" dirty="0"/>
          </a:p>
        </p:txBody>
      </p:sp>
      <p:sp>
        <p:nvSpPr>
          <p:cNvPr id="53" name="Text 51"/>
          <p:cNvSpPr/>
          <p:nvPr/>
        </p:nvSpPr>
        <p:spPr>
          <a:xfrm>
            <a:off x="109728" y="4956048"/>
            <a:ext cx="8924544" cy="182880"/>
          </a:xfrm>
          <a:prstGeom prst="rect">
            <a:avLst/>
          </a:prstGeom>
          <a:noFill/>
          <a:ln/>
        </p:spPr>
        <p:txBody>
          <a:bodyPr wrap="square" lIns="0" tIns="0" rIns="0" bIns="0" rtlCol="0" anchor="ctr"/>
          <a:lstStyle/>
          <a:p>
            <a:pPr algn="r" indent="0" marL="0">
              <a:buNone/>
            </a:pPr>
            <a:r>
              <a:rPr lang="en-US" sz="700" dirty="0">
                <a:solidFill>
                  <a:srgbClr val="90A8B0"/>
                </a:solidFill>
              </a:rPr>
              <a:t>DVC  —  Fiche Technologique MLOps  |  Premi3ns</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1B2A"/>
          </a:solidFill>
          <a:ln w="12700">
            <a:solidFill>
              <a:srgbClr val="0D1B2A"/>
            </a:solidFill>
            <a:prstDash val="solid"/>
          </a:ln>
        </p:spPr>
      </p:sp>
      <p:sp>
        <p:nvSpPr>
          <p:cNvPr id="3" name="Shape 1"/>
          <p:cNvSpPr/>
          <p:nvPr/>
        </p:nvSpPr>
        <p:spPr>
          <a:xfrm>
            <a:off x="0" y="0"/>
            <a:ext cx="9144000" cy="54864"/>
          </a:xfrm>
          <a:prstGeom prst="rect">
            <a:avLst/>
          </a:prstGeom>
          <a:solidFill>
            <a:srgbClr val="0A7E8C"/>
          </a:solidFill>
          <a:ln w="12700">
            <a:solidFill>
              <a:srgbClr val="0A7E8C"/>
            </a:solidFill>
            <a:prstDash val="solid"/>
          </a:ln>
        </p:spPr>
      </p:sp>
      <p:sp>
        <p:nvSpPr>
          <p:cNvPr id="4" name="Shape 2"/>
          <p:cNvSpPr/>
          <p:nvPr/>
        </p:nvSpPr>
        <p:spPr>
          <a:xfrm>
            <a:off x="228600" y="164592"/>
            <a:ext cx="713232" cy="713232"/>
          </a:xfrm>
          <a:prstGeom prst="ellipse">
            <a:avLst/>
          </a:prstGeom>
          <a:solidFill>
            <a:srgbClr val="0A7E8C"/>
          </a:solidFill>
          <a:ln w="25400">
            <a:solidFill>
              <a:srgbClr val="0D9AA8"/>
            </a:solidFill>
            <a:prstDash val="solid"/>
          </a:ln>
        </p:spPr>
      </p:sp>
      <p:sp>
        <p:nvSpPr>
          <p:cNvPr id="5" name="Text 3"/>
          <p:cNvSpPr/>
          <p:nvPr/>
        </p:nvSpPr>
        <p:spPr>
          <a:xfrm>
            <a:off x="228600" y="164592"/>
            <a:ext cx="713232" cy="713232"/>
          </a:xfrm>
          <a:prstGeom prst="rect">
            <a:avLst/>
          </a:prstGeom>
          <a:noFill/>
          <a:ln/>
        </p:spPr>
        <p:txBody>
          <a:bodyPr wrap="square" lIns="0" tIns="0" rIns="0" bIns="0" rtlCol="0" anchor="ctr"/>
          <a:lstStyle/>
          <a:p>
            <a:pPr algn="ctr" indent="0" marL="0">
              <a:buNone/>
            </a:pPr>
            <a:r>
              <a:rPr lang="en-US" sz="1100" b="1" dirty="0">
                <a:solidFill>
                  <a:srgbClr val="FFFFFF"/>
                </a:solidFill>
              </a:rPr>
              <a:t>EV</a:t>
            </a:r>
            <a:endParaRPr lang="en-US" sz="1100" dirty="0"/>
          </a:p>
        </p:txBody>
      </p:sp>
      <p:sp>
        <p:nvSpPr>
          <p:cNvPr id="6" name="Text 4"/>
          <p:cNvSpPr/>
          <p:nvPr/>
        </p:nvSpPr>
        <p:spPr>
          <a:xfrm>
            <a:off x="1097280" y="128016"/>
            <a:ext cx="5029200" cy="502920"/>
          </a:xfrm>
          <a:prstGeom prst="rect">
            <a:avLst/>
          </a:prstGeom>
          <a:noFill/>
          <a:ln/>
        </p:spPr>
        <p:txBody>
          <a:bodyPr wrap="square" lIns="0" tIns="0" rIns="0" bIns="0" rtlCol="0" anchor="ctr"/>
          <a:lstStyle/>
          <a:p>
            <a:pPr algn="l" indent="0" marL="0">
              <a:buNone/>
            </a:pPr>
            <a:r>
              <a:rPr lang="en-US" sz="2600" b="1" dirty="0">
                <a:solidFill>
                  <a:srgbClr val="FFFFFF"/>
                </a:solidFill>
              </a:rPr>
              <a:t>Evidently AI</a:t>
            </a:r>
            <a:endParaRPr lang="en-US" sz="2600" dirty="0"/>
          </a:p>
        </p:txBody>
      </p:sp>
      <p:sp>
        <p:nvSpPr>
          <p:cNvPr id="7" name="Shape 5"/>
          <p:cNvSpPr/>
          <p:nvPr/>
        </p:nvSpPr>
        <p:spPr>
          <a:xfrm>
            <a:off x="1097280" y="658368"/>
            <a:ext cx="1234440" cy="256032"/>
          </a:xfrm>
          <a:prstGeom prst="roundRect">
            <a:avLst>
              <a:gd name="adj" fmla="val 21429"/>
            </a:avLst>
          </a:prstGeom>
          <a:solidFill>
            <a:srgbClr val="0A7E8C"/>
          </a:solidFill>
          <a:ln w="12700">
            <a:solidFill>
              <a:srgbClr val="0A7E8C"/>
            </a:solidFill>
            <a:prstDash val="solid"/>
          </a:ln>
        </p:spPr>
      </p:sp>
      <p:sp>
        <p:nvSpPr>
          <p:cNvPr id="8" name="Text 6"/>
          <p:cNvSpPr/>
          <p:nvPr/>
        </p:nvSpPr>
        <p:spPr>
          <a:xfrm>
            <a:off x="1097280" y="658368"/>
            <a:ext cx="1234440" cy="256032"/>
          </a:xfrm>
          <a:prstGeom prst="rect">
            <a:avLst/>
          </a:prstGeom>
          <a:noFill/>
          <a:ln/>
        </p:spPr>
        <p:txBody>
          <a:bodyPr wrap="square" lIns="0" tIns="0" rIns="0" bIns="0" rtlCol="0" anchor="ctr"/>
          <a:lstStyle/>
          <a:p>
            <a:pPr algn="ctr" indent="0" marL="0">
              <a:buNone/>
            </a:pPr>
            <a:r>
              <a:rPr lang="en-US" sz="850" b="1" dirty="0">
                <a:solidFill>
                  <a:srgbClr val="FFFFFF"/>
                </a:solidFill>
              </a:rPr>
              <a:t>Open Source (Apache 2.0)</a:t>
            </a:r>
            <a:endParaRPr lang="en-US" sz="850" dirty="0"/>
          </a:p>
        </p:txBody>
      </p:sp>
      <p:sp>
        <p:nvSpPr>
          <p:cNvPr id="9" name="Shape 7"/>
          <p:cNvSpPr/>
          <p:nvPr/>
        </p:nvSpPr>
        <p:spPr>
          <a:xfrm>
            <a:off x="2423160" y="658368"/>
            <a:ext cx="1920240" cy="256032"/>
          </a:xfrm>
          <a:prstGeom prst="roundRect">
            <a:avLst>
              <a:gd name="adj" fmla="val 21429"/>
            </a:avLst>
          </a:prstGeom>
          <a:solidFill>
            <a:srgbClr val="1A3A4A"/>
          </a:solidFill>
          <a:ln w="12700">
            <a:solidFill>
              <a:srgbClr val="1A3A4A"/>
            </a:solidFill>
            <a:prstDash val="solid"/>
          </a:ln>
        </p:spPr>
      </p:sp>
      <p:sp>
        <p:nvSpPr>
          <p:cNvPr id="10" name="Text 8"/>
          <p:cNvSpPr/>
          <p:nvPr/>
        </p:nvSpPr>
        <p:spPr>
          <a:xfrm>
            <a:off x="2423160" y="658368"/>
            <a:ext cx="1920240" cy="256032"/>
          </a:xfrm>
          <a:prstGeom prst="rect">
            <a:avLst/>
          </a:prstGeom>
          <a:noFill/>
          <a:ln/>
        </p:spPr>
        <p:txBody>
          <a:bodyPr wrap="square" lIns="0" tIns="0" rIns="0" bIns="0" rtlCol="0" anchor="ctr"/>
          <a:lstStyle/>
          <a:p>
            <a:pPr algn="ctr" indent="0" marL="0">
              <a:buNone/>
            </a:pPr>
            <a:r>
              <a:rPr lang="en-US" sz="850" b="1" dirty="0">
                <a:solidFill>
                  <a:srgbClr val="A8C8D4"/>
                </a:solidFill>
              </a:rPr>
              <a:t>Éditeur: Evidently AI Inc.</a:t>
            </a:r>
            <a:endParaRPr lang="en-US" sz="850" dirty="0"/>
          </a:p>
        </p:txBody>
      </p:sp>
      <p:sp>
        <p:nvSpPr>
          <p:cNvPr id="11" name="Shape 9"/>
          <p:cNvSpPr/>
          <p:nvPr/>
        </p:nvSpPr>
        <p:spPr>
          <a:xfrm>
            <a:off x="6858000" y="201168"/>
            <a:ext cx="2057400" cy="640080"/>
          </a:xfrm>
          <a:prstGeom prst="roundRect">
            <a:avLst>
              <a:gd name="adj" fmla="val 11429"/>
            </a:avLst>
          </a:prstGeom>
          <a:solidFill>
            <a:srgbClr val="1A8C4E">
              <a:alpha val="90000"/>
            </a:srgbClr>
          </a:solidFill>
          <a:ln w="12700">
            <a:solidFill>
              <a:srgbClr val="2ABD6E"/>
            </a:solidFill>
            <a:prstDash val="solid"/>
          </a:ln>
        </p:spPr>
      </p:sp>
      <p:sp>
        <p:nvSpPr>
          <p:cNvPr id="12" name="Text 10"/>
          <p:cNvSpPr/>
          <p:nvPr/>
        </p:nvSpPr>
        <p:spPr>
          <a:xfrm>
            <a:off x="6858000" y="201168"/>
            <a:ext cx="2057400" cy="640080"/>
          </a:xfrm>
          <a:prstGeom prst="rect">
            <a:avLst/>
          </a:prstGeom>
          <a:noFill/>
          <a:ln/>
        </p:spPr>
        <p:txBody>
          <a:bodyPr wrap="square" lIns="50800" tIns="50800" rIns="50800" bIns="50800" rtlCol="0" anchor="ctr"/>
          <a:lstStyle/>
          <a:p>
            <a:pPr algn="ctr" indent="0" marL="0">
              <a:buNone/>
            </a:pPr>
            <a:r>
              <a:rPr lang="en-US" sz="750" dirty="0">
                <a:solidFill>
                  <a:srgbClr val="FFFFFF"/>
                </a:solidFill>
              </a:rPr>
              <a:t>✓ Cloud Agnostic</a:t>
            </a:r>
            <a:endParaRPr lang="en-US" sz="750" dirty="0"/>
          </a:p>
          <a:p>
            <a:pPr algn="ctr" indent="0" marL="0">
              <a:buNone/>
            </a:pPr>
            <a:r>
              <a:rPr lang="en-US" sz="750" dirty="0">
                <a:solidFill>
                  <a:srgbClr val="FFFFFF"/>
                </a:solidFill>
              </a:rPr>
              <a:t>✓ K8s Native</a:t>
            </a:r>
            <a:endParaRPr lang="en-US" sz="750" dirty="0"/>
          </a:p>
          <a:p>
            <a:pPr algn="ctr" indent="0" marL="0">
              <a:buNone/>
            </a:pPr>
            <a:r>
              <a:rPr lang="en-US" sz="750" dirty="0">
                <a:solidFill>
                  <a:srgbClr val="FFFFFF"/>
                </a:solidFill>
              </a:rPr>
              <a:t>✓ S3NS Compatible</a:t>
            </a:r>
            <a:endParaRPr lang="en-US" sz="750" dirty="0"/>
          </a:p>
        </p:txBody>
      </p:sp>
      <p:sp>
        <p:nvSpPr>
          <p:cNvPr id="13" name="Shape 11"/>
          <p:cNvSpPr/>
          <p:nvPr/>
        </p:nvSpPr>
        <p:spPr>
          <a:xfrm>
            <a:off x="109728" y="1170432"/>
            <a:ext cx="2743200" cy="1170432"/>
          </a:xfrm>
          <a:prstGeom prst="roundRect">
            <a:avLst>
              <a:gd name="adj" fmla="val 7813"/>
            </a:avLst>
          </a:prstGeom>
          <a:solidFill>
            <a:srgbClr val="F9FCFD"/>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14" name="Shape 12"/>
          <p:cNvSpPr/>
          <p:nvPr/>
        </p:nvSpPr>
        <p:spPr>
          <a:xfrm>
            <a:off x="109728" y="1170432"/>
            <a:ext cx="2743200" cy="246888"/>
          </a:xfrm>
          <a:prstGeom prst="roundRect">
            <a:avLst>
              <a:gd name="adj" fmla="val 22222"/>
            </a:avLst>
          </a:prstGeom>
          <a:solidFill>
            <a:srgbClr val="0A7E8C"/>
          </a:solidFill>
          <a:ln w="12700">
            <a:solidFill>
              <a:srgbClr val="0A7E8C"/>
            </a:solidFill>
            <a:prstDash val="solid"/>
          </a:ln>
        </p:spPr>
      </p:sp>
      <p:sp>
        <p:nvSpPr>
          <p:cNvPr id="15" name="Text 13"/>
          <p:cNvSpPr/>
          <p:nvPr/>
        </p:nvSpPr>
        <p:spPr>
          <a:xfrm>
            <a:off x="109728" y="1170432"/>
            <a:ext cx="2743200" cy="246888"/>
          </a:xfrm>
          <a:prstGeom prst="rect">
            <a:avLst/>
          </a:prstGeom>
          <a:noFill/>
          <a:ln/>
        </p:spPr>
        <p:txBody>
          <a:bodyPr wrap="square" lIns="0" tIns="0" rIns="0" bIns="0" rtlCol="0" anchor="ctr"/>
          <a:lstStyle/>
          <a:p>
            <a:pPr algn="ctr" indent="0" marL="0">
              <a:buNone/>
            </a:pPr>
            <a:r>
              <a:rPr lang="en-US" sz="800" b="1" dirty="0">
                <a:solidFill>
                  <a:srgbClr val="FFFFFF"/>
                </a:solidFill>
              </a:rPr>
              <a:t>FINALITÉ</a:t>
            </a:r>
            <a:endParaRPr lang="en-US" sz="800" dirty="0"/>
          </a:p>
        </p:txBody>
      </p:sp>
      <p:sp>
        <p:nvSpPr>
          <p:cNvPr id="16" name="Text 14"/>
          <p:cNvSpPr/>
          <p:nvPr/>
        </p:nvSpPr>
        <p:spPr>
          <a:xfrm>
            <a:off x="201168" y="1490472"/>
            <a:ext cx="2560320" cy="804672"/>
          </a:xfrm>
          <a:prstGeom prst="rect">
            <a:avLst/>
          </a:prstGeom>
          <a:noFill/>
          <a:ln/>
        </p:spPr>
        <p:txBody>
          <a:bodyPr wrap="square" lIns="0" tIns="0" rIns="0" bIns="0" rtlCol="0" anchor="t"/>
          <a:lstStyle/>
          <a:p>
            <a:pPr algn="l" indent="0" marL="0">
              <a:buNone/>
            </a:pPr>
            <a:r>
              <a:rPr lang="en-US" sz="850" dirty="0">
                <a:solidFill>
                  <a:srgbClr val="1A2B3C"/>
                </a:solidFill>
              </a:rPr>
              <a:t>Framework de monitoring ML pour la détection de data drift, model drift et dégradation des performances en production. Génère des rapports interactifs et des Test Suites pour la validation continue des modèles déployés.</a:t>
            </a:r>
            <a:endParaRPr lang="en-US" sz="850" dirty="0"/>
          </a:p>
        </p:txBody>
      </p:sp>
      <p:sp>
        <p:nvSpPr>
          <p:cNvPr id="17" name="Shape 15"/>
          <p:cNvSpPr/>
          <p:nvPr/>
        </p:nvSpPr>
        <p:spPr>
          <a:xfrm>
            <a:off x="2980944" y="1170432"/>
            <a:ext cx="3063240" cy="1170432"/>
          </a:xfrm>
          <a:prstGeom prst="roundRect">
            <a:avLst>
              <a:gd name="adj" fmla="val 7813"/>
            </a:avLst>
          </a:prstGeom>
          <a:solidFill>
            <a:srgbClr val="F9FCFD"/>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18" name="Shape 16"/>
          <p:cNvSpPr/>
          <p:nvPr/>
        </p:nvSpPr>
        <p:spPr>
          <a:xfrm>
            <a:off x="2980944" y="1170432"/>
            <a:ext cx="3063240" cy="246888"/>
          </a:xfrm>
          <a:prstGeom prst="roundRect">
            <a:avLst>
              <a:gd name="adj" fmla="val 22222"/>
            </a:avLst>
          </a:prstGeom>
          <a:solidFill>
            <a:srgbClr val="0A7E8C"/>
          </a:solidFill>
          <a:ln w="12700">
            <a:solidFill>
              <a:srgbClr val="0A7E8C"/>
            </a:solidFill>
            <a:prstDash val="solid"/>
          </a:ln>
        </p:spPr>
      </p:sp>
      <p:sp>
        <p:nvSpPr>
          <p:cNvPr id="19" name="Text 17"/>
          <p:cNvSpPr/>
          <p:nvPr/>
        </p:nvSpPr>
        <p:spPr>
          <a:xfrm>
            <a:off x="2980944" y="1170432"/>
            <a:ext cx="3063240" cy="246888"/>
          </a:xfrm>
          <a:prstGeom prst="rect">
            <a:avLst/>
          </a:prstGeom>
          <a:noFill/>
          <a:ln/>
        </p:spPr>
        <p:txBody>
          <a:bodyPr wrap="square" lIns="0" tIns="0" rIns="0" bIns="0" rtlCol="0" anchor="ctr"/>
          <a:lstStyle/>
          <a:p>
            <a:pPr algn="ctr" indent="0" marL="0">
              <a:buNone/>
            </a:pPr>
            <a:r>
              <a:rPr lang="en-US" sz="800" b="1" dirty="0">
                <a:solidFill>
                  <a:srgbClr val="FFFFFF"/>
                </a:solidFill>
              </a:rPr>
              <a:t>CAS D'USAGE MÉTIER</a:t>
            </a:r>
            <a:endParaRPr lang="en-US" sz="800" dirty="0"/>
          </a:p>
        </p:txBody>
      </p:sp>
      <p:sp>
        <p:nvSpPr>
          <p:cNvPr id="20" name="Text 18"/>
          <p:cNvSpPr/>
          <p:nvPr/>
        </p:nvSpPr>
        <p:spPr>
          <a:xfrm>
            <a:off x="3090672" y="1481328"/>
            <a:ext cx="2880360" cy="822960"/>
          </a:xfrm>
          <a:prstGeom prst="rect">
            <a:avLst/>
          </a:prstGeom>
          <a:noFill/>
          <a:ln/>
        </p:spPr>
        <p:txBody>
          <a:bodyPr wrap="square" lIns="0" tIns="0" rIns="0" bIns="0" rtlCol="0" anchor="t"/>
          <a:lstStyle/>
          <a:p>
            <a:pPr marL="342900" indent="-342900">
              <a:buSzPct val="100000"/>
              <a:buChar char="•"/>
            </a:pPr>
            <a:r>
              <a:rPr lang="en-US" sz="800" dirty="0">
                <a:solidFill>
                  <a:srgbClr val="1A2B3C"/>
                </a:solidFill>
              </a:rPr>
              <a:t>Détection de data drift (features &amp; target)</a:t>
            </a:r>
            <a:endParaRPr lang="en-US" sz="800" dirty="0"/>
          </a:p>
          <a:p>
            <a:pPr marL="342900" indent="-342900">
              <a:buSzPct val="100000"/>
              <a:buChar char="•"/>
            </a:pPr>
            <a:r>
              <a:rPr lang="en-US" sz="800" dirty="0">
                <a:solidFill>
                  <a:srgbClr val="1A2B3C"/>
                </a:solidFill>
              </a:rPr>
              <a:t>Monitoring des performances modèle (prod)</a:t>
            </a:r>
            <a:endParaRPr lang="en-US" sz="800" dirty="0"/>
          </a:p>
          <a:p>
            <a:pPr marL="342900" indent="-342900">
              <a:buSzPct val="100000"/>
              <a:buChar char="•"/>
            </a:pPr>
            <a:r>
              <a:rPr lang="en-US" sz="800" dirty="0">
                <a:solidFill>
                  <a:srgbClr val="1A2B3C"/>
                </a:solidFill>
              </a:rPr>
              <a:t>Génération de rapports qualité données</a:t>
            </a:r>
            <a:endParaRPr lang="en-US" sz="800" dirty="0"/>
          </a:p>
          <a:p>
            <a:pPr marL="342900" indent="-342900">
              <a:buSzPct val="100000"/>
              <a:buChar char="•"/>
            </a:pPr>
            <a:r>
              <a:rPr lang="en-US" sz="800" dirty="0">
                <a:solidFill>
                  <a:srgbClr val="1A2B3C"/>
                </a:solidFill>
              </a:rPr>
              <a:t>Déclenchement de retraining automatique</a:t>
            </a:r>
            <a:endParaRPr lang="en-US" sz="800" dirty="0"/>
          </a:p>
          <a:p>
            <a:pPr marL="342900" indent="-342900">
              <a:buSzPct val="100000"/>
              <a:buChar char="•"/>
            </a:pPr>
            <a:r>
              <a:rPr lang="en-US" sz="800" dirty="0">
                <a:solidFill>
                  <a:srgbClr val="1A2B3C"/>
                </a:solidFill>
              </a:rPr>
              <a:t>Validation pré-déploiement (Test Suites)</a:t>
            </a:r>
            <a:endParaRPr lang="en-US" sz="800" dirty="0"/>
          </a:p>
        </p:txBody>
      </p:sp>
      <p:sp>
        <p:nvSpPr>
          <p:cNvPr id="21" name="Shape 19"/>
          <p:cNvSpPr/>
          <p:nvPr/>
        </p:nvSpPr>
        <p:spPr>
          <a:xfrm>
            <a:off x="6172200" y="1170432"/>
            <a:ext cx="2862072" cy="1170432"/>
          </a:xfrm>
          <a:prstGeom prst="roundRect">
            <a:avLst>
              <a:gd name="adj" fmla="val 7813"/>
            </a:avLst>
          </a:prstGeom>
          <a:solidFill>
            <a:srgbClr val="F9FCFD"/>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22" name="Shape 20"/>
          <p:cNvSpPr/>
          <p:nvPr/>
        </p:nvSpPr>
        <p:spPr>
          <a:xfrm>
            <a:off x="6172200" y="1170432"/>
            <a:ext cx="2862072" cy="246888"/>
          </a:xfrm>
          <a:prstGeom prst="roundRect">
            <a:avLst>
              <a:gd name="adj" fmla="val 22222"/>
            </a:avLst>
          </a:prstGeom>
          <a:solidFill>
            <a:srgbClr val="0A7E8C"/>
          </a:solidFill>
          <a:ln w="12700">
            <a:solidFill>
              <a:srgbClr val="0A7E8C"/>
            </a:solidFill>
            <a:prstDash val="solid"/>
          </a:ln>
        </p:spPr>
      </p:sp>
      <p:sp>
        <p:nvSpPr>
          <p:cNvPr id="23" name="Text 21"/>
          <p:cNvSpPr/>
          <p:nvPr/>
        </p:nvSpPr>
        <p:spPr>
          <a:xfrm>
            <a:off x="6172200" y="1170432"/>
            <a:ext cx="2862072" cy="246888"/>
          </a:xfrm>
          <a:prstGeom prst="rect">
            <a:avLst/>
          </a:prstGeom>
          <a:noFill/>
          <a:ln/>
        </p:spPr>
        <p:txBody>
          <a:bodyPr wrap="square" lIns="0" tIns="0" rIns="0" bIns="0" rtlCol="0" anchor="ctr"/>
          <a:lstStyle/>
          <a:p>
            <a:pPr algn="ctr" indent="0" marL="0">
              <a:buNone/>
            </a:pPr>
            <a:r>
              <a:rPr lang="en-US" sz="800" b="1" dirty="0">
                <a:solidFill>
                  <a:srgbClr val="FFFFFF"/>
                </a:solidFill>
              </a:rPr>
              <a:t>IMPÉRATIFS D'UTILISATION</a:t>
            </a:r>
            <a:endParaRPr lang="en-US" sz="800" dirty="0"/>
          </a:p>
        </p:txBody>
      </p:sp>
      <p:sp>
        <p:nvSpPr>
          <p:cNvPr id="24" name="Text 22"/>
          <p:cNvSpPr/>
          <p:nvPr/>
        </p:nvSpPr>
        <p:spPr>
          <a:xfrm>
            <a:off x="6281928" y="1481328"/>
            <a:ext cx="2679192" cy="822960"/>
          </a:xfrm>
          <a:prstGeom prst="rect">
            <a:avLst/>
          </a:prstGeom>
          <a:noFill/>
          <a:ln/>
        </p:spPr>
        <p:txBody>
          <a:bodyPr wrap="square" lIns="0" tIns="0" rIns="0" bIns="0" rtlCol="0" anchor="t"/>
          <a:lstStyle/>
          <a:p>
            <a:pPr marL="342900" indent="-342900">
              <a:buSzPct val="100000"/>
              <a:buChar char="•"/>
            </a:pPr>
            <a:r>
              <a:rPr lang="en-US" sz="800" dirty="0">
                <a:solidFill>
                  <a:srgbClr val="1A2B3C"/>
                </a:solidFill>
              </a:rPr>
              <a:t>Données de référence (baseline) disponibles</a:t>
            </a:r>
            <a:endParaRPr lang="en-US" sz="800" dirty="0"/>
          </a:p>
          <a:p>
            <a:pPr marL="342900" indent="-342900">
              <a:buSzPct val="100000"/>
              <a:buChar char="•"/>
            </a:pPr>
            <a:r>
              <a:rPr lang="en-US" sz="800" dirty="0">
                <a:solidFill>
                  <a:srgbClr val="1A2B3C"/>
                </a:solidFill>
              </a:rPr>
              <a:t>Accès aux prédictions &amp; ground truth</a:t>
            </a:r>
            <a:endParaRPr lang="en-US" sz="800" dirty="0"/>
          </a:p>
          <a:p>
            <a:pPr marL="342900" indent="-342900">
              <a:buSzPct val="100000"/>
              <a:buChar char="•"/>
            </a:pPr>
            <a:r>
              <a:rPr lang="en-US" sz="800" dirty="0">
                <a:solidFill>
                  <a:srgbClr val="1A2B3C"/>
                </a:solidFill>
              </a:rPr>
              <a:t>Intégration dans le pipeline Airflow/K8s</a:t>
            </a:r>
            <a:endParaRPr lang="en-US" sz="800" dirty="0"/>
          </a:p>
          <a:p>
            <a:pPr marL="342900" indent="-342900">
              <a:buSzPct val="100000"/>
              <a:buChar char="•"/>
            </a:pPr>
            <a:r>
              <a:rPr lang="en-US" sz="800" dirty="0">
                <a:solidFill>
                  <a:srgbClr val="1A2B3C"/>
                </a:solidFill>
              </a:rPr>
              <a:t>Stockage résultats S3 ou PostgreSQL</a:t>
            </a:r>
            <a:endParaRPr lang="en-US" sz="800" dirty="0"/>
          </a:p>
        </p:txBody>
      </p:sp>
      <p:sp>
        <p:nvSpPr>
          <p:cNvPr id="25" name="Shape 23"/>
          <p:cNvSpPr/>
          <p:nvPr/>
        </p:nvSpPr>
        <p:spPr>
          <a:xfrm>
            <a:off x="109728" y="2450592"/>
            <a:ext cx="2743200" cy="1078992"/>
          </a:xfrm>
          <a:prstGeom prst="roundRect">
            <a:avLst>
              <a:gd name="adj" fmla="val 8475"/>
            </a:avLst>
          </a:prstGeom>
          <a:solidFill>
            <a:srgbClr val="E6F5ED"/>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26" name="Shape 24"/>
          <p:cNvSpPr/>
          <p:nvPr/>
        </p:nvSpPr>
        <p:spPr>
          <a:xfrm>
            <a:off x="109728" y="2450592"/>
            <a:ext cx="2743200" cy="246888"/>
          </a:xfrm>
          <a:prstGeom prst="roundRect">
            <a:avLst>
              <a:gd name="adj" fmla="val 22222"/>
            </a:avLst>
          </a:prstGeom>
          <a:solidFill>
            <a:srgbClr val="0A7E8C"/>
          </a:solidFill>
          <a:ln w="12700">
            <a:solidFill>
              <a:srgbClr val="0A7E8C"/>
            </a:solidFill>
            <a:prstDash val="solid"/>
          </a:ln>
        </p:spPr>
      </p:sp>
      <p:sp>
        <p:nvSpPr>
          <p:cNvPr id="27" name="Text 25"/>
          <p:cNvSpPr/>
          <p:nvPr/>
        </p:nvSpPr>
        <p:spPr>
          <a:xfrm>
            <a:off x="109728" y="2450592"/>
            <a:ext cx="2743200" cy="246888"/>
          </a:xfrm>
          <a:prstGeom prst="rect">
            <a:avLst/>
          </a:prstGeom>
          <a:noFill/>
          <a:ln/>
        </p:spPr>
        <p:txBody>
          <a:bodyPr wrap="square" lIns="0" tIns="0" rIns="0" bIns="0" rtlCol="0" anchor="ctr"/>
          <a:lstStyle/>
          <a:p>
            <a:pPr algn="ctr" indent="0" marL="0">
              <a:buNone/>
            </a:pPr>
            <a:r>
              <a:rPr lang="en-US" sz="800" b="1" dirty="0">
                <a:solidFill>
                  <a:srgbClr val="FFFFFF"/>
                </a:solidFill>
              </a:rPr>
              <a:t>SOLUTION EXISTANTE</a:t>
            </a:r>
            <a:endParaRPr lang="en-US" sz="800" dirty="0"/>
          </a:p>
        </p:txBody>
      </p:sp>
      <p:sp>
        <p:nvSpPr>
          <p:cNvPr id="28" name="Text 26"/>
          <p:cNvSpPr/>
          <p:nvPr/>
        </p:nvSpPr>
        <p:spPr>
          <a:xfrm>
            <a:off x="201168" y="2761488"/>
            <a:ext cx="2560320" cy="731520"/>
          </a:xfrm>
          <a:prstGeom prst="rect">
            <a:avLst/>
          </a:prstGeom>
          <a:noFill/>
          <a:ln/>
        </p:spPr>
        <p:txBody>
          <a:bodyPr wrap="square" lIns="0" tIns="0" rIns="0" bIns="0" rtlCol="0" anchor="t"/>
          <a:lstStyle/>
          <a:p>
            <a:pPr indent="0" marL="0">
              <a:buNone/>
            </a:pPr>
            <a:r>
              <a:rPr lang="en-US" sz="820" dirty="0">
                <a:solidFill>
                  <a:srgbClr val="1A2B3C"/>
                </a:solidFill>
              </a:rPr>
              <a:t>✓ Aucune solution équivalente en place — pas de doublon fonctionnel identifié.</a:t>
            </a:r>
            <a:endParaRPr lang="en-US" sz="820" dirty="0"/>
          </a:p>
        </p:txBody>
      </p:sp>
      <p:sp>
        <p:nvSpPr>
          <p:cNvPr id="29" name="Shape 27"/>
          <p:cNvSpPr/>
          <p:nvPr/>
        </p:nvSpPr>
        <p:spPr>
          <a:xfrm>
            <a:off x="2980944" y="2450592"/>
            <a:ext cx="3063240" cy="1078992"/>
          </a:xfrm>
          <a:prstGeom prst="roundRect">
            <a:avLst>
              <a:gd name="adj" fmla="val 8475"/>
            </a:avLst>
          </a:prstGeom>
          <a:solidFill>
            <a:srgbClr val="EBF5FF"/>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30" name="Shape 28"/>
          <p:cNvSpPr/>
          <p:nvPr/>
        </p:nvSpPr>
        <p:spPr>
          <a:xfrm>
            <a:off x="2980944" y="2450592"/>
            <a:ext cx="3063240" cy="246888"/>
          </a:xfrm>
          <a:prstGeom prst="roundRect">
            <a:avLst>
              <a:gd name="adj" fmla="val 22222"/>
            </a:avLst>
          </a:prstGeom>
          <a:solidFill>
            <a:srgbClr val="0A7E8C"/>
          </a:solidFill>
          <a:ln w="12700">
            <a:solidFill>
              <a:srgbClr val="0A7E8C"/>
            </a:solidFill>
            <a:prstDash val="solid"/>
          </a:ln>
        </p:spPr>
      </p:sp>
      <p:sp>
        <p:nvSpPr>
          <p:cNvPr id="31" name="Text 29"/>
          <p:cNvSpPr/>
          <p:nvPr/>
        </p:nvSpPr>
        <p:spPr>
          <a:xfrm>
            <a:off x="2980944" y="2450592"/>
            <a:ext cx="3063240" cy="246888"/>
          </a:xfrm>
          <a:prstGeom prst="rect">
            <a:avLst/>
          </a:prstGeom>
          <a:noFill/>
          <a:ln/>
        </p:spPr>
        <p:txBody>
          <a:bodyPr wrap="square" lIns="0" tIns="0" rIns="0" bIns="0" rtlCol="0" anchor="ctr"/>
          <a:lstStyle/>
          <a:p>
            <a:pPr algn="ctr" indent="0" marL="0">
              <a:buNone/>
            </a:pPr>
            <a:r>
              <a:rPr lang="en-US" sz="800" b="1" dirty="0">
                <a:solidFill>
                  <a:srgbClr val="FFFFFF"/>
                </a:solidFill>
              </a:rPr>
              <a:t>STRATÉGIE IA &amp; PORTABILITÉ</a:t>
            </a:r>
            <a:endParaRPr lang="en-US" sz="800" dirty="0"/>
          </a:p>
        </p:txBody>
      </p:sp>
      <p:sp>
        <p:nvSpPr>
          <p:cNvPr id="32" name="Text 30"/>
          <p:cNvSpPr/>
          <p:nvPr/>
        </p:nvSpPr>
        <p:spPr>
          <a:xfrm>
            <a:off x="3090672" y="2761488"/>
            <a:ext cx="2880360" cy="731520"/>
          </a:xfrm>
          <a:prstGeom prst="rect">
            <a:avLst/>
          </a:prstGeom>
          <a:noFill/>
          <a:ln/>
        </p:spPr>
        <p:txBody>
          <a:bodyPr wrap="square" lIns="0" tIns="0" rIns="0" bIns="0" rtlCol="0" anchor="t"/>
          <a:lstStyle/>
          <a:p>
            <a:pPr indent="0" marL="0">
              <a:buNone/>
            </a:pPr>
            <a:r>
              <a:rPr lang="en-US" sz="820" dirty="0">
                <a:solidFill>
                  <a:srgbClr val="1A2B3C"/>
                </a:solidFill>
              </a:rPr>
              <a:t>✓ Stratégie IA : boucle de feedback qualité continue. Portabilité : bibliothèque Python pure, aucune dépendance cloud. Déployable en mode batch (Airflow) ou service (K8s). Reports HTML exportables, métriques Prometheus.</a:t>
            </a:r>
            <a:endParaRPr lang="en-US" sz="820" dirty="0"/>
          </a:p>
        </p:txBody>
      </p:sp>
      <p:sp>
        <p:nvSpPr>
          <p:cNvPr id="33" name="Shape 31"/>
          <p:cNvSpPr/>
          <p:nvPr/>
        </p:nvSpPr>
        <p:spPr>
          <a:xfrm>
            <a:off x="6172200" y="2450592"/>
            <a:ext cx="2862072" cy="1078992"/>
          </a:xfrm>
          <a:prstGeom prst="roundRect">
            <a:avLst>
              <a:gd name="adj" fmla="val 8475"/>
            </a:avLst>
          </a:prstGeom>
          <a:solidFill>
            <a:srgbClr val="E6F5ED"/>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34" name="Shape 32"/>
          <p:cNvSpPr/>
          <p:nvPr/>
        </p:nvSpPr>
        <p:spPr>
          <a:xfrm>
            <a:off x="6172200" y="2450592"/>
            <a:ext cx="2862072" cy="246888"/>
          </a:xfrm>
          <a:prstGeom prst="roundRect">
            <a:avLst>
              <a:gd name="adj" fmla="val 22222"/>
            </a:avLst>
          </a:prstGeom>
          <a:solidFill>
            <a:srgbClr val="0A7E8C"/>
          </a:solidFill>
          <a:ln w="12700">
            <a:solidFill>
              <a:srgbClr val="0A7E8C"/>
            </a:solidFill>
            <a:prstDash val="solid"/>
          </a:ln>
        </p:spPr>
      </p:sp>
      <p:sp>
        <p:nvSpPr>
          <p:cNvPr id="35" name="Text 33"/>
          <p:cNvSpPr/>
          <p:nvPr/>
        </p:nvSpPr>
        <p:spPr>
          <a:xfrm>
            <a:off x="6172200" y="2450592"/>
            <a:ext cx="2862072" cy="246888"/>
          </a:xfrm>
          <a:prstGeom prst="rect">
            <a:avLst/>
          </a:prstGeom>
          <a:noFill/>
          <a:ln/>
        </p:spPr>
        <p:txBody>
          <a:bodyPr wrap="square" lIns="0" tIns="0" rIns="0" bIns="0" rtlCol="0" anchor="ctr"/>
          <a:lstStyle/>
          <a:p>
            <a:pPr algn="ctr" indent="0" marL="0">
              <a:buNone/>
            </a:pPr>
            <a:r>
              <a:rPr lang="en-US" sz="800" b="1" dirty="0">
                <a:solidFill>
                  <a:srgbClr val="FFFFFF"/>
                </a:solidFill>
              </a:rPr>
              <a:t>COMPATIBILITÉ S3NS / STANDARDS</a:t>
            </a:r>
            <a:endParaRPr lang="en-US" sz="800" dirty="0"/>
          </a:p>
        </p:txBody>
      </p:sp>
      <p:sp>
        <p:nvSpPr>
          <p:cNvPr id="36" name="Text 34"/>
          <p:cNvSpPr/>
          <p:nvPr/>
        </p:nvSpPr>
        <p:spPr>
          <a:xfrm>
            <a:off x="6281928" y="2761488"/>
            <a:ext cx="2679192" cy="731520"/>
          </a:xfrm>
          <a:prstGeom prst="rect">
            <a:avLst/>
          </a:prstGeom>
          <a:noFill/>
          <a:ln/>
        </p:spPr>
        <p:txBody>
          <a:bodyPr wrap="square" lIns="0" tIns="0" rIns="0" bIns="0" rtlCol="0" anchor="t"/>
          <a:lstStyle/>
          <a:p>
            <a:pPr indent="0" marL="0">
              <a:buNone/>
            </a:pPr>
            <a:r>
              <a:rPr lang="en-US" sz="820" dirty="0">
                <a:solidFill>
                  <a:srgbClr val="1A2B3C"/>
                </a:solidFill>
              </a:rPr>
              <a:t>✓ Bibliothèque Python : zéro dépendance cloud</a:t>
            </a:r>
            <a:endParaRPr lang="en-US" sz="820" dirty="0"/>
          </a:p>
          <a:p>
            <a:pPr indent="0" marL="0">
              <a:buNone/>
            </a:pPr>
            <a:r>
              <a:rPr lang="en-US" sz="820" dirty="0">
                <a:solidFill>
                  <a:srgbClr val="1A2B3C"/>
                </a:solidFill>
              </a:rPr>
              <a:t>✓ Export métriques Prometheus/Grafana</a:t>
            </a:r>
            <a:endParaRPr lang="en-US" sz="820" dirty="0"/>
          </a:p>
          <a:p>
            <a:pPr indent="0" marL="0">
              <a:buNone/>
            </a:pPr>
            <a:r>
              <a:rPr lang="en-US" sz="820" dirty="0">
                <a:solidFill>
                  <a:srgbClr val="1A2B3C"/>
                </a:solidFill>
              </a:rPr>
              <a:t>✓ Stockage rapports S3-compatible (S3NS)</a:t>
            </a:r>
            <a:endParaRPr lang="en-US" sz="820" dirty="0"/>
          </a:p>
          <a:p>
            <a:pPr indent="0" marL="0">
              <a:buNone/>
            </a:pPr>
            <a:r>
              <a:rPr lang="en-US" sz="820" dirty="0">
                <a:solidFill>
                  <a:srgbClr val="1A2B3C"/>
                </a:solidFill>
              </a:rPr>
              <a:t>✓ Docker/K8s pour Evidently UI</a:t>
            </a:r>
            <a:endParaRPr lang="en-US" sz="820" dirty="0"/>
          </a:p>
          <a:p>
            <a:pPr indent="0" marL="0">
              <a:buNone/>
            </a:pPr>
            <a:r>
              <a:rPr lang="en-US" sz="820" dirty="0">
                <a:solidFill>
                  <a:srgbClr val="1A2B3C"/>
                </a:solidFill>
              </a:rPr>
              <a:t>✓ API REST pour intégration CI/CD</a:t>
            </a:r>
            <a:endParaRPr lang="en-US" sz="820" dirty="0"/>
          </a:p>
        </p:txBody>
      </p:sp>
      <p:sp>
        <p:nvSpPr>
          <p:cNvPr id="37" name="Shape 35"/>
          <p:cNvSpPr/>
          <p:nvPr/>
        </p:nvSpPr>
        <p:spPr>
          <a:xfrm>
            <a:off x="109728" y="3639312"/>
            <a:ext cx="2743200" cy="1325880"/>
          </a:xfrm>
          <a:prstGeom prst="roundRect">
            <a:avLst>
              <a:gd name="adj" fmla="val 6897"/>
            </a:avLst>
          </a:prstGeom>
          <a:solidFill>
            <a:srgbClr val="F9FCFD"/>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38" name="Shape 36"/>
          <p:cNvSpPr/>
          <p:nvPr/>
        </p:nvSpPr>
        <p:spPr>
          <a:xfrm>
            <a:off x="109728" y="3639312"/>
            <a:ext cx="2743200" cy="246888"/>
          </a:xfrm>
          <a:prstGeom prst="roundRect">
            <a:avLst>
              <a:gd name="adj" fmla="val 22222"/>
            </a:avLst>
          </a:prstGeom>
          <a:solidFill>
            <a:srgbClr val="0A7E8C"/>
          </a:solidFill>
          <a:ln w="12700">
            <a:solidFill>
              <a:srgbClr val="0A7E8C"/>
            </a:solidFill>
            <a:prstDash val="solid"/>
          </a:ln>
        </p:spPr>
      </p:sp>
      <p:sp>
        <p:nvSpPr>
          <p:cNvPr id="39" name="Text 37"/>
          <p:cNvSpPr/>
          <p:nvPr/>
        </p:nvSpPr>
        <p:spPr>
          <a:xfrm>
            <a:off x="109728" y="3639312"/>
            <a:ext cx="2743200" cy="246888"/>
          </a:xfrm>
          <a:prstGeom prst="rect">
            <a:avLst/>
          </a:prstGeom>
          <a:noFill/>
          <a:ln/>
        </p:spPr>
        <p:txBody>
          <a:bodyPr wrap="square" lIns="0" tIns="0" rIns="0" bIns="0" rtlCol="0" anchor="ctr"/>
          <a:lstStyle/>
          <a:p>
            <a:pPr algn="ctr" indent="0" marL="0">
              <a:buNone/>
            </a:pPr>
            <a:r>
              <a:rPr lang="en-US" sz="800" b="1" dirty="0">
                <a:solidFill>
                  <a:srgbClr val="FFFFFF"/>
                </a:solidFill>
              </a:rPr>
              <a:t>PÉRENNITÉ &amp; ADOPTION MARCHÉ</a:t>
            </a:r>
            <a:endParaRPr lang="en-US" sz="800" dirty="0"/>
          </a:p>
        </p:txBody>
      </p:sp>
      <p:sp>
        <p:nvSpPr>
          <p:cNvPr id="40" name="Text 38"/>
          <p:cNvSpPr/>
          <p:nvPr/>
        </p:nvSpPr>
        <p:spPr>
          <a:xfrm>
            <a:off x="201168" y="3950208"/>
            <a:ext cx="2560320" cy="960120"/>
          </a:xfrm>
          <a:prstGeom prst="rect">
            <a:avLst/>
          </a:prstGeom>
          <a:noFill/>
          <a:ln/>
        </p:spPr>
        <p:txBody>
          <a:bodyPr wrap="square" lIns="0" tIns="0" rIns="0" bIns="0" rtlCol="0" anchor="t"/>
          <a:lstStyle/>
          <a:p>
            <a:pPr indent="0" marL="0">
              <a:buNone/>
            </a:pPr>
            <a:r>
              <a:rPr lang="en-US" sz="820" dirty="0">
                <a:solidFill>
                  <a:srgbClr val="1A2B3C"/>
                </a:solidFill>
              </a:rPr>
              <a:t>⭐ 5 500+ stars GitHub. Croissance rapide 2021-2025. Utilisé chez Booking, Raiffeisen, Finary. Financement seed $5M (2022). Roadmap active, releases fréquentes. Évolution vers Evidently Cloud (optionnel). Alternative mature à WhyLabs.</a:t>
            </a:r>
            <a:endParaRPr lang="en-US" sz="820" dirty="0"/>
          </a:p>
        </p:txBody>
      </p:sp>
      <p:sp>
        <p:nvSpPr>
          <p:cNvPr id="41" name="Shape 39"/>
          <p:cNvSpPr/>
          <p:nvPr/>
        </p:nvSpPr>
        <p:spPr>
          <a:xfrm>
            <a:off x="2980944" y="3639312"/>
            <a:ext cx="6053328" cy="1325880"/>
          </a:xfrm>
          <a:prstGeom prst="roundRect">
            <a:avLst>
              <a:gd name="adj" fmla="val 6897"/>
            </a:avLst>
          </a:prstGeom>
          <a:solidFill>
            <a:srgbClr val="F9FCFD"/>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42" name="Shape 40"/>
          <p:cNvSpPr/>
          <p:nvPr/>
        </p:nvSpPr>
        <p:spPr>
          <a:xfrm>
            <a:off x="2980944" y="3639312"/>
            <a:ext cx="6053328" cy="246888"/>
          </a:xfrm>
          <a:prstGeom prst="roundRect">
            <a:avLst>
              <a:gd name="adj" fmla="val 22222"/>
            </a:avLst>
          </a:prstGeom>
          <a:solidFill>
            <a:srgbClr val="0A7E8C"/>
          </a:solidFill>
          <a:ln w="12700">
            <a:solidFill>
              <a:srgbClr val="0A7E8C"/>
            </a:solidFill>
            <a:prstDash val="solid"/>
          </a:ln>
        </p:spPr>
      </p:sp>
      <p:sp>
        <p:nvSpPr>
          <p:cNvPr id="43" name="Text 41"/>
          <p:cNvSpPr/>
          <p:nvPr/>
        </p:nvSpPr>
        <p:spPr>
          <a:xfrm>
            <a:off x="2980944" y="3639312"/>
            <a:ext cx="6053328" cy="246888"/>
          </a:xfrm>
          <a:prstGeom prst="rect">
            <a:avLst/>
          </a:prstGeom>
          <a:noFill/>
          <a:ln/>
        </p:spPr>
        <p:txBody>
          <a:bodyPr wrap="square" lIns="0" tIns="0" rIns="0" bIns="0" rtlCol="0" anchor="ctr"/>
          <a:lstStyle/>
          <a:p>
            <a:pPr algn="ctr" indent="0" marL="0">
              <a:buNone/>
            </a:pPr>
            <a:r>
              <a:rPr lang="en-US" sz="800" b="1" dirty="0">
                <a:solidFill>
                  <a:srgbClr val="FFFFFF"/>
                </a:solidFill>
              </a:rPr>
              <a:t>CONDITIONS D'UTILISATION</a:t>
            </a:r>
            <a:endParaRPr lang="en-US" sz="800" dirty="0"/>
          </a:p>
        </p:txBody>
      </p:sp>
      <p:sp>
        <p:nvSpPr>
          <p:cNvPr id="44" name="Shape 42"/>
          <p:cNvSpPr/>
          <p:nvPr/>
        </p:nvSpPr>
        <p:spPr>
          <a:xfrm>
            <a:off x="3072384" y="3959352"/>
            <a:ext cx="1901952" cy="969264"/>
          </a:xfrm>
          <a:prstGeom prst="roundRect">
            <a:avLst>
              <a:gd name="adj" fmla="val 6604"/>
            </a:avLst>
          </a:prstGeom>
          <a:solidFill>
            <a:srgbClr val="EEF2FF"/>
          </a:solidFill>
          <a:ln w="12700">
            <a:solidFill>
              <a:srgbClr val="C7D2FE"/>
            </a:solidFill>
            <a:prstDash val="solid"/>
          </a:ln>
        </p:spPr>
      </p:sp>
      <p:sp>
        <p:nvSpPr>
          <p:cNvPr id="45" name="Text 43"/>
          <p:cNvSpPr/>
          <p:nvPr/>
        </p:nvSpPr>
        <p:spPr>
          <a:xfrm>
            <a:off x="3072384" y="3959352"/>
            <a:ext cx="1901952" cy="228600"/>
          </a:xfrm>
          <a:prstGeom prst="rect">
            <a:avLst/>
          </a:prstGeom>
          <a:noFill/>
          <a:ln/>
        </p:spPr>
        <p:txBody>
          <a:bodyPr wrap="square" lIns="0" tIns="0" rIns="0" bIns="0" rtlCol="0" anchor="ctr"/>
          <a:lstStyle/>
          <a:p>
            <a:pPr algn="ctr" indent="0" marL="0">
              <a:buNone/>
            </a:pPr>
            <a:r>
              <a:rPr lang="en-US" sz="750" b="1" dirty="0">
                <a:solidFill>
                  <a:srgbClr val="4338CA"/>
                </a:solidFill>
              </a:rPr>
              <a:t>COMPÉTENCES</a:t>
            </a:r>
            <a:endParaRPr lang="en-US" sz="750" dirty="0"/>
          </a:p>
        </p:txBody>
      </p:sp>
      <p:sp>
        <p:nvSpPr>
          <p:cNvPr id="46" name="Text 44"/>
          <p:cNvSpPr/>
          <p:nvPr/>
        </p:nvSpPr>
        <p:spPr>
          <a:xfrm>
            <a:off x="3145536" y="4187952"/>
            <a:ext cx="1755648" cy="713232"/>
          </a:xfrm>
          <a:prstGeom prst="rect">
            <a:avLst/>
          </a:prstGeom>
          <a:noFill/>
          <a:ln/>
        </p:spPr>
        <p:txBody>
          <a:bodyPr wrap="square" lIns="0" tIns="0" rIns="0" bIns="0" rtlCol="0" anchor="t"/>
          <a:lstStyle/>
          <a:p>
            <a:pPr indent="0" marL="0">
              <a:buNone/>
            </a:pPr>
            <a:r>
              <a:rPr lang="en-US" sz="800" dirty="0">
                <a:solidFill>
                  <a:srgbClr val="1A2B3C"/>
                </a:solidFill>
              </a:rPr>
              <a:t>Python confirmé, pandas/numpy, compréhension métriques statistiques (PSI, KS test, Wasserstein), notions Prometheus pour le monitoring.</a:t>
            </a:r>
            <a:endParaRPr lang="en-US" sz="800" dirty="0"/>
          </a:p>
        </p:txBody>
      </p:sp>
      <p:sp>
        <p:nvSpPr>
          <p:cNvPr id="47" name="Shape 45"/>
          <p:cNvSpPr/>
          <p:nvPr/>
        </p:nvSpPr>
        <p:spPr>
          <a:xfrm>
            <a:off x="5102352" y="3959352"/>
            <a:ext cx="1901952" cy="969264"/>
          </a:xfrm>
          <a:prstGeom prst="roundRect">
            <a:avLst>
              <a:gd name="adj" fmla="val 6604"/>
            </a:avLst>
          </a:prstGeom>
          <a:solidFill>
            <a:srgbClr val="FFF7ED"/>
          </a:solidFill>
          <a:ln w="12700">
            <a:solidFill>
              <a:srgbClr val="FED7AA"/>
            </a:solidFill>
            <a:prstDash val="solid"/>
          </a:ln>
        </p:spPr>
      </p:sp>
      <p:sp>
        <p:nvSpPr>
          <p:cNvPr id="48" name="Text 46"/>
          <p:cNvSpPr/>
          <p:nvPr/>
        </p:nvSpPr>
        <p:spPr>
          <a:xfrm>
            <a:off x="5102352" y="3959352"/>
            <a:ext cx="1901952" cy="228600"/>
          </a:xfrm>
          <a:prstGeom prst="rect">
            <a:avLst/>
          </a:prstGeom>
          <a:noFill/>
          <a:ln/>
        </p:spPr>
        <p:txBody>
          <a:bodyPr wrap="square" lIns="0" tIns="0" rIns="0" bIns="0" rtlCol="0" anchor="ctr"/>
          <a:lstStyle/>
          <a:p>
            <a:pPr algn="ctr" indent="0" marL="0">
              <a:buNone/>
            </a:pPr>
            <a:r>
              <a:rPr lang="en-US" sz="750" b="1" dirty="0">
                <a:solidFill>
                  <a:srgbClr val="C2410C"/>
                </a:solidFill>
              </a:rPr>
              <a:t>COÛTS BUILD / RUN</a:t>
            </a:r>
            <a:endParaRPr lang="en-US" sz="750" dirty="0"/>
          </a:p>
        </p:txBody>
      </p:sp>
      <p:sp>
        <p:nvSpPr>
          <p:cNvPr id="49" name="Text 47"/>
          <p:cNvSpPr/>
          <p:nvPr/>
        </p:nvSpPr>
        <p:spPr>
          <a:xfrm>
            <a:off x="5175504" y="4187952"/>
            <a:ext cx="1755648" cy="713232"/>
          </a:xfrm>
          <a:prstGeom prst="rect">
            <a:avLst/>
          </a:prstGeom>
          <a:noFill/>
          <a:ln/>
        </p:spPr>
        <p:txBody>
          <a:bodyPr wrap="square" lIns="0" tIns="0" rIns="0" bIns="0" rtlCol="0" anchor="t"/>
          <a:lstStyle/>
          <a:p>
            <a:pPr indent="0" marL="0">
              <a:buNone/>
            </a:pPr>
            <a:r>
              <a:rPr lang="en-US" sz="800" dirty="0">
                <a:solidFill>
                  <a:srgbClr val="1A2B3C"/>
                </a:solidFill>
              </a:rPr>
              <a:t>Build : 2-3j intégration pipeline + dashboards.</a:t>
            </a:r>
            <a:endParaRPr lang="en-US" sz="800" dirty="0"/>
          </a:p>
          <a:p>
            <a:pPr indent="0" marL="0">
              <a:buNone/>
            </a:pPr>
            <a:r>
              <a:rPr lang="en-US" sz="800" dirty="0">
                <a:solidFill>
                  <a:srgbClr val="1A2B3C"/>
                </a:solidFill>
              </a:rPr>
              <a:t>Run : coût compute batch (Airflow worker), stockage rapports S3 minimal. Licence : gratuit. Evidently Cloud payant si centralisé.</a:t>
            </a:r>
            <a:endParaRPr lang="en-US" sz="800" dirty="0"/>
          </a:p>
        </p:txBody>
      </p:sp>
      <p:sp>
        <p:nvSpPr>
          <p:cNvPr id="50" name="Shape 48"/>
          <p:cNvSpPr/>
          <p:nvPr/>
        </p:nvSpPr>
        <p:spPr>
          <a:xfrm>
            <a:off x="7132320" y="3959352"/>
            <a:ext cx="1810512" cy="969264"/>
          </a:xfrm>
          <a:prstGeom prst="roundRect">
            <a:avLst>
              <a:gd name="adj" fmla="val 6604"/>
            </a:avLst>
          </a:prstGeom>
          <a:solidFill>
            <a:srgbClr val="F0FDF4"/>
          </a:solidFill>
          <a:ln w="12700">
            <a:solidFill>
              <a:srgbClr val="86EFAC"/>
            </a:solidFill>
            <a:prstDash val="solid"/>
          </a:ln>
        </p:spPr>
      </p:sp>
      <p:sp>
        <p:nvSpPr>
          <p:cNvPr id="51" name="Text 49"/>
          <p:cNvSpPr/>
          <p:nvPr/>
        </p:nvSpPr>
        <p:spPr>
          <a:xfrm>
            <a:off x="7132320" y="3959352"/>
            <a:ext cx="1810512" cy="228600"/>
          </a:xfrm>
          <a:prstGeom prst="rect">
            <a:avLst/>
          </a:prstGeom>
          <a:noFill/>
          <a:ln/>
        </p:spPr>
        <p:txBody>
          <a:bodyPr wrap="square" lIns="0" tIns="0" rIns="0" bIns="0" rtlCol="0" anchor="ctr"/>
          <a:lstStyle/>
          <a:p>
            <a:pPr algn="ctr" indent="0" marL="0">
              <a:buNone/>
            </a:pPr>
            <a:r>
              <a:rPr lang="en-US" sz="750" b="1" dirty="0">
                <a:solidFill>
                  <a:srgbClr val="15803D"/>
                </a:solidFill>
              </a:rPr>
              <a:t>INTÉGRATION SI</a:t>
            </a:r>
            <a:endParaRPr lang="en-US" sz="750" dirty="0"/>
          </a:p>
        </p:txBody>
      </p:sp>
      <p:sp>
        <p:nvSpPr>
          <p:cNvPr id="52" name="Text 50"/>
          <p:cNvSpPr/>
          <p:nvPr/>
        </p:nvSpPr>
        <p:spPr>
          <a:xfrm>
            <a:off x="7205472" y="4187952"/>
            <a:ext cx="1664208" cy="713232"/>
          </a:xfrm>
          <a:prstGeom prst="rect">
            <a:avLst/>
          </a:prstGeom>
          <a:noFill/>
          <a:ln/>
        </p:spPr>
        <p:txBody>
          <a:bodyPr wrap="square" lIns="0" tIns="0" rIns="0" bIns="0" rtlCol="0" anchor="t"/>
          <a:lstStyle/>
          <a:p>
            <a:pPr indent="0" marL="0">
              <a:buNone/>
            </a:pPr>
            <a:r>
              <a:rPr lang="en-US" sz="800" dirty="0">
                <a:solidFill>
                  <a:srgbClr val="1A2B3C"/>
                </a:solidFill>
              </a:rPr>
              <a:t>SDK Python dans les DAGs Airflow, callback MLflow pour log métriques drift, export Prometheus → Grafana, trigger retraining via Airflow sensor.</a:t>
            </a:r>
            <a:endParaRPr lang="en-US" sz="800" dirty="0"/>
          </a:p>
        </p:txBody>
      </p:sp>
      <p:sp>
        <p:nvSpPr>
          <p:cNvPr id="53" name="Text 51"/>
          <p:cNvSpPr/>
          <p:nvPr/>
        </p:nvSpPr>
        <p:spPr>
          <a:xfrm>
            <a:off x="109728" y="4956048"/>
            <a:ext cx="8924544" cy="182880"/>
          </a:xfrm>
          <a:prstGeom prst="rect">
            <a:avLst/>
          </a:prstGeom>
          <a:noFill/>
          <a:ln/>
        </p:spPr>
        <p:txBody>
          <a:bodyPr wrap="square" lIns="0" tIns="0" rIns="0" bIns="0" rtlCol="0" anchor="ctr"/>
          <a:lstStyle/>
          <a:p>
            <a:pPr algn="r" indent="0" marL="0">
              <a:buNone/>
            </a:pPr>
            <a:r>
              <a:rPr lang="en-US" sz="700" dirty="0">
                <a:solidFill>
                  <a:srgbClr val="90A8B0"/>
                </a:solidFill>
              </a:rPr>
              <a:t>Evidently AI  —  Fiche Technologique MLOps  |  Premi3ns</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1B2A"/>
          </a:solidFill>
          <a:ln w="12700">
            <a:solidFill>
              <a:srgbClr val="0D1B2A"/>
            </a:solidFill>
            <a:prstDash val="solid"/>
          </a:ln>
        </p:spPr>
      </p:sp>
      <p:sp>
        <p:nvSpPr>
          <p:cNvPr id="3" name="Shape 1"/>
          <p:cNvSpPr/>
          <p:nvPr/>
        </p:nvSpPr>
        <p:spPr>
          <a:xfrm>
            <a:off x="0" y="0"/>
            <a:ext cx="9144000" cy="54864"/>
          </a:xfrm>
          <a:prstGeom prst="rect">
            <a:avLst/>
          </a:prstGeom>
          <a:solidFill>
            <a:srgbClr val="0A7E8C"/>
          </a:solidFill>
          <a:ln w="12700">
            <a:solidFill>
              <a:srgbClr val="0A7E8C"/>
            </a:solidFill>
            <a:prstDash val="solid"/>
          </a:ln>
        </p:spPr>
      </p:sp>
      <p:sp>
        <p:nvSpPr>
          <p:cNvPr id="4" name="Shape 2"/>
          <p:cNvSpPr/>
          <p:nvPr/>
        </p:nvSpPr>
        <p:spPr>
          <a:xfrm>
            <a:off x="228600" y="164592"/>
            <a:ext cx="713232" cy="713232"/>
          </a:xfrm>
          <a:prstGeom prst="ellipse">
            <a:avLst/>
          </a:prstGeom>
          <a:solidFill>
            <a:srgbClr val="0A7E8C"/>
          </a:solidFill>
          <a:ln w="25400">
            <a:solidFill>
              <a:srgbClr val="0D9AA8"/>
            </a:solidFill>
            <a:prstDash val="solid"/>
          </a:ln>
        </p:spPr>
      </p:sp>
      <p:sp>
        <p:nvSpPr>
          <p:cNvPr id="5" name="Text 3"/>
          <p:cNvSpPr/>
          <p:nvPr/>
        </p:nvSpPr>
        <p:spPr>
          <a:xfrm>
            <a:off x="228600" y="164592"/>
            <a:ext cx="713232" cy="713232"/>
          </a:xfrm>
          <a:prstGeom prst="rect">
            <a:avLst/>
          </a:prstGeom>
          <a:noFill/>
          <a:ln/>
        </p:spPr>
        <p:txBody>
          <a:bodyPr wrap="square" lIns="0" tIns="0" rIns="0" bIns="0" rtlCol="0" anchor="ctr"/>
          <a:lstStyle/>
          <a:p>
            <a:pPr algn="ctr" indent="0" marL="0">
              <a:buNone/>
            </a:pPr>
            <a:r>
              <a:rPr lang="en-US" sz="1100" b="1" dirty="0">
                <a:solidFill>
                  <a:srgbClr val="FFFFFF"/>
                </a:solidFill>
              </a:rPr>
              <a:t>KS</a:t>
            </a:r>
            <a:endParaRPr lang="en-US" sz="1100" dirty="0"/>
          </a:p>
        </p:txBody>
      </p:sp>
      <p:sp>
        <p:nvSpPr>
          <p:cNvPr id="6" name="Text 4"/>
          <p:cNvSpPr/>
          <p:nvPr/>
        </p:nvSpPr>
        <p:spPr>
          <a:xfrm>
            <a:off x="1097280" y="128016"/>
            <a:ext cx="5029200" cy="502920"/>
          </a:xfrm>
          <a:prstGeom prst="rect">
            <a:avLst/>
          </a:prstGeom>
          <a:noFill/>
          <a:ln/>
        </p:spPr>
        <p:txBody>
          <a:bodyPr wrap="square" lIns="0" tIns="0" rIns="0" bIns="0" rtlCol="0" anchor="ctr"/>
          <a:lstStyle/>
          <a:p>
            <a:pPr algn="l" indent="0" marL="0">
              <a:buNone/>
            </a:pPr>
            <a:r>
              <a:rPr lang="en-US" sz="2600" b="1" dirty="0">
                <a:solidFill>
                  <a:srgbClr val="FFFFFF"/>
                </a:solidFill>
              </a:rPr>
              <a:t>KServe</a:t>
            </a:r>
            <a:endParaRPr lang="en-US" sz="2600" dirty="0"/>
          </a:p>
        </p:txBody>
      </p:sp>
      <p:sp>
        <p:nvSpPr>
          <p:cNvPr id="7" name="Shape 5"/>
          <p:cNvSpPr/>
          <p:nvPr/>
        </p:nvSpPr>
        <p:spPr>
          <a:xfrm>
            <a:off x="1097280" y="658368"/>
            <a:ext cx="1234440" cy="256032"/>
          </a:xfrm>
          <a:prstGeom prst="roundRect">
            <a:avLst>
              <a:gd name="adj" fmla="val 21429"/>
            </a:avLst>
          </a:prstGeom>
          <a:solidFill>
            <a:srgbClr val="0A7E8C"/>
          </a:solidFill>
          <a:ln w="12700">
            <a:solidFill>
              <a:srgbClr val="0A7E8C"/>
            </a:solidFill>
            <a:prstDash val="solid"/>
          </a:ln>
        </p:spPr>
      </p:sp>
      <p:sp>
        <p:nvSpPr>
          <p:cNvPr id="8" name="Text 6"/>
          <p:cNvSpPr/>
          <p:nvPr/>
        </p:nvSpPr>
        <p:spPr>
          <a:xfrm>
            <a:off x="1097280" y="658368"/>
            <a:ext cx="1234440" cy="256032"/>
          </a:xfrm>
          <a:prstGeom prst="rect">
            <a:avLst/>
          </a:prstGeom>
          <a:noFill/>
          <a:ln/>
        </p:spPr>
        <p:txBody>
          <a:bodyPr wrap="square" lIns="0" tIns="0" rIns="0" bIns="0" rtlCol="0" anchor="ctr"/>
          <a:lstStyle/>
          <a:p>
            <a:pPr algn="ctr" indent="0" marL="0">
              <a:buNone/>
            </a:pPr>
            <a:r>
              <a:rPr lang="en-US" sz="850" b="1" dirty="0">
                <a:solidFill>
                  <a:srgbClr val="FFFFFF"/>
                </a:solidFill>
              </a:rPr>
              <a:t>Open Source (Apache 2.0)</a:t>
            </a:r>
            <a:endParaRPr lang="en-US" sz="850" dirty="0"/>
          </a:p>
        </p:txBody>
      </p:sp>
      <p:sp>
        <p:nvSpPr>
          <p:cNvPr id="9" name="Shape 7"/>
          <p:cNvSpPr/>
          <p:nvPr/>
        </p:nvSpPr>
        <p:spPr>
          <a:xfrm>
            <a:off x="2423160" y="658368"/>
            <a:ext cx="1920240" cy="256032"/>
          </a:xfrm>
          <a:prstGeom prst="roundRect">
            <a:avLst>
              <a:gd name="adj" fmla="val 21429"/>
            </a:avLst>
          </a:prstGeom>
          <a:solidFill>
            <a:srgbClr val="1A3A4A"/>
          </a:solidFill>
          <a:ln w="12700">
            <a:solidFill>
              <a:srgbClr val="1A3A4A"/>
            </a:solidFill>
            <a:prstDash val="solid"/>
          </a:ln>
        </p:spPr>
      </p:sp>
      <p:sp>
        <p:nvSpPr>
          <p:cNvPr id="10" name="Text 8"/>
          <p:cNvSpPr/>
          <p:nvPr/>
        </p:nvSpPr>
        <p:spPr>
          <a:xfrm>
            <a:off x="2423160" y="658368"/>
            <a:ext cx="1920240" cy="256032"/>
          </a:xfrm>
          <a:prstGeom prst="rect">
            <a:avLst/>
          </a:prstGeom>
          <a:noFill/>
          <a:ln/>
        </p:spPr>
        <p:txBody>
          <a:bodyPr wrap="square" lIns="0" tIns="0" rIns="0" bIns="0" rtlCol="0" anchor="ctr"/>
          <a:lstStyle/>
          <a:p>
            <a:pPr algn="ctr" indent="0" marL="0">
              <a:buNone/>
            </a:pPr>
            <a:r>
              <a:rPr lang="en-US" sz="850" b="1" dirty="0">
                <a:solidFill>
                  <a:srgbClr val="A8C8D4"/>
                </a:solidFill>
              </a:rPr>
              <a:t>Éditeur: CNCF (ex-KFServing) — Kubeflow</a:t>
            </a:r>
            <a:endParaRPr lang="en-US" sz="850" dirty="0"/>
          </a:p>
        </p:txBody>
      </p:sp>
      <p:sp>
        <p:nvSpPr>
          <p:cNvPr id="11" name="Shape 9"/>
          <p:cNvSpPr/>
          <p:nvPr/>
        </p:nvSpPr>
        <p:spPr>
          <a:xfrm>
            <a:off x="6858000" y="201168"/>
            <a:ext cx="2057400" cy="640080"/>
          </a:xfrm>
          <a:prstGeom prst="roundRect">
            <a:avLst>
              <a:gd name="adj" fmla="val 11429"/>
            </a:avLst>
          </a:prstGeom>
          <a:solidFill>
            <a:srgbClr val="1A8C4E">
              <a:alpha val="90000"/>
            </a:srgbClr>
          </a:solidFill>
          <a:ln w="12700">
            <a:solidFill>
              <a:srgbClr val="2ABD6E"/>
            </a:solidFill>
            <a:prstDash val="solid"/>
          </a:ln>
        </p:spPr>
      </p:sp>
      <p:sp>
        <p:nvSpPr>
          <p:cNvPr id="12" name="Text 10"/>
          <p:cNvSpPr/>
          <p:nvPr/>
        </p:nvSpPr>
        <p:spPr>
          <a:xfrm>
            <a:off x="6858000" y="201168"/>
            <a:ext cx="2057400" cy="640080"/>
          </a:xfrm>
          <a:prstGeom prst="rect">
            <a:avLst/>
          </a:prstGeom>
          <a:noFill/>
          <a:ln/>
        </p:spPr>
        <p:txBody>
          <a:bodyPr wrap="square" lIns="50800" tIns="50800" rIns="50800" bIns="50800" rtlCol="0" anchor="ctr"/>
          <a:lstStyle/>
          <a:p>
            <a:pPr algn="ctr" indent="0" marL="0">
              <a:buNone/>
            </a:pPr>
            <a:r>
              <a:rPr lang="en-US" sz="750" dirty="0">
                <a:solidFill>
                  <a:srgbClr val="FFFFFF"/>
                </a:solidFill>
              </a:rPr>
              <a:t>✓ Cloud Agnostic</a:t>
            </a:r>
            <a:endParaRPr lang="en-US" sz="750" dirty="0"/>
          </a:p>
          <a:p>
            <a:pPr algn="ctr" indent="0" marL="0">
              <a:buNone/>
            </a:pPr>
            <a:r>
              <a:rPr lang="en-US" sz="750" dirty="0">
                <a:solidFill>
                  <a:srgbClr val="FFFFFF"/>
                </a:solidFill>
              </a:rPr>
              <a:t>✓ K8s Native</a:t>
            </a:r>
            <a:endParaRPr lang="en-US" sz="750" dirty="0"/>
          </a:p>
          <a:p>
            <a:pPr algn="ctr" indent="0" marL="0">
              <a:buNone/>
            </a:pPr>
            <a:r>
              <a:rPr lang="en-US" sz="750" dirty="0">
                <a:solidFill>
                  <a:srgbClr val="FFFFFF"/>
                </a:solidFill>
              </a:rPr>
              <a:t>✓ S3NS Compatible</a:t>
            </a:r>
            <a:endParaRPr lang="en-US" sz="750" dirty="0"/>
          </a:p>
        </p:txBody>
      </p:sp>
      <p:sp>
        <p:nvSpPr>
          <p:cNvPr id="13" name="Shape 11"/>
          <p:cNvSpPr/>
          <p:nvPr/>
        </p:nvSpPr>
        <p:spPr>
          <a:xfrm>
            <a:off x="109728" y="1170432"/>
            <a:ext cx="2743200" cy="1170432"/>
          </a:xfrm>
          <a:prstGeom prst="roundRect">
            <a:avLst>
              <a:gd name="adj" fmla="val 7813"/>
            </a:avLst>
          </a:prstGeom>
          <a:solidFill>
            <a:srgbClr val="F9FCFD"/>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14" name="Shape 12"/>
          <p:cNvSpPr/>
          <p:nvPr/>
        </p:nvSpPr>
        <p:spPr>
          <a:xfrm>
            <a:off x="109728" y="1170432"/>
            <a:ext cx="2743200" cy="246888"/>
          </a:xfrm>
          <a:prstGeom prst="roundRect">
            <a:avLst>
              <a:gd name="adj" fmla="val 22222"/>
            </a:avLst>
          </a:prstGeom>
          <a:solidFill>
            <a:srgbClr val="0A7E8C"/>
          </a:solidFill>
          <a:ln w="12700">
            <a:solidFill>
              <a:srgbClr val="0A7E8C"/>
            </a:solidFill>
            <a:prstDash val="solid"/>
          </a:ln>
        </p:spPr>
      </p:sp>
      <p:sp>
        <p:nvSpPr>
          <p:cNvPr id="15" name="Text 13"/>
          <p:cNvSpPr/>
          <p:nvPr/>
        </p:nvSpPr>
        <p:spPr>
          <a:xfrm>
            <a:off x="109728" y="1170432"/>
            <a:ext cx="2743200" cy="246888"/>
          </a:xfrm>
          <a:prstGeom prst="rect">
            <a:avLst/>
          </a:prstGeom>
          <a:noFill/>
          <a:ln/>
        </p:spPr>
        <p:txBody>
          <a:bodyPr wrap="square" lIns="0" tIns="0" rIns="0" bIns="0" rtlCol="0" anchor="ctr"/>
          <a:lstStyle/>
          <a:p>
            <a:pPr algn="ctr" indent="0" marL="0">
              <a:buNone/>
            </a:pPr>
            <a:r>
              <a:rPr lang="en-US" sz="800" b="1" dirty="0">
                <a:solidFill>
                  <a:srgbClr val="FFFFFF"/>
                </a:solidFill>
              </a:rPr>
              <a:t>FINALITÉ</a:t>
            </a:r>
            <a:endParaRPr lang="en-US" sz="800" dirty="0"/>
          </a:p>
        </p:txBody>
      </p:sp>
      <p:sp>
        <p:nvSpPr>
          <p:cNvPr id="16" name="Text 14"/>
          <p:cNvSpPr/>
          <p:nvPr/>
        </p:nvSpPr>
        <p:spPr>
          <a:xfrm>
            <a:off x="201168" y="1490472"/>
            <a:ext cx="2560320" cy="804672"/>
          </a:xfrm>
          <a:prstGeom prst="rect">
            <a:avLst/>
          </a:prstGeom>
          <a:noFill/>
          <a:ln/>
        </p:spPr>
        <p:txBody>
          <a:bodyPr wrap="square" lIns="0" tIns="0" rIns="0" bIns="0" rtlCol="0" anchor="t"/>
          <a:lstStyle/>
          <a:p>
            <a:pPr algn="l" indent="0" marL="0">
              <a:buNone/>
            </a:pPr>
            <a:r>
              <a:rPr lang="en-US" sz="850" dirty="0">
                <a:solidFill>
                  <a:srgbClr val="1A2B3C"/>
                </a:solidFill>
              </a:rPr>
              <a:t>Plateforme de serving de modèles ML sur Kubernetes. Fournit un framework standardisé pour déployer, autoscaler et monitorer des modèles en inférence (REST/gRPC). Supporte multi-frameworks et canary deployments.</a:t>
            </a:r>
            <a:endParaRPr lang="en-US" sz="850" dirty="0"/>
          </a:p>
        </p:txBody>
      </p:sp>
      <p:sp>
        <p:nvSpPr>
          <p:cNvPr id="17" name="Shape 15"/>
          <p:cNvSpPr/>
          <p:nvPr/>
        </p:nvSpPr>
        <p:spPr>
          <a:xfrm>
            <a:off x="2980944" y="1170432"/>
            <a:ext cx="3063240" cy="1170432"/>
          </a:xfrm>
          <a:prstGeom prst="roundRect">
            <a:avLst>
              <a:gd name="adj" fmla="val 7813"/>
            </a:avLst>
          </a:prstGeom>
          <a:solidFill>
            <a:srgbClr val="F9FCFD"/>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18" name="Shape 16"/>
          <p:cNvSpPr/>
          <p:nvPr/>
        </p:nvSpPr>
        <p:spPr>
          <a:xfrm>
            <a:off x="2980944" y="1170432"/>
            <a:ext cx="3063240" cy="246888"/>
          </a:xfrm>
          <a:prstGeom prst="roundRect">
            <a:avLst>
              <a:gd name="adj" fmla="val 22222"/>
            </a:avLst>
          </a:prstGeom>
          <a:solidFill>
            <a:srgbClr val="0A7E8C"/>
          </a:solidFill>
          <a:ln w="12700">
            <a:solidFill>
              <a:srgbClr val="0A7E8C"/>
            </a:solidFill>
            <a:prstDash val="solid"/>
          </a:ln>
        </p:spPr>
      </p:sp>
      <p:sp>
        <p:nvSpPr>
          <p:cNvPr id="19" name="Text 17"/>
          <p:cNvSpPr/>
          <p:nvPr/>
        </p:nvSpPr>
        <p:spPr>
          <a:xfrm>
            <a:off x="2980944" y="1170432"/>
            <a:ext cx="3063240" cy="246888"/>
          </a:xfrm>
          <a:prstGeom prst="rect">
            <a:avLst/>
          </a:prstGeom>
          <a:noFill/>
          <a:ln/>
        </p:spPr>
        <p:txBody>
          <a:bodyPr wrap="square" lIns="0" tIns="0" rIns="0" bIns="0" rtlCol="0" anchor="ctr"/>
          <a:lstStyle/>
          <a:p>
            <a:pPr algn="ctr" indent="0" marL="0">
              <a:buNone/>
            </a:pPr>
            <a:r>
              <a:rPr lang="en-US" sz="800" b="1" dirty="0">
                <a:solidFill>
                  <a:srgbClr val="FFFFFF"/>
                </a:solidFill>
              </a:rPr>
              <a:t>CAS D'USAGE MÉTIER</a:t>
            </a:r>
            <a:endParaRPr lang="en-US" sz="800" dirty="0"/>
          </a:p>
        </p:txBody>
      </p:sp>
      <p:sp>
        <p:nvSpPr>
          <p:cNvPr id="20" name="Text 18"/>
          <p:cNvSpPr/>
          <p:nvPr/>
        </p:nvSpPr>
        <p:spPr>
          <a:xfrm>
            <a:off x="3090672" y="1481328"/>
            <a:ext cx="2880360" cy="822960"/>
          </a:xfrm>
          <a:prstGeom prst="rect">
            <a:avLst/>
          </a:prstGeom>
          <a:noFill/>
          <a:ln/>
        </p:spPr>
        <p:txBody>
          <a:bodyPr wrap="square" lIns="0" tIns="0" rIns="0" bIns="0" rtlCol="0" anchor="t"/>
          <a:lstStyle/>
          <a:p>
            <a:pPr marL="342900" indent="-342900">
              <a:buSzPct val="100000"/>
              <a:buChar char="•"/>
            </a:pPr>
            <a:r>
              <a:rPr lang="en-US" sz="800" dirty="0">
                <a:solidFill>
                  <a:srgbClr val="1A2B3C"/>
                </a:solidFill>
              </a:rPr>
              <a:t>Serving REST/gRPC de modèles en production</a:t>
            </a:r>
            <a:endParaRPr lang="en-US" sz="800" dirty="0"/>
          </a:p>
          <a:p>
            <a:pPr marL="342900" indent="-342900">
              <a:buSzPct val="100000"/>
              <a:buChar char="•"/>
            </a:pPr>
            <a:r>
              <a:rPr lang="en-US" sz="800" dirty="0">
                <a:solidFill>
                  <a:srgbClr val="1A2B3C"/>
                </a:solidFill>
              </a:rPr>
              <a:t>Autoscaling basé sur les requêtes (KEDA)</a:t>
            </a:r>
            <a:endParaRPr lang="en-US" sz="800" dirty="0"/>
          </a:p>
          <a:p>
            <a:pPr marL="342900" indent="-342900">
              <a:buSzPct val="100000"/>
              <a:buChar char="•"/>
            </a:pPr>
            <a:r>
              <a:rPr lang="en-US" sz="800" dirty="0">
                <a:solidFill>
                  <a:srgbClr val="1A2B3C"/>
                </a:solidFill>
              </a:rPr>
              <a:t>Canary deployment et A/B testing</a:t>
            </a:r>
            <a:endParaRPr lang="en-US" sz="800" dirty="0"/>
          </a:p>
          <a:p>
            <a:pPr marL="342900" indent="-342900">
              <a:buSzPct val="100000"/>
              <a:buChar char="•"/>
            </a:pPr>
            <a:r>
              <a:rPr lang="en-US" sz="800" dirty="0">
                <a:solidFill>
                  <a:srgbClr val="1A2B3C"/>
                </a:solidFill>
              </a:rPr>
              <a:t>Inférence batch sur pipelines Airflow</a:t>
            </a:r>
            <a:endParaRPr lang="en-US" sz="800" dirty="0"/>
          </a:p>
          <a:p>
            <a:pPr marL="342900" indent="-342900">
              <a:buSzPct val="100000"/>
              <a:buChar char="•"/>
            </a:pPr>
            <a:r>
              <a:rPr lang="en-US" sz="800" dirty="0">
                <a:solidFill>
                  <a:srgbClr val="1A2B3C"/>
                </a:solidFill>
              </a:rPr>
              <a:t>Serving multi-modèles (ModelMesh)</a:t>
            </a:r>
            <a:endParaRPr lang="en-US" sz="800" dirty="0"/>
          </a:p>
        </p:txBody>
      </p:sp>
      <p:sp>
        <p:nvSpPr>
          <p:cNvPr id="21" name="Shape 19"/>
          <p:cNvSpPr/>
          <p:nvPr/>
        </p:nvSpPr>
        <p:spPr>
          <a:xfrm>
            <a:off x="6172200" y="1170432"/>
            <a:ext cx="2862072" cy="1170432"/>
          </a:xfrm>
          <a:prstGeom prst="roundRect">
            <a:avLst>
              <a:gd name="adj" fmla="val 7813"/>
            </a:avLst>
          </a:prstGeom>
          <a:solidFill>
            <a:srgbClr val="F9FCFD"/>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22" name="Shape 20"/>
          <p:cNvSpPr/>
          <p:nvPr/>
        </p:nvSpPr>
        <p:spPr>
          <a:xfrm>
            <a:off x="6172200" y="1170432"/>
            <a:ext cx="2862072" cy="246888"/>
          </a:xfrm>
          <a:prstGeom prst="roundRect">
            <a:avLst>
              <a:gd name="adj" fmla="val 22222"/>
            </a:avLst>
          </a:prstGeom>
          <a:solidFill>
            <a:srgbClr val="0A7E8C"/>
          </a:solidFill>
          <a:ln w="12700">
            <a:solidFill>
              <a:srgbClr val="0A7E8C"/>
            </a:solidFill>
            <a:prstDash val="solid"/>
          </a:ln>
        </p:spPr>
      </p:sp>
      <p:sp>
        <p:nvSpPr>
          <p:cNvPr id="23" name="Text 21"/>
          <p:cNvSpPr/>
          <p:nvPr/>
        </p:nvSpPr>
        <p:spPr>
          <a:xfrm>
            <a:off x="6172200" y="1170432"/>
            <a:ext cx="2862072" cy="246888"/>
          </a:xfrm>
          <a:prstGeom prst="rect">
            <a:avLst/>
          </a:prstGeom>
          <a:noFill/>
          <a:ln/>
        </p:spPr>
        <p:txBody>
          <a:bodyPr wrap="square" lIns="0" tIns="0" rIns="0" bIns="0" rtlCol="0" anchor="ctr"/>
          <a:lstStyle/>
          <a:p>
            <a:pPr algn="ctr" indent="0" marL="0">
              <a:buNone/>
            </a:pPr>
            <a:r>
              <a:rPr lang="en-US" sz="800" b="1" dirty="0">
                <a:solidFill>
                  <a:srgbClr val="FFFFFF"/>
                </a:solidFill>
              </a:rPr>
              <a:t>IMPÉRATIFS D'UTILISATION</a:t>
            </a:r>
            <a:endParaRPr lang="en-US" sz="800" dirty="0"/>
          </a:p>
        </p:txBody>
      </p:sp>
      <p:sp>
        <p:nvSpPr>
          <p:cNvPr id="24" name="Text 22"/>
          <p:cNvSpPr/>
          <p:nvPr/>
        </p:nvSpPr>
        <p:spPr>
          <a:xfrm>
            <a:off x="6281928" y="1481328"/>
            <a:ext cx="2679192" cy="822960"/>
          </a:xfrm>
          <a:prstGeom prst="rect">
            <a:avLst/>
          </a:prstGeom>
          <a:noFill/>
          <a:ln/>
        </p:spPr>
        <p:txBody>
          <a:bodyPr wrap="square" lIns="0" tIns="0" rIns="0" bIns="0" rtlCol="0" anchor="t"/>
          <a:lstStyle/>
          <a:p>
            <a:pPr marL="342900" indent="-342900">
              <a:buSzPct val="100000"/>
              <a:buChar char="•"/>
            </a:pPr>
            <a:r>
              <a:rPr lang="en-US" sz="800" dirty="0">
                <a:solidFill>
                  <a:srgbClr val="1A2B3C"/>
                </a:solidFill>
              </a:rPr>
              <a:t>Cluster Kubernetes ≥ 1.24</a:t>
            </a:r>
            <a:endParaRPr lang="en-US" sz="800" dirty="0"/>
          </a:p>
          <a:p>
            <a:pPr marL="342900" indent="-342900">
              <a:buSzPct val="100000"/>
              <a:buChar char="•"/>
            </a:pPr>
            <a:r>
              <a:rPr lang="en-US" sz="800" dirty="0">
                <a:solidFill>
                  <a:srgbClr val="1A2B3C"/>
                </a:solidFill>
              </a:rPr>
              <a:t>Istio ou KNative pour le networking</a:t>
            </a:r>
            <a:endParaRPr lang="en-US" sz="800" dirty="0"/>
          </a:p>
          <a:p>
            <a:pPr marL="342900" indent="-342900">
              <a:buSzPct val="100000"/>
              <a:buChar char="•"/>
            </a:pPr>
            <a:r>
              <a:rPr lang="en-US" sz="800" dirty="0">
                <a:solidFill>
                  <a:srgbClr val="1A2B3C"/>
                </a:solidFill>
              </a:rPr>
              <a:t>Cert-manager pour les TLS</a:t>
            </a:r>
            <a:endParaRPr lang="en-US" sz="800" dirty="0"/>
          </a:p>
          <a:p>
            <a:pPr marL="342900" indent="-342900">
              <a:buSzPct val="100000"/>
              <a:buChar char="•"/>
            </a:pPr>
            <a:r>
              <a:rPr lang="en-US" sz="800" dirty="0">
                <a:solidFill>
                  <a:srgbClr val="1A2B3C"/>
                </a:solidFill>
              </a:rPr>
              <a:t>GPU nodes pour modèles deep learning</a:t>
            </a:r>
            <a:endParaRPr lang="en-US" sz="800" dirty="0"/>
          </a:p>
        </p:txBody>
      </p:sp>
      <p:sp>
        <p:nvSpPr>
          <p:cNvPr id="25" name="Shape 23"/>
          <p:cNvSpPr/>
          <p:nvPr/>
        </p:nvSpPr>
        <p:spPr>
          <a:xfrm>
            <a:off x="109728" y="2450592"/>
            <a:ext cx="2743200" cy="1078992"/>
          </a:xfrm>
          <a:prstGeom prst="roundRect">
            <a:avLst>
              <a:gd name="adj" fmla="val 8475"/>
            </a:avLst>
          </a:prstGeom>
          <a:solidFill>
            <a:srgbClr val="FFF8E6"/>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26" name="Shape 24"/>
          <p:cNvSpPr/>
          <p:nvPr/>
        </p:nvSpPr>
        <p:spPr>
          <a:xfrm>
            <a:off x="109728" y="2450592"/>
            <a:ext cx="2743200" cy="246888"/>
          </a:xfrm>
          <a:prstGeom prst="roundRect">
            <a:avLst>
              <a:gd name="adj" fmla="val 22222"/>
            </a:avLst>
          </a:prstGeom>
          <a:solidFill>
            <a:srgbClr val="0A7E8C"/>
          </a:solidFill>
          <a:ln w="12700">
            <a:solidFill>
              <a:srgbClr val="0A7E8C"/>
            </a:solidFill>
            <a:prstDash val="solid"/>
          </a:ln>
        </p:spPr>
      </p:sp>
      <p:sp>
        <p:nvSpPr>
          <p:cNvPr id="27" name="Text 25"/>
          <p:cNvSpPr/>
          <p:nvPr/>
        </p:nvSpPr>
        <p:spPr>
          <a:xfrm>
            <a:off x="109728" y="2450592"/>
            <a:ext cx="2743200" cy="246888"/>
          </a:xfrm>
          <a:prstGeom prst="rect">
            <a:avLst/>
          </a:prstGeom>
          <a:noFill/>
          <a:ln/>
        </p:spPr>
        <p:txBody>
          <a:bodyPr wrap="square" lIns="0" tIns="0" rIns="0" bIns="0" rtlCol="0" anchor="ctr"/>
          <a:lstStyle/>
          <a:p>
            <a:pPr algn="ctr" indent="0" marL="0">
              <a:buNone/>
            </a:pPr>
            <a:r>
              <a:rPr lang="en-US" sz="800" b="1" dirty="0">
                <a:solidFill>
                  <a:srgbClr val="FFFFFF"/>
                </a:solidFill>
              </a:rPr>
              <a:t>SOLUTION EXISTANTE</a:t>
            </a:r>
            <a:endParaRPr lang="en-US" sz="800" dirty="0"/>
          </a:p>
        </p:txBody>
      </p:sp>
      <p:sp>
        <p:nvSpPr>
          <p:cNvPr id="28" name="Text 26"/>
          <p:cNvSpPr/>
          <p:nvPr/>
        </p:nvSpPr>
        <p:spPr>
          <a:xfrm>
            <a:off x="201168" y="2761488"/>
            <a:ext cx="2560320" cy="731520"/>
          </a:xfrm>
          <a:prstGeom prst="rect">
            <a:avLst/>
          </a:prstGeom>
          <a:noFill/>
          <a:ln/>
        </p:spPr>
        <p:txBody>
          <a:bodyPr wrap="square" lIns="0" tIns="0" rIns="0" bIns="0" rtlCol="0" anchor="t"/>
          <a:lstStyle/>
          <a:p>
            <a:pPr indent="0" marL="0">
              <a:buNone/>
            </a:pPr>
            <a:r>
              <a:rPr lang="en-US" sz="820" dirty="0">
                <a:solidFill>
                  <a:srgbClr val="1A2B3C"/>
                </a:solidFill>
              </a:rPr>
              <a:t>Vertex AI Prediction (GCP natif) — Non retenu car : lock-in GCP/S3NS, impossible à opérer hors GCP, coût à l'appel élevé, non portable. KServe garantit la portabilité et la souveraineté de l'inférence.</a:t>
            </a:r>
            <a:endParaRPr lang="en-US" sz="820" dirty="0"/>
          </a:p>
        </p:txBody>
      </p:sp>
      <p:sp>
        <p:nvSpPr>
          <p:cNvPr id="29" name="Shape 27"/>
          <p:cNvSpPr/>
          <p:nvPr/>
        </p:nvSpPr>
        <p:spPr>
          <a:xfrm>
            <a:off x="2980944" y="2450592"/>
            <a:ext cx="3063240" cy="1078992"/>
          </a:xfrm>
          <a:prstGeom prst="roundRect">
            <a:avLst>
              <a:gd name="adj" fmla="val 8475"/>
            </a:avLst>
          </a:prstGeom>
          <a:solidFill>
            <a:srgbClr val="EBF5FF"/>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30" name="Shape 28"/>
          <p:cNvSpPr/>
          <p:nvPr/>
        </p:nvSpPr>
        <p:spPr>
          <a:xfrm>
            <a:off x="2980944" y="2450592"/>
            <a:ext cx="3063240" cy="246888"/>
          </a:xfrm>
          <a:prstGeom prst="roundRect">
            <a:avLst>
              <a:gd name="adj" fmla="val 22222"/>
            </a:avLst>
          </a:prstGeom>
          <a:solidFill>
            <a:srgbClr val="0A7E8C"/>
          </a:solidFill>
          <a:ln w="12700">
            <a:solidFill>
              <a:srgbClr val="0A7E8C"/>
            </a:solidFill>
            <a:prstDash val="solid"/>
          </a:ln>
        </p:spPr>
      </p:sp>
      <p:sp>
        <p:nvSpPr>
          <p:cNvPr id="31" name="Text 29"/>
          <p:cNvSpPr/>
          <p:nvPr/>
        </p:nvSpPr>
        <p:spPr>
          <a:xfrm>
            <a:off x="2980944" y="2450592"/>
            <a:ext cx="3063240" cy="246888"/>
          </a:xfrm>
          <a:prstGeom prst="rect">
            <a:avLst/>
          </a:prstGeom>
          <a:noFill/>
          <a:ln/>
        </p:spPr>
        <p:txBody>
          <a:bodyPr wrap="square" lIns="0" tIns="0" rIns="0" bIns="0" rtlCol="0" anchor="ctr"/>
          <a:lstStyle/>
          <a:p>
            <a:pPr algn="ctr" indent="0" marL="0">
              <a:buNone/>
            </a:pPr>
            <a:r>
              <a:rPr lang="en-US" sz="800" b="1" dirty="0">
                <a:solidFill>
                  <a:srgbClr val="FFFFFF"/>
                </a:solidFill>
              </a:rPr>
              <a:t>STRATÉGIE IA &amp; PORTABILITÉ</a:t>
            </a:r>
            <a:endParaRPr lang="en-US" sz="800" dirty="0"/>
          </a:p>
        </p:txBody>
      </p:sp>
      <p:sp>
        <p:nvSpPr>
          <p:cNvPr id="32" name="Text 30"/>
          <p:cNvSpPr/>
          <p:nvPr/>
        </p:nvSpPr>
        <p:spPr>
          <a:xfrm>
            <a:off x="3090672" y="2761488"/>
            <a:ext cx="2880360" cy="731520"/>
          </a:xfrm>
          <a:prstGeom prst="rect">
            <a:avLst/>
          </a:prstGeom>
          <a:noFill/>
          <a:ln/>
        </p:spPr>
        <p:txBody>
          <a:bodyPr wrap="square" lIns="0" tIns="0" rIns="0" bIns="0" rtlCol="0" anchor="t"/>
          <a:lstStyle/>
          <a:p>
            <a:pPr indent="0" marL="0">
              <a:buNone/>
            </a:pPr>
            <a:r>
              <a:rPr lang="en-US" sz="820" dirty="0">
                <a:solidFill>
                  <a:srgbClr val="1A2B3C"/>
                </a:solidFill>
              </a:rPr>
              <a:t>✓ Stratégie IA : inférence souveraine sur S3NS/GCP. Portabilité : standard CNCF, K8s-native. InferenceService spec unifiée tous frameworks. Intégration MLflow ServingRuntime. Scale-to-zero pour optimisation coûts.</a:t>
            </a:r>
            <a:endParaRPr lang="en-US" sz="820" dirty="0"/>
          </a:p>
        </p:txBody>
      </p:sp>
      <p:sp>
        <p:nvSpPr>
          <p:cNvPr id="33" name="Shape 31"/>
          <p:cNvSpPr/>
          <p:nvPr/>
        </p:nvSpPr>
        <p:spPr>
          <a:xfrm>
            <a:off x="6172200" y="2450592"/>
            <a:ext cx="2862072" cy="1078992"/>
          </a:xfrm>
          <a:prstGeom prst="roundRect">
            <a:avLst>
              <a:gd name="adj" fmla="val 8475"/>
            </a:avLst>
          </a:prstGeom>
          <a:solidFill>
            <a:srgbClr val="E6F5ED"/>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34" name="Shape 32"/>
          <p:cNvSpPr/>
          <p:nvPr/>
        </p:nvSpPr>
        <p:spPr>
          <a:xfrm>
            <a:off x="6172200" y="2450592"/>
            <a:ext cx="2862072" cy="246888"/>
          </a:xfrm>
          <a:prstGeom prst="roundRect">
            <a:avLst>
              <a:gd name="adj" fmla="val 22222"/>
            </a:avLst>
          </a:prstGeom>
          <a:solidFill>
            <a:srgbClr val="0A7E8C"/>
          </a:solidFill>
          <a:ln w="12700">
            <a:solidFill>
              <a:srgbClr val="0A7E8C"/>
            </a:solidFill>
            <a:prstDash val="solid"/>
          </a:ln>
        </p:spPr>
      </p:sp>
      <p:sp>
        <p:nvSpPr>
          <p:cNvPr id="35" name="Text 33"/>
          <p:cNvSpPr/>
          <p:nvPr/>
        </p:nvSpPr>
        <p:spPr>
          <a:xfrm>
            <a:off x="6172200" y="2450592"/>
            <a:ext cx="2862072" cy="246888"/>
          </a:xfrm>
          <a:prstGeom prst="rect">
            <a:avLst/>
          </a:prstGeom>
          <a:noFill/>
          <a:ln/>
        </p:spPr>
        <p:txBody>
          <a:bodyPr wrap="square" lIns="0" tIns="0" rIns="0" bIns="0" rtlCol="0" anchor="ctr"/>
          <a:lstStyle/>
          <a:p>
            <a:pPr algn="ctr" indent="0" marL="0">
              <a:buNone/>
            </a:pPr>
            <a:r>
              <a:rPr lang="en-US" sz="800" b="1" dirty="0">
                <a:solidFill>
                  <a:srgbClr val="FFFFFF"/>
                </a:solidFill>
              </a:rPr>
              <a:t>COMPATIBILITÉ S3NS / STANDARDS</a:t>
            </a:r>
            <a:endParaRPr lang="en-US" sz="800" dirty="0"/>
          </a:p>
        </p:txBody>
      </p:sp>
      <p:sp>
        <p:nvSpPr>
          <p:cNvPr id="36" name="Text 34"/>
          <p:cNvSpPr/>
          <p:nvPr/>
        </p:nvSpPr>
        <p:spPr>
          <a:xfrm>
            <a:off x="6281928" y="2761488"/>
            <a:ext cx="2679192" cy="731520"/>
          </a:xfrm>
          <a:prstGeom prst="rect">
            <a:avLst/>
          </a:prstGeom>
          <a:noFill/>
          <a:ln/>
        </p:spPr>
        <p:txBody>
          <a:bodyPr wrap="square" lIns="0" tIns="0" rIns="0" bIns="0" rtlCol="0" anchor="t"/>
          <a:lstStyle/>
          <a:p>
            <a:pPr indent="0" marL="0">
              <a:buNone/>
            </a:pPr>
            <a:r>
              <a:rPr lang="en-US" sz="820" dirty="0">
                <a:solidFill>
                  <a:srgbClr val="1A2B3C"/>
                </a:solidFill>
              </a:rPr>
              <a:t>✓ Standard CNCF : K8s natif</a:t>
            </a:r>
            <a:endParaRPr lang="en-US" sz="820" dirty="0"/>
          </a:p>
          <a:p>
            <a:pPr indent="0" marL="0">
              <a:buNone/>
            </a:pPr>
            <a:r>
              <a:rPr lang="en-US" sz="820" dirty="0">
                <a:solidFill>
                  <a:srgbClr val="1A2B3C"/>
                </a:solidFill>
              </a:rPr>
              <a:t>✓ S3NS : stockage modèles via S3</a:t>
            </a:r>
            <a:endParaRPr lang="en-US" sz="820" dirty="0"/>
          </a:p>
          <a:p>
            <a:pPr indent="0" marL="0">
              <a:buNone/>
            </a:pPr>
            <a:r>
              <a:rPr lang="en-US" sz="820" dirty="0">
                <a:solidFill>
                  <a:srgbClr val="1A2B3C"/>
                </a:solidFill>
              </a:rPr>
              <a:t>✓ Agnostique cloud (GCP, AWS, on-prem)</a:t>
            </a:r>
            <a:endParaRPr lang="en-US" sz="820" dirty="0"/>
          </a:p>
          <a:p>
            <a:pPr indent="0" marL="0">
              <a:buNone/>
            </a:pPr>
            <a:r>
              <a:rPr lang="en-US" sz="820" dirty="0">
                <a:solidFill>
                  <a:srgbClr val="1A2B3C"/>
                </a:solidFill>
              </a:rPr>
              <a:t>✓ Prometheus metrics intégrés</a:t>
            </a:r>
            <a:endParaRPr lang="en-US" sz="820" dirty="0"/>
          </a:p>
          <a:p>
            <a:pPr indent="0" marL="0">
              <a:buNone/>
            </a:pPr>
            <a:r>
              <a:rPr lang="en-US" sz="820" dirty="0">
                <a:solidFill>
                  <a:srgbClr val="1A2B3C"/>
                </a:solidFill>
              </a:rPr>
              <a:t>✓ Istio compatible réseau S3NS</a:t>
            </a:r>
            <a:endParaRPr lang="en-US" sz="820" dirty="0"/>
          </a:p>
        </p:txBody>
      </p:sp>
      <p:sp>
        <p:nvSpPr>
          <p:cNvPr id="37" name="Shape 35"/>
          <p:cNvSpPr/>
          <p:nvPr/>
        </p:nvSpPr>
        <p:spPr>
          <a:xfrm>
            <a:off x="109728" y="3639312"/>
            <a:ext cx="2743200" cy="1325880"/>
          </a:xfrm>
          <a:prstGeom prst="roundRect">
            <a:avLst>
              <a:gd name="adj" fmla="val 6897"/>
            </a:avLst>
          </a:prstGeom>
          <a:solidFill>
            <a:srgbClr val="F9FCFD"/>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38" name="Shape 36"/>
          <p:cNvSpPr/>
          <p:nvPr/>
        </p:nvSpPr>
        <p:spPr>
          <a:xfrm>
            <a:off x="109728" y="3639312"/>
            <a:ext cx="2743200" cy="246888"/>
          </a:xfrm>
          <a:prstGeom prst="roundRect">
            <a:avLst>
              <a:gd name="adj" fmla="val 22222"/>
            </a:avLst>
          </a:prstGeom>
          <a:solidFill>
            <a:srgbClr val="0A7E8C"/>
          </a:solidFill>
          <a:ln w="12700">
            <a:solidFill>
              <a:srgbClr val="0A7E8C"/>
            </a:solidFill>
            <a:prstDash val="solid"/>
          </a:ln>
        </p:spPr>
      </p:sp>
      <p:sp>
        <p:nvSpPr>
          <p:cNvPr id="39" name="Text 37"/>
          <p:cNvSpPr/>
          <p:nvPr/>
        </p:nvSpPr>
        <p:spPr>
          <a:xfrm>
            <a:off x="109728" y="3639312"/>
            <a:ext cx="2743200" cy="246888"/>
          </a:xfrm>
          <a:prstGeom prst="rect">
            <a:avLst/>
          </a:prstGeom>
          <a:noFill/>
          <a:ln/>
        </p:spPr>
        <p:txBody>
          <a:bodyPr wrap="square" lIns="0" tIns="0" rIns="0" bIns="0" rtlCol="0" anchor="ctr"/>
          <a:lstStyle/>
          <a:p>
            <a:pPr algn="ctr" indent="0" marL="0">
              <a:buNone/>
            </a:pPr>
            <a:r>
              <a:rPr lang="en-US" sz="800" b="1" dirty="0">
                <a:solidFill>
                  <a:srgbClr val="FFFFFF"/>
                </a:solidFill>
              </a:rPr>
              <a:t>PÉRENNITÉ &amp; ADOPTION MARCHÉ</a:t>
            </a:r>
            <a:endParaRPr lang="en-US" sz="800" dirty="0"/>
          </a:p>
        </p:txBody>
      </p:sp>
      <p:sp>
        <p:nvSpPr>
          <p:cNvPr id="40" name="Text 38"/>
          <p:cNvSpPr/>
          <p:nvPr/>
        </p:nvSpPr>
        <p:spPr>
          <a:xfrm>
            <a:off x="201168" y="3950208"/>
            <a:ext cx="2560320" cy="960120"/>
          </a:xfrm>
          <a:prstGeom prst="rect">
            <a:avLst/>
          </a:prstGeom>
          <a:noFill/>
          <a:ln/>
        </p:spPr>
        <p:txBody>
          <a:bodyPr wrap="square" lIns="0" tIns="0" rIns="0" bIns="0" rtlCol="0" anchor="t"/>
          <a:lstStyle/>
          <a:p>
            <a:pPr indent="0" marL="0">
              <a:buNone/>
            </a:pPr>
            <a:r>
              <a:rPr lang="en-US" sz="820" dirty="0">
                <a:solidFill>
                  <a:srgbClr val="1A2B3C"/>
                </a:solidFill>
              </a:rPr>
              <a:t>Projet CNCF Incubating (2023). Soutenu par Google, Bloomberg, Seldon, IBM. 3 500+ stars GitHub. Standard émergent serving ML sur K8s. Roadmap active : ModelMesh, InferenceGraph. Remplace Seldon Core dans nombreux stacks.</a:t>
            </a:r>
            <a:endParaRPr lang="en-US" sz="820" dirty="0"/>
          </a:p>
        </p:txBody>
      </p:sp>
      <p:sp>
        <p:nvSpPr>
          <p:cNvPr id="41" name="Shape 39"/>
          <p:cNvSpPr/>
          <p:nvPr/>
        </p:nvSpPr>
        <p:spPr>
          <a:xfrm>
            <a:off x="2980944" y="3639312"/>
            <a:ext cx="6053328" cy="1325880"/>
          </a:xfrm>
          <a:prstGeom prst="roundRect">
            <a:avLst>
              <a:gd name="adj" fmla="val 6897"/>
            </a:avLst>
          </a:prstGeom>
          <a:solidFill>
            <a:srgbClr val="F9FCFD"/>
          </a:solidFill>
          <a:ln w="12700">
            <a:solidFill>
              <a:srgbClr val="D8E8EC"/>
            </a:solidFill>
            <a:prstDash val="solid"/>
          </a:ln>
          <a:effectLst>
            <a:outerShdw sx="100000" sy="100000" kx="0" ky="0" algn="bl" rotWithShape="0" blurRad="63500" dist="25400" dir="2700000">
              <a:srgbClr val="000000">
                <a:alpha val="10000"/>
              </a:srgbClr>
            </a:outerShdw>
          </a:effectLst>
        </p:spPr>
      </p:sp>
      <p:sp>
        <p:nvSpPr>
          <p:cNvPr id="42" name="Shape 40"/>
          <p:cNvSpPr/>
          <p:nvPr/>
        </p:nvSpPr>
        <p:spPr>
          <a:xfrm>
            <a:off x="2980944" y="3639312"/>
            <a:ext cx="6053328" cy="246888"/>
          </a:xfrm>
          <a:prstGeom prst="roundRect">
            <a:avLst>
              <a:gd name="adj" fmla="val 22222"/>
            </a:avLst>
          </a:prstGeom>
          <a:solidFill>
            <a:srgbClr val="0A7E8C"/>
          </a:solidFill>
          <a:ln w="12700">
            <a:solidFill>
              <a:srgbClr val="0A7E8C"/>
            </a:solidFill>
            <a:prstDash val="solid"/>
          </a:ln>
        </p:spPr>
      </p:sp>
      <p:sp>
        <p:nvSpPr>
          <p:cNvPr id="43" name="Text 41"/>
          <p:cNvSpPr/>
          <p:nvPr/>
        </p:nvSpPr>
        <p:spPr>
          <a:xfrm>
            <a:off x="2980944" y="3639312"/>
            <a:ext cx="6053328" cy="246888"/>
          </a:xfrm>
          <a:prstGeom prst="rect">
            <a:avLst/>
          </a:prstGeom>
          <a:noFill/>
          <a:ln/>
        </p:spPr>
        <p:txBody>
          <a:bodyPr wrap="square" lIns="0" tIns="0" rIns="0" bIns="0" rtlCol="0" anchor="ctr"/>
          <a:lstStyle/>
          <a:p>
            <a:pPr algn="ctr" indent="0" marL="0">
              <a:buNone/>
            </a:pPr>
            <a:r>
              <a:rPr lang="en-US" sz="800" b="1" dirty="0">
                <a:solidFill>
                  <a:srgbClr val="FFFFFF"/>
                </a:solidFill>
              </a:rPr>
              <a:t>CONDITIONS D'UTILISATION</a:t>
            </a:r>
            <a:endParaRPr lang="en-US" sz="800" dirty="0"/>
          </a:p>
        </p:txBody>
      </p:sp>
      <p:sp>
        <p:nvSpPr>
          <p:cNvPr id="44" name="Shape 42"/>
          <p:cNvSpPr/>
          <p:nvPr/>
        </p:nvSpPr>
        <p:spPr>
          <a:xfrm>
            <a:off x="3072384" y="3959352"/>
            <a:ext cx="1901952" cy="969264"/>
          </a:xfrm>
          <a:prstGeom prst="roundRect">
            <a:avLst>
              <a:gd name="adj" fmla="val 6604"/>
            </a:avLst>
          </a:prstGeom>
          <a:solidFill>
            <a:srgbClr val="EEF2FF"/>
          </a:solidFill>
          <a:ln w="12700">
            <a:solidFill>
              <a:srgbClr val="C7D2FE"/>
            </a:solidFill>
            <a:prstDash val="solid"/>
          </a:ln>
        </p:spPr>
      </p:sp>
      <p:sp>
        <p:nvSpPr>
          <p:cNvPr id="45" name="Text 43"/>
          <p:cNvSpPr/>
          <p:nvPr/>
        </p:nvSpPr>
        <p:spPr>
          <a:xfrm>
            <a:off x="3072384" y="3959352"/>
            <a:ext cx="1901952" cy="228600"/>
          </a:xfrm>
          <a:prstGeom prst="rect">
            <a:avLst/>
          </a:prstGeom>
          <a:noFill/>
          <a:ln/>
        </p:spPr>
        <p:txBody>
          <a:bodyPr wrap="square" lIns="0" tIns="0" rIns="0" bIns="0" rtlCol="0" anchor="ctr"/>
          <a:lstStyle/>
          <a:p>
            <a:pPr algn="ctr" indent="0" marL="0">
              <a:buNone/>
            </a:pPr>
            <a:r>
              <a:rPr lang="en-US" sz="750" b="1" dirty="0">
                <a:solidFill>
                  <a:srgbClr val="4338CA"/>
                </a:solidFill>
              </a:rPr>
              <a:t>COMPÉTENCES</a:t>
            </a:r>
            <a:endParaRPr lang="en-US" sz="750" dirty="0"/>
          </a:p>
        </p:txBody>
      </p:sp>
      <p:sp>
        <p:nvSpPr>
          <p:cNvPr id="46" name="Text 44"/>
          <p:cNvSpPr/>
          <p:nvPr/>
        </p:nvSpPr>
        <p:spPr>
          <a:xfrm>
            <a:off x="3145536" y="4187952"/>
            <a:ext cx="1755648" cy="713232"/>
          </a:xfrm>
          <a:prstGeom prst="rect">
            <a:avLst/>
          </a:prstGeom>
          <a:noFill/>
          <a:ln/>
        </p:spPr>
        <p:txBody>
          <a:bodyPr wrap="square" lIns="0" tIns="0" rIns="0" bIns="0" rtlCol="0" anchor="t"/>
          <a:lstStyle/>
          <a:p>
            <a:pPr indent="0" marL="0">
              <a:buNone/>
            </a:pPr>
            <a:r>
              <a:rPr lang="en-US" sz="800" dirty="0">
                <a:solidFill>
                  <a:srgbClr val="1A2B3C"/>
                </a:solidFill>
              </a:rPr>
              <a:t>K8s avancé (CRDs, Istio, autoscaling), YAML InferenceService, notions serving ML (batching, latency), administration Knative.</a:t>
            </a:r>
            <a:endParaRPr lang="en-US" sz="800" dirty="0"/>
          </a:p>
        </p:txBody>
      </p:sp>
      <p:sp>
        <p:nvSpPr>
          <p:cNvPr id="47" name="Shape 45"/>
          <p:cNvSpPr/>
          <p:nvPr/>
        </p:nvSpPr>
        <p:spPr>
          <a:xfrm>
            <a:off x="5102352" y="3959352"/>
            <a:ext cx="1901952" cy="969264"/>
          </a:xfrm>
          <a:prstGeom prst="roundRect">
            <a:avLst>
              <a:gd name="adj" fmla="val 6604"/>
            </a:avLst>
          </a:prstGeom>
          <a:solidFill>
            <a:srgbClr val="FFF7ED"/>
          </a:solidFill>
          <a:ln w="12700">
            <a:solidFill>
              <a:srgbClr val="FED7AA"/>
            </a:solidFill>
            <a:prstDash val="solid"/>
          </a:ln>
        </p:spPr>
      </p:sp>
      <p:sp>
        <p:nvSpPr>
          <p:cNvPr id="48" name="Text 46"/>
          <p:cNvSpPr/>
          <p:nvPr/>
        </p:nvSpPr>
        <p:spPr>
          <a:xfrm>
            <a:off x="5102352" y="3959352"/>
            <a:ext cx="1901952" cy="228600"/>
          </a:xfrm>
          <a:prstGeom prst="rect">
            <a:avLst/>
          </a:prstGeom>
          <a:noFill/>
          <a:ln/>
        </p:spPr>
        <p:txBody>
          <a:bodyPr wrap="square" lIns="0" tIns="0" rIns="0" bIns="0" rtlCol="0" anchor="ctr"/>
          <a:lstStyle/>
          <a:p>
            <a:pPr algn="ctr" indent="0" marL="0">
              <a:buNone/>
            </a:pPr>
            <a:r>
              <a:rPr lang="en-US" sz="750" b="1" dirty="0">
                <a:solidFill>
                  <a:srgbClr val="C2410C"/>
                </a:solidFill>
              </a:rPr>
              <a:t>COÛTS BUILD / RUN</a:t>
            </a:r>
            <a:endParaRPr lang="en-US" sz="750" dirty="0"/>
          </a:p>
        </p:txBody>
      </p:sp>
      <p:sp>
        <p:nvSpPr>
          <p:cNvPr id="49" name="Text 47"/>
          <p:cNvSpPr/>
          <p:nvPr/>
        </p:nvSpPr>
        <p:spPr>
          <a:xfrm>
            <a:off x="5175504" y="4187952"/>
            <a:ext cx="1755648" cy="713232"/>
          </a:xfrm>
          <a:prstGeom prst="rect">
            <a:avLst/>
          </a:prstGeom>
          <a:noFill/>
          <a:ln/>
        </p:spPr>
        <p:txBody>
          <a:bodyPr wrap="square" lIns="0" tIns="0" rIns="0" bIns="0" rtlCol="0" anchor="t"/>
          <a:lstStyle/>
          <a:p>
            <a:pPr indent="0" marL="0">
              <a:buNone/>
            </a:pPr>
            <a:r>
              <a:rPr lang="en-US" sz="800" dirty="0">
                <a:solidFill>
                  <a:srgbClr val="1A2B3C"/>
                </a:solidFill>
              </a:rPr>
              <a:t>Build : 4-6j setup K8s + Istio + KServe + 1er modèle.</a:t>
            </a:r>
            <a:endParaRPr lang="en-US" sz="800" dirty="0"/>
          </a:p>
          <a:p>
            <a:pPr indent="0" marL="0">
              <a:buNone/>
            </a:pPr>
            <a:r>
              <a:rPr lang="en-US" sz="800" dirty="0">
                <a:solidFill>
                  <a:srgbClr val="1A2B3C"/>
                </a:solidFill>
              </a:rPr>
              <a:t>Run : coût GPU/CPU K8s (scale-to-zero possible), ingress Istio. Licence : gratuit.</a:t>
            </a:r>
            <a:endParaRPr lang="en-US" sz="800" dirty="0"/>
          </a:p>
        </p:txBody>
      </p:sp>
      <p:sp>
        <p:nvSpPr>
          <p:cNvPr id="50" name="Shape 48"/>
          <p:cNvSpPr/>
          <p:nvPr/>
        </p:nvSpPr>
        <p:spPr>
          <a:xfrm>
            <a:off x="7132320" y="3959352"/>
            <a:ext cx="1810512" cy="969264"/>
          </a:xfrm>
          <a:prstGeom prst="roundRect">
            <a:avLst>
              <a:gd name="adj" fmla="val 6604"/>
            </a:avLst>
          </a:prstGeom>
          <a:solidFill>
            <a:srgbClr val="F0FDF4"/>
          </a:solidFill>
          <a:ln w="12700">
            <a:solidFill>
              <a:srgbClr val="86EFAC"/>
            </a:solidFill>
            <a:prstDash val="solid"/>
          </a:ln>
        </p:spPr>
      </p:sp>
      <p:sp>
        <p:nvSpPr>
          <p:cNvPr id="51" name="Text 49"/>
          <p:cNvSpPr/>
          <p:nvPr/>
        </p:nvSpPr>
        <p:spPr>
          <a:xfrm>
            <a:off x="7132320" y="3959352"/>
            <a:ext cx="1810512" cy="228600"/>
          </a:xfrm>
          <a:prstGeom prst="rect">
            <a:avLst/>
          </a:prstGeom>
          <a:noFill/>
          <a:ln/>
        </p:spPr>
        <p:txBody>
          <a:bodyPr wrap="square" lIns="0" tIns="0" rIns="0" bIns="0" rtlCol="0" anchor="ctr"/>
          <a:lstStyle/>
          <a:p>
            <a:pPr algn="ctr" indent="0" marL="0">
              <a:buNone/>
            </a:pPr>
            <a:r>
              <a:rPr lang="en-US" sz="750" b="1" dirty="0">
                <a:solidFill>
                  <a:srgbClr val="15803D"/>
                </a:solidFill>
              </a:rPr>
              <a:t>INTÉGRATION SI</a:t>
            </a:r>
            <a:endParaRPr lang="en-US" sz="750" dirty="0"/>
          </a:p>
        </p:txBody>
      </p:sp>
      <p:sp>
        <p:nvSpPr>
          <p:cNvPr id="52" name="Text 50"/>
          <p:cNvSpPr/>
          <p:nvPr/>
        </p:nvSpPr>
        <p:spPr>
          <a:xfrm>
            <a:off x="7205472" y="4187952"/>
            <a:ext cx="1664208" cy="713232"/>
          </a:xfrm>
          <a:prstGeom prst="rect">
            <a:avLst/>
          </a:prstGeom>
          <a:noFill/>
          <a:ln/>
        </p:spPr>
        <p:txBody>
          <a:bodyPr wrap="square" lIns="0" tIns="0" rIns="0" bIns="0" rtlCol="0" anchor="t"/>
          <a:lstStyle/>
          <a:p>
            <a:pPr indent="0" marL="0">
              <a:buNone/>
            </a:pPr>
            <a:r>
              <a:rPr lang="en-US" sz="800" dirty="0">
                <a:solidFill>
                  <a:srgbClr val="1A2B3C"/>
                </a:solidFill>
              </a:rPr>
              <a:t>MLflow ServingRuntime (modèle MLflow → KServe direct), GitLab CI pour déploiement YAML, Airflow pour trigger inférence batch, Prometheus/Grafana pour SLA monitoring.</a:t>
            </a:r>
            <a:endParaRPr lang="en-US" sz="800" dirty="0"/>
          </a:p>
        </p:txBody>
      </p:sp>
      <p:sp>
        <p:nvSpPr>
          <p:cNvPr id="53" name="Text 51"/>
          <p:cNvSpPr/>
          <p:nvPr/>
        </p:nvSpPr>
        <p:spPr>
          <a:xfrm>
            <a:off x="109728" y="4956048"/>
            <a:ext cx="8924544" cy="182880"/>
          </a:xfrm>
          <a:prstGeom prst="rect">
            <a:avLst/>
          </a:prstGeom>
          <a:noFill/>
          <a:ln/>
        </p:spPr>
        <p:txBody>
          <a:bodyPr wrap="square" lIns="0" tIns="0" rIns="0" bIns="0" rtlCol="0" anchor="ctr"/>
          <a:lstStyle/>
          <a:p>
            <a:pPr algn="r" indent="0" marL="0">
              <a:buNone/>
            </a:pPr>
            <a:r>
              <a:rPr lang="en-US" sz="700" dirty="0">
                <a:solidFill>
                  <a:srgbClr val="90A8B0"/>
                </a:solidFill>
              </a:rPr>
              <a:t>KServe  —  Fiche Technologique MLOps  |  Premi3ns</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7E8C"/>
          </a:solidFill>
          <a:ln w="12700">
            <a:solidFill>
              <a:srgbClr val="0A7E8C"/>
            </a:solidFill>
            <a:prstDash val="solid"/>
          </a:ln>
        </p:spPr>
      </p:sp>
      <p:sp>
        <p:nvSpPr>
          <p:cNvPr id="3" name="Text 1"/>
          <p:cNvSpPr/>
          <p:nvPr/>
        </p:nvSpPr>
        <p:spPr>
          <a:xfrm>
            <a:off x="457200" y="164592"/>
            <a:ext cx="4572000" cy="365760"/>
          </a:xfrm>
          <a:prstGeom prst="rect">
            <a:avLst/>
          </a:prstGeom>
          <a:noFill/>
          <a:ln/>
        </p:spPr>
        <p:txBody>
          <a:bodyPr wrap="square" lIns="0" tIns="0" rIns="0" bIns="0" rtlCol="0" anchor="ctr"/>
          <a:lstStyle/>
          <a:p>
            <a:pPr indent="0" marL="0">
              <a:buNone/>
            </a:pPr>
            <a:r>
              <a:rPr lang="en-US" sz="1100" b="1" spc="300" kern="0" dirty="0">
                <a:solidFill>
                  <a:srgbClr val="0D9AA8"/>
                </a:solidFill>
              </a:rPr>
              <a:t>SYNTHÈSE</a:t>
            </a:r>
            <a:endParaRPr lang="en-US" sz="1100" dirty="0"/>
          </a:p>
        </p:txBody>
      </p:sp>
      <p:sp>
        <p:nvSpPr>
          <p:cNvPr id="4" name="Text 2"/>
          <p:cNvSpPr/>
          <p:nvPr/>
        </p:nvSpPr>
        <p:spPr>
          <a:xfrm>
            <a:off x="457200" y="530352"/>
            <a:ext cx="8229600" cy="548640"/>
          </a:xfrm>
          <a:prstGeom prst="rect">
            <a:avLst/>
          </a:prstGeom>
          <a:noFill/>
          <a:ln/>
        </p:spPr>
        <p:txBody>
          <a:bodyPr wrap="square" lIns="0" tIns="0" rIns="0" bIns="0" rtlCol="0" anchor="ctr"/>
          <a:lstStyle/>
          <a:p>
            <a:pPr indent="0" marL="0">
              <a:buNone/>
            </a:pPr>
            <a:r>
              <a:rPr lang="en-US" sz="2200" b="1" dirty="0">
                <a:solidFill>
                  <a:srgbClr val="FFFFFF"/>
                </a:solidFill>
              </a:rPr>
              <a:t>Alignement Stratégique des Composants</a:t>
            </a:r>
            <a:endParaRPr lang="en-US" sz="2200" dirty="0"/>
          </a:p>
        </p:txBody>
      </p:sp>
      <p:sp>
        <p:nvSpPr>
          <p:cNvPr id="5" name="Shape 3"/>
          <p:cNvSpPr/>
          <p:nvPr/>
        </p:nvSpPr>
        <p:spPr>
          <a:xfrm>
            <a:off x="365760" y="1280160"/>
            <a:ext cx="8412480" cy="585216"/>
          </a:xfrm>
          <a:prstGeom prst="roundRect">
            <a:avLst>
              <a:gd name="adj" fmla="val 12500"/>
            </a:avLst>
          </a:prstGeom>
          <a:solidFill>
            <a:srgbClr val="FFFFFF">
              <a:alpha val="10000"/>
            </a:srgbClr>
          </a:solidFill>
          <a:ln w="12700">
            <a:solidFill>
              <a:srgbClr val="0A7E8C"/>
            </a:solidFill>
            <a:prstDash val="solid"/>
          </a:ln>
        </p:spPr>
      </p:sp>
      <p:sp>
        <p:nvSpPr>
          <p:cNvPr id="6" name="Text 4"/>
          <p:cNvSpPr/>
          <p:nvPr/>
        </p:nvSpPr>
        <p:spPr>
          <a:xfrm>
            <a:off x="548640" y="1280160"/>
            <a:ext cx="1737360" cy="585216"/>
          </a:xfrm>
          <a:prstGeom prst="rect">
            <a:avLst/>
          </a:prstGeom>
          <a:noFill/>
          <a:ln/>
        </p:spPr>
        <p:txBody>
          <a:bodyPr wrap="square" lIns="0" tIns="0" rIns="0" bIns="0" rtlCol="0" anchor="ctr"/>
          <a:lstStyle/>
          <a:p>
            <a:pPr indent="0" marL="0">
              <a:buNone/>
            </a:pPr>
            <a:r>
              <a:rPr lang="en-US" sz="1300" b="1" dirty="0">
                <a:solidFill>
                  <a:srgbClr val="FFFFFF"/>
                </a:solidFill>
              </a:rPr>
              <a:t>Airflow</a:t>
            </a:r>
            <a:endParaRPr lang="en-US" sz="1300" dirty="0"/>
          </a:p>
        </p:txBody>
      </p:sp>
      <p:sp>
        <p:nvSpPr>
          <p:cNvPr id="7" name="Text 5"/>
          <p:cNvSpPr/>
          <p:nvPr/>
        </p:nvSpPr>
        <p:spPr>
          <a:xfrm>
            <a:off x="2377440" y="1280160"/>
            <a:ext cx="3200400" cy="585216"/>
          </a:xfrm>
          <a:prstGeom prst="rect">
            <a:avLst/>
          </a:prstGeom>
          <a:noFill/>
          <a:ln/>
        </p:spPr>
        <p:txBody>
          <a:bodyPr wrap="square" lIns="0" tIns="0" rIns="0" bIns="0" rtlCol="0" anchor="ctr"/>
          <a:lstStyle/>
          <a:p>
            <a:pPr indent="0" marL="0">
              <a:buNone/>
            </a:pPr>
            <a:r>
              <a:rPr lang="en-US" sz="1000" dirty="0">
                <a:solidFill>
                  <a:srgbClr val="A8C8D8"/>
                </a:solidFill>
              </a:rPr>
              <a:t>Orchestration</a:t>
            </a:r>
            <a:endParaRPr lang="en-US" sz="1000" dirty="0"/>
          </a:p>
        </p:txBody>
      </p:sp>
      <p:sp>
        <p:nvSpPr>
          <p:cNvPr id="8" name="Shape 6"/>
          <p:cNvSpPr/>
          <p:nvPr/>
        </p:nvSpPr>
        <p:spPr>
          <a:xfrm>
            <a:off x="5669280" y="1444752"/>
            <a:ext cx="1097280" cy="256032"/>
          </a:xfrm>
          <a:prstGeom prst="roundRect">
            <a:avLst>
              <a:gd name="adj" fmla="val 21429"/>
            </a:avLst>
          </a:prstGeom>
          <a:solidFill>
            <a:srgbClr val="0A7E8C"/>
          </a:solidFill>
          <a:ln w="12700">
            <a:solidFill>
              <a:srgbClr val="0A7E8C"/>
            </a:solidFill>
            <a:prstDash val="solid"/>
          </a:ln>
        </p:spPr>
      </p:sp>
      <p:sp>
        <p:nvSpPr>
          <p:cNvPr id="9" name="Text 7"/>
          <p:cNvSpPr/>
          <p:nvPr/>
        </p:nvSpPr>
        <p:spPr>
          <a:xfrm>
            <a:off x="5669280" y="1444752"/>
            <a:ext cx="1097280" cy="256032"/>
          </a:xfrm>
          <a:prstGeom prst="rect">
            <a:avLst/>
          </a:prstGeom>
          <a:noFill/>
          <a:ln/>
        </p:spPr>
        <p:txBody>
          <a:bodyPr wrap="square" lIns="0" tIns="0" rIns="0" bIns="0" rtlCol="0" anchor="ctr"/>
          <a:lstStyle/>
          <a:p>
            <a:pPr algn="ctr" indent="0" marL="0">
              <a:buNone/>
            </a:pPr>
            <a:r>
              <a:rPr lang="en-US" sz="850" b="1" dirty="0">
                <a:solidFill>
                  <a:srgbClr val="FFFFFF"/>
                </a:solidFill>
              </a:rPr>
              <a:t>Workflow</a:t>
            </a:r>
            <a:endParaRPr lang="en-US" sz="850" dirty="0"/>
          </a:p>
        </p:txBody>
      </p:sp>
      <p:sp>
        <p:nvSpPr>
          <p:cNvPr id="10" name="Text 8"/>
          <p:cNvSpPr/>
          <p:nvPr/>
        </p:nvSpPr>
        <p:spPr>
          <a:xfrm>
            <a:off x="6858000" y="1280160"/>
            <a:ext cx="1737360" cy="585216"/>
          </a:xfrm>
          <a:prstGeom prst="rect">
            <a:avLst/>
          </a:prstGeom>
          <a:noFill/>
          <a:ln/>
        </p:spPr>
        <p:txBody>
          <a:bodyPr wrap="square" lIns="0" tIns="0" rIns="0" bIns="0" rtlCol="0" anchor="ctr"/>
          <a:lstStyle/>
          <a:p>
            <a:pPr algn="r" indent="0" marL="0">
              <a:buNone/>
            </a:pPr>
            <a:r>
              <a:rPr lang="en-US" sz="720" dirty="0">
                <a:solidFill>
                  <a:srgbClr val="5AC87A"/>
                </a:solidFill>
              </a:rPr>
              <a:t>✓ Open Source  ✓ K8s  ✓ S3NS  ✓ Agnostique Cloud</a:t>
            </a:r>
            <a:endParaRPr lang="en-US" sz="720" dirty="0"/>
          </a:p>
        </p:txBody>
      </p:sp>
      <p:sp>
        <p:nvSpPr>
          <p:cNvPr id="11" name="Shape 9"/>
          <p:cNvSpPr/>
          <p:nvPr/>
        </p:nvSpPr>
        <p:spPr>
          <a:xfrm>
            <a:off x="365760" y="1938528"/>
            <a:ext cx="8412480" cy="585216"/>
          </a:xfrm>
          <a:prstGeom prst="roundRect">
            <a:avLst>
              <a:gd name="adj" fmla="val 12500"/>
            </a:avLst>
          </a:prstGeom>
          <a:solidFill>
            <a:srgbClr val="FFFFFF">
              <a:alpha val="10000"/>
            </a:srgbClr>
          </a:solidFill>
          <a:ln w="12700">
            <a:solidFill>
              <a:srgbClr val="0A7E8C"/>
            </a:solidFill>
            <a:prstDash val="solid"/>
          </a:ln>
        </p:spPr>
      </p:sp>
      <p:sp>
        <p:nvSpPr>
          <p:cNvPr id="12" name="Text 10"/>
          <p:cNvSpPr/>
          <p:nvPr/>
        </p:nvSpPr>
        <p:spPr>
          <a:xfrm>
            <a:off x="548640" y="1938528"/>
            <a:ext cx="1737360" cy="585216"/>
          </a:xfrm>
          <a:prstGeom prst="rect">
            <a:avLst/>
          </a:prstGeom>
          <a:noFill/>
          <a:ln/>
        </p:spPr>
        <p:txBody>
          <a:bodyPr wrap="square" lIns="0" tIns="0" rIns="0" bIns="0" rtlCol="0" anchor="ctr"/>
          <a:lstStyle/>
          <a:p>
            <a:pPr indent="0" marL="0">
              <a:buNone/>
            </a:pPr>
            <a:r>
              <a:rPr lang="en-US" sz="1300" b="1" dirty="0">
                <a:solidFill>
                  <a:srgbClr val="FFFFFF"/>
                </a:solidFill>
              </a:rPr>
              <a:t>MLflow</a:t>
            </a:r>
            <a:endParaRPr lang="en-US" sz="1300" dirty="0"/>
          </a:p>
        </p:txBody>
      </p:sp>
      <p:sp>
        <p:nvSpPr>
          <p:cNvPr id="13" name="Text 11"/>
          <p:cNvSpPr/>
          <p:nvPr/>
        </p:nvSpPr>
        <p:spPr>
          <a:xfrm>
            <a:off x="2377440" y="1938528"/>
            <a:ext cx="3200400" cy="585216"/>
          </a:xfrm>
          <a:prstGeom prst="rect">
            <a:avLst/>
          </a:prstGeom>
          <a:noFill/>
          <a:ln/>
        </p:spPr>
        <p:txBody>
          <a:bodyPr wrap="square" lIns="0" tIns="0" rIns="0" bIns="0" rtlCol="0" anchor="ctr"/>
          <a:lstStyle/>
          <a:p>
            <a:pPr indent="0" marL="0">
              <a:buNone/>
            </a:pPr>
            <a:r>
              <a:rPr lang="en-US" sz="1000" dirty="0">
                <a:solidFill>
                  <a:srgbClr val="A8C8D8"/>
                </a:solidFill>
              </a:rPr>
              <a:t>Tracking &amp; Registry</a:t>
            </a:r>
            <a:endParaRPr lang="en-US" sz="1000" dirty="0"/>
          </a:p>
        </p:txBody>
      </p:sp>
      <p:sp>
        <p:nvSpPr>
          <p:cNvPr id="14" name="Shape 12"/>
          <p:cNvSpPr/>
          <p:nvPr/>
        </p:nvSpPr>
        <p:spPr>
          <a:xfrm>
            <a:off x="5669280" y="2103120"/>
            <a:ext cx="1097280" cy="256032"/>
          </a:xfrm>
          <a:prstGeom prst="roundRect">
            <a:avLst>
              <a:gd name="adj" fmla="val 21429"/>
            </a:avLst>
          </a:prstGeom>
          <a:solidFill>
            <a:srgbClr val="0A7E8C"/>
          </a:solidFill>
          <a:ln w="12700">
            <a:solidFill>
              <a:srgbClr val="0A7E8C"/>
            </a:solidFill>
            <a:prstDash val="solid"/>
          </a:ln>
        </p:spPr>
      </p:sp>
      <p:sp>
        <p:nvSpPr>
          <p:cNvPr id="15" name="Text 13"/>
          <p:cNvSpPr/>
          <p:nvPr/>
        </p:nvSpPr>
        <p:spPr>
          <a:xfrm>
            <a:off x="5669280" y="2103120"/>
            <a:ext cx="1097280" cy="256032"/>
          </a:xfrm>
          <a:prstGeom prst="rect">
            <a:avLst/>
          </a:prstGeom>
          <a:noFill/>
          <a:ln/>
        </p:spPr>
        <p:txBody>
          <a:bodyPr wrap="square" lIns="0" tIns="0" rIns="0" bIns="0" rtlCol="0" anchor="ctr"/>
          <a:lstStyle/>
          <a:p>
            <a:pPr algn="ctr" indent="0" marL="0">
              <a:buNone/>
            </a:pPr>
            <a:r>
              <a:rPr lang="en-US" sz="850" b="1" dirty="0">
                <a:solidFill>
                  <a:srgbClr val="FFFFFF"/>
                </a:solidFill>
              </a:rPr>
              <a:t>Gouvernance</a:t>
            </a:r>
            <a:endParaRPr lang="en-US" sz="850" dirty="0"/>
          </a:p>
        </p:txBody>
      </p:sp>
      <p:sp>
        <p:nvSpPr>
          <p:cNvPr id="16" name="Text 14"/>
          <p:cNvSpPr/>
          <p:nvPr/>
        </p:nvSpPr>
        <p:spPr>
          <a:xfrm>
            <a:off x="6858000" y="1938528"/>
            <a:ext cx="1737360" cy="585216"/>
          </a:xfrm>
          <a:prstGeom prst="rect">
            <a:avLst/>
          </a:prstGeom>
          <a:noFill/>
          <a:ln/>
        </p:spPr>
        <p:txBody>
          <a:bodyPr wrap="square" lIns="0" tIns="0" rIns="0" bIns="0" rtlCol="0" anchor="ctr"/>
          <a:lstStyle/>
          <a:p>
            <a:pPr algn="r" indent="0" marL="0">
              <a:buNone/>
            </a:pPr>
            <a:r>
              <a:rPr lang="en-US" sz="720" dirty="0">
                <a:solidFill>
                  <a:srgbClr val="5AC87A"/>
                </a:solidFill>
              </a:rPr>
              <a:t>✓ Open Source  ✓ K8s  ✓ S3NS  ✓ Agnostique Cloud</a:t>
            </a:r>
            <a:endParaRPr lang="en-US" sz="720" dirty="0"/>
          </a:p>
        </p:txBody>
      </p:sp>
      <p:sp>
        <p:nvSpPr>
          <p:cNvPr id="17" name="Shape 15"/>
          <p:cNvSpPr/>
          <p:nvPr/>
        </p:nvSpPr>
        <p:spPr>
          <a:xfrm>
            <a:off x="365760" y="2596896"/>
            <a:ext cx="8412480" cy="585216"/>
          </a:xfrm>
          <a:prstGeom prst="roundRect">
            <a:avLst>
              <a:gd name="adj" fmla="val 12500"/>
            </a:avLst>
          </a:prstGeom>
          <a:solidFill>
            <a:srgbClr val="FFFFFF">
              <a:alpha val="10000"/>
            </a:srgbClr>
          </a:solidFill>
          <a:ln w="12700">
            <a:solidFill>
              <a:srgbClr val="0A7E8C"/>
            </a:solidFill>
            <a:prstDash val="solid"/>
          </a:ln>
        </p:spPr>
      </p:sp>
      <p:sp>
        <p:nvSpPr>
          <p:cNvPr id="18" name="Text 16"/>
          <p:cNvSpPr/>
          <p:nvPr/>
        </p:nvSpPr>
        <p:spPr>
          <a:xfrm>
            <a:off x="548640" y="2596896"/>
            <a:ext cx="1737360" cy="585216"/>
          </a:xfrm>
          <a:prstGeom prst="rect">
            <a:avLst/>
          </a:prstGeom>
          <a:noFill/>
          <a:ln/>
        </p:spPr>
        <p:txBody>
          <a:bodyPr wrap="square" lIns="0" tIns="0" rIns="0" bIns="0" rtlCol="0" anchor="ctr"/>
          <a:lstStyle/>
          <a:p>
            <a:pPr indent="0" marL="0">
              <a:buNone/>
            </a:pPr>
            <a:r>
              <a:rPr lang="en-US" sz="1300" b="1" dirty="0">
                <a:solidFill>
                  <a:srgbClr val="FFFFFF"/>
                </a:solidFill>
              </a:rPr>
              <a:t>DVC</a:t>
            </a:r>
            <a:endParaRPr lang="en-US" sz="1300" dirty="0"/>
          </a:p>
        </p:txBody>
      </p:sp>
      <p:sp>
        <p:nvSpPr>
          <p:cNvPr id="19" name="Text 17"/>
          <p:cNvSpPr/>
          <p:nvPr/>
        </p:nvSpPr>
        <p:spPr>
          <a:xfrm>
            <a:off x="2377440" y="2596896"/>
            <a:ext cx="3200400" cy="585216"/>
          </a:xfrm>
          <a:prstGeom prst="rect">
            <a:avLst/>
          </a:prstGeom>
          <a:noFill/>
          <a:ln/>
        </p:spPr>
        <p:txBody>
          <a:bodyPr wrap="square" lIns="0" tIns="0" rIns="0" bIns="0" rtlCol="0" anchor="ctr"/>
          <a:lstStyle/>
          <a:p>
            <a:pPr indent="0" marL="0">
              <a:buNone/>
            </a:pPr>
            <a:r>
              <a:rPr lang="en-US" sz="1000" dirty="0">
                <a:solidFill>
                  <a:srgbClr val="A8C8D8"/>
                </a:solidFill>
              </a:rPr>
              <a:t>Versioning Data</a:t>
            </a:r>
            <a:endParaRPr lang="en-US" sz="1000" dirty="0"/>
          </a:p>
        </p:txBody>
      </p:sp>
      <p:sp>
        <p:nvSpPr>
          <p:cNvPr id="20" name="Shape 18"/>
          <p:cNvSpPr/>
          <p:nvPr/>
        </p:nvSpPr>
        <p:spPr>
          <a:xfrm>
            <a:off x="5669280" y="2761488"/>
            <a:ext cx="1097280" cy="256032"/>
          </a:xfrm>
          <a:prstGeom prst="roundRect">
            <a:avLst>
              <a:gd name="adj" fmla="val 21429"/>
            </a:avLst>
          </a:prstGeom>
          <a:solidFill>
            <a:srgbClr val="0A7E8C"/>
          </a:solidFill>
          <a:ln w="12700">
            <a:solidFill>
              <a:srgbClr val="0A7E8C"/>
            </a:solidFill>
            <a:prstDash val="solid"/>
          </a:ln>
        </p:spPr>
      </p:sp>
      <p:sp>
        <p:nvSpPr>
          <p:cNvPr id="21" name="Text 19"/>
          <p:cNvSpPr/>
          <p:nvPr/>
        </p:nvSpPr>
        <p:spPr>
          <a:xfrm>
            <a:off x="5669280" y="2761488"/>
            <a:ext cx="1097280" cy="256032"/>
          </a:xfrm>
          <a:prstGeom prst="rect">
            <a:avLst/>
          </a:prstGeom>
          <a:noFill/>
          <a:ln/>
        </p:spPr>
        <p:txBody>
          <a:bodyPr wrap="square" lIns="0" tIns="0" rIns="0" bIns="0" rtlCol="0" anchor="ctr"/>
          <a:lstStyle/>
          <a:p>
            <a:pPr algn="ctr" indent="0" marL="0">
              <a:buNone/>
            </a:pPr>
            <a:r>
              <a:rPr lang="en-US" sz="850" b="1" dirty="0">
                <a:solidFill>
                  <a:srgbClr val="FFFFFF"/>
                </a:solidFill>
              </a:rPr>
              <a:t>Reproductibilité</a:t>
            </a:r>
            <a:endParaRPr lang="en-US" sz="850" dirty="0"/>
          </a:p>
        </p:txBody>
      </p:sp>
      <p:sp>
        <p:nvSpPr>
          <p:cNvPr id="22" name="Text 20"/>
          <p:cNvSpPr/>
          <p:nvPr/>
        </p:nvSpPr>
        <p:spPr>
          <a:xfrm>
            <a:off x="6858000" y="2596896"/>
            <a:ext cx="1737360" cy="585216"/>
          </a:xfrm>
          <a:prstGeom prst="rect">
            <a:avLst/>
          </a:prstGeom>
          <a:noFill/>
          <a:ln/>
        </p:spPr>
        <p:txBody>
          <a:bodyPr wrap="square" lIns="0" tIns="0" rIns="0" bIns="0" rtlCol="0" anchor="ctr"/>
          <a:lstStyle/>
          <a:p>
            <a:pPr algn="r" indent="0" marL="0">
              <a:buNone/>
            </a:pPr>
            <a:r>
              <a:rPr lang="en-US" sz="720" dirty="0">
                <a:solidFill>
                  <a:srgbClr val="5AC87A"/>
                </a:solidFill>
              </a:rPr>
              <a:t>✓ Open Source  ✓ K8s  ✓ S3NS  ✓ Agnostique Cloud</a:t>
            </a:r>
            <a:endParaRPr lang="en-US" sz="720" dirty="0"/>
          </a:p>
        </p:txBody>
      </p:sp>
      <p:sp>
        <p:nvSpPr>
          <p:cNvPr id="23" name="Shape 21"/>
          <p:cNvSpPr/>
          <p:nvPr/>
        </p:nvSpPr>
        <p:spPr>
          <a:xfrm>
            <a:off x="365760" y="3255264"/>
            <a:ext cx="8412480" cy="585216"/>
          </a:xfrm>
          <a:prstGeom prst="roundRect">
            <a:avLst>
              <a:gd name="adj" fmla="val 12500"/>
            </a:avLst>
          </a:prstGeom>
          <a:solidFill>
            <a:srgbClr val="FFFFFF">
              <a:alpha val="10000"/>
            </a:srgbClr>
          </a:solidFill>
          <a:ln w="12700">
            <a:solidFill>
              <a:srgbClr val="0A7E8C"/>
            </a:solidFill>
            <a:prstDash val="solid"/>
          </a:ln>
        </p:spPr>
      </p:sp>
      <p:sp>
        <p:nvSpPr>
          <p:cNvPr id="24" name="Text 22"/>
          <p:cNvSpPr/>
          <p:nvPr/>
        </p:nvSpPr>
        <p:spPr>
          <a:xfrm>
            <a:off x="548640" y="3255264"/>
            <a:ext cx="1737360" cy="585216"/>
          </a:xfrm>
          <a:prstGeom prst="rect">
            <a:avLst/>
          </a:prstGeom>
          <a:noFill/>
          <a:ln/>
        </p:spPr>
        <p:txBody>
          <a:bodyPr wrap="square" lIns="0" tIns="0" rIns="0" bIns="0" rtlCol="0" anchor="ctr"/>
          <a:lstStyle/>
          <a:p>
            <a:pPr indent="0" marL="0">
              <a:buNone/>
            </a:pPr>
            <a:r>
              <a:rPr lang="en-US" sz="1300" b="1" dirty="0">
                <a:solidFill>
                  <a:srgbClr val="FFFFFF"/>
                </a:solidFill>
              </a:rPr>
              <a:t>Evidently</a:t>
            </a:r>
            <a:endParaRPr lang="en-US" sz="1300" dirty="0"/>
          </a:p>
        </p:txBody>
      </p:sp>
      <p:sp>
        <p:nvSpPr>
          <p:cNvPr id="25" name="Text 23"/>
          <p:cNvSpPr/>
          <p:nvPr/>
        </p:nvSpPr>
        <p:spPr>
          <a:xfrm>
            <a:off x="2377440" y="3255264"/>
            <a:ext cx="3200400" cy="585216"/>
          </a:xfrm>
          <a:prstGeom prst="rect">
            <a:avLst/>
          </a:prstGeom>
          <a:noFill/>
          <a:ln/>
        </p:spPr>
        <p:txBody>
          <a:bodyPr wrap="square" lIns="0" tIns="0" rIns="0" bIns="0" rtlCol="0" anchor="ctr"/>
          <a:lstStyle/>
          <a:p>
            <a:pPr indent="0" marL="0">
              <a:buNone/>
            </a:pPr>
            <a:r>
              <a:rPr lang="en-US" sz="1000" dirty="0">
                <a:solidFill>
                  <a:srgbClr val="A8C8D8"/>
                </a:solidFill>
              </a:rPr>
              <a:t>Drift &amp; Monitoring</a:t>
            </a:r>
            <a:endParaRPr lang="en-US" sz="1000" dirty="0"/>
          </a:p>
        </p:txBody>
      </p:sp>
      <p:sp>
        <p:nvSpPr>
          <p:cNvPr id="26" name="Shape 24"/>
          <p:cNvSpPr/>
          <p:nvPr/>
        </p:nvSpPr>
        <p:spPr>
          <a:xfrm>
            <a:off x="5669280" y="3419856"/>
            <a:ext cx="1097280" cy="256032"/>
          </a:xfrm>
          <a:prstGeom prst="roundRect">
            <a:avLst>
              <a:gd name="adj" fmla="val 21429"/>
            </a:avLst>
          </a:prstGeom>
          <a:solidFill>
            <a:srgbClr val="0A7E8C"/>
          </a:solidFill>
          <a:ln w="12700">
            <a:solidFill>
              <a:srgbClr val="0A7E8C"/>
            </a:solidFill>
            <a:prstDash val="solid"/>
          </a:ln>
        </p:spPr>
      </p:sp>
      <p:sp>
        <p:nvSpPr>
          <p:cNvPr id="27" name="Text 25"/>
          <p:cNvSpPr/>
          <p:nvPr/>
        </p:nvSpPr>
        <p:spPr>
          <a:xfrm>
            <a:off x="5669280" y="3419856"/>
            <a:ext cx="1097280" cy="256032"/>
          </a:xfrm>
          <a:prstGeom prst="rect">
            <a:avLst/>
          </a:prstGeom>
          <a:noFill/>
          <a:ln/>
        </p:spPr>
        <p:txBody>
          <a:bodyPr wrap="square" lIns="0" tIns="0" rIns="0" bIns="0" rtlCol="0" anchor="ctr"/>
          <a:lstStyle/>
          <a:p>
            <a:pPr algn="ctr" indent="0" marL="0">
              <a:buNone/>
            </a:pPr>
            <a:r>
              <a:rPr lang="en-US" sz="850" b="1" dirty="0">
                <a:solidFill>
                  <a:srgbClr val="FFFFFF"/>
                </a:solidFill>
              </a:rPr>
              <a:t>Qualité</a:t>
            </a:r>
            <a:endParaRPr lang="en-US" sz="850" dirty="0"/>
          </a:p>
        </p:txBody>
      </p:sp>
      <p:sp>
        <p:nvSpPr>
          <p:cNvPr id="28" name="Text 26"/>
          <p:cNvSpPr/>
          <p:nvPr/>
        </p:nvSpPr>
        <p:spPr>
          <a:xfrm>
            <a:off x="6858000" y="3255264"/>
            <a:ext cx="1737360" cy="585216"/>
          </a:xfrm>
          <a:prstGeom prst="rect">
            <a:avLst/>
          </a:prstGeom>
          <a:noFill/>
          <a:ln/>
        </p:spPr>
        <p:txBody>
          <a:bodyPr wrap="square" lIns="0" tIns="0" rIns="0" bIns="0" rtlCol="0" anchor="ctr"/>
          <a:lstStyle/>
          <a:p>
            <a:pPr algn="r" indent="0" marL="0">
              <a:buNone/>
            </a:pPr>
            <a:r>
              <a:rPr lang="en-US" sz="720" dirty="0">
                <a:solidFill>
                  <a:srgbClr val="5AC87A"/>
                </a:solidFill>
              </a:rPr>
              <a:t>✓ Open Source  ✓ K8s  ✓ S3NS  ✓ Agnostique Cloud</a:t>
            </a:r>
            <a:endParaRPr lang="en-US" sz="720" dirty="0"/>
          </a:p>
        </p:txBody>
      </p:sp>
      <p:sp>
        <p:nvSpPr>
          <p:cNvPr id="29" name="Shape 27"/>
          <p:cNvSpPr/>
          <p:nvPr/>
        </p:nvSpPr>
        <p:spPr>
          <a:xfrm>
            <a:off x="365760" y="3913632"/>
            <a:ext cx="8412480" cy="585216"/>
          </a:xfrm>
          <a:prstGeom prst="roundRect">
            <a:avLst>
              <a:gd name="adj" fmla="val 12500"/>
            </a:avLst>
          </a:prstGeom>
          <a:solidFill>
            <a:srgbClr val="FFFFFF">
              <a:alpha val="10000"/>
            </a:srgbClr>
          </a:solidFill>
          <a:ln w="12700">
            <a:solidFill>
              <a:srgbClr val="0A7E8C"/>
            </a:solidFill>
            <a:prstDash val="solid"/>
          </a:ln>
        </p:spPr>
      </p:sp>
      <p:sp>
        <p:nvSpPr>
          <p:cNvPr id="30" name="Text 28"/>
          <p:cNvSpPr/>
          <p:nvPr/>
        </p:nvSpPr>
        <p:spPr>
          <a:xfrm>
            <a:off x="548640" y="3913632"/>
            <a:ext cx="1737360" cy="585216"/>
          </a:xfrm>
          <a:prstGeom prst="rect">
            <a:avLst/>
          </a:prstGeom>
          <a:noFill/>
          <a:ln/>
        </p:spPr>
        <p:txBody>
          <a:bodyPr wrap="square" lIns="0" tIns="0" rIns="0" bIns="0" rtlCol="0" anchor="ctr"/>
          <a:lstStyle/>
          <a:p>
            <a:pPr indent="0" marL="0">
              <a:buNone/>
            </a:pPr>
            <a:r>
              <a:rPr lang="en-US" sz="1300" b="1" dirty="0">
                <a:solidFill>
                  <a:srgbClr val="FFFFFF"/>
                </a:solidFill>
              </a:rPr>
              <a:t>KServe</a:t>
            </a:r>
            <a:endParaRPr lang="en-US" sz="1300" dirty="0"/>
          </a:p>
        </p:txBody>
      </p:sp>
      <p:sp>
        <p:nvSpPr>
          <p:cNvPr id="31" name="Text 29"/>
          <p:cNvSpPr/>
          <p:nvPr/>
        </p:nvSpPr>
        <p:spPr>
          <a:xfrm>
            <a:off x="2377440" y="3913632"/>
            <a:ext cx="3200400" cy="585216"/>
          </a:xfrm>
          <a:prstGeom prst="rect">
            <a:avLst/>
          </a:prstGeom>
          <a:noFill/>
          <a:ln/>
        </p:spPr>
        <p:txBody>
          <a:bodyPr wrap="square" lIns="0" tIns="0" rIns="0" bIns="0" rtlCol="0" anchor="ctr"/>
          <a:lstStyle/>
          <a:p>
            <a:pPr indent="0" marL="0">
              <a:buNone/>
            </a:pPr>
            <a:r>
              <a:rPr lang="en-US" sz="1000" dirty="0">
                <a:solidFill>
                  <a:srgbClr val="A8C8D8"/>
                </a:solidFill>
              </a:rPr>
              <a:t>Model Serving</a:t>
            </a:r>
            <a:endParaRPr lang="en-US" sz="1000" dirty="0"/>
          </a:p>
        </p:txBody>
      </p:sp>
      <p:sp>
        <p:nvSpPr>
          <p:cNvPr id="32" name="Shape 30"/>
          <p:cNvSpPr/>
          <p:nvPr/>
        </p:nvSpPr>
        <p:spPr>
          <a:xfrm>
            <a:off x="5669280" y="4078224"/>
            <a:ext cx="1097280" cy="256032"/>
          </a:xfrm>
          <a:prstGeom prst="roundRect">
            <a:avLst>
              <a:gd name="adj" fmla="val 21429"/>
            </a:avLst>
          </a:prstGeom>
          <a:solidFill>
            <a:srgbClr val="0A7E8C"/>
          </a:solidFill>
          <a:ln w="12700">
            <a:solidFill>
              <a:srgbClr val="0A7E8C"/>
            </a:solidFill>
            <a:prstDash val="solid"/>
          </a:ln>
        </p:spPr>
      </p:sp>
      <p:sp>
        <p:nvSpPr>
          <p:cNvPr id="33" name="Text 31"/>
          <p:cNvSpPr/>
          <p:nvPr/>
        </p:nvSpPr>
        <p:spPr>
          <a:xfrm>
            <a:off x="5669280" y="4078224"/>
            <a:ext cx="1097280" cy="256032"/>
          </a:xfrm>
          <a:prstGeom prst="rect">
            <a:avLst/>
          </a:prstGeom>
          <a:noFill/>
          <a:ln/>
        </p:spPr>
        <p:txBody>
          <a:bodyPr wrap="square" lIns="0" tIns="0" rIns="0" bIns="0" rtlCol="0" anchor="ctr"/>
          <a:lstStyle/>
          <a:p>
            <a:pPr algn="ctr" indent="0" marL="0">
              <a:buNone/>
            </a:pPr>
            <a:r>
              <a:rPr lang="en-US" sz="850" b="1" dirty="0">
                <a:solidFill>
                  <a:srgbClr val="FFFFFF"/>
                </a:solidFill>
              </a:rPr>
              <a:t>Production</a:t>
            </a:r>
            <a:endParaRPr lang="en-US" sz="850" dirty="0"/>
          </a:p>
        </p:txBody>
      </p:sp>
      <p:sp>
        <p:nvSpPr>
          <p:cNvPr id="34" name="Text 32"/>
          <p:cNvSpPr/>
          <p:nvPr/>
        </p:nvSpPr>
        <p:spPr>
          <a:xfrm>
            <a:off x="6858000" y="3913632"/>
            <a:ext cx="1737360" cy="585216"/>
          </a:xfrm>
          <a:prstGeom prst="rect">
            <a:avLst/>
          </a:prstGeom>
          <a:noFill/>
          <a:ln/>
        </p:spPr>
        <p:txBody>
          <a:bodyPr wrap="square" lIns="0" tIns="0" rIns="0" bIns="0" rtlCol="0" anchor="ctr"/>
          <a:lstStyle/>
          <a:p>
            <a:pPr algn="r" indent="0" marL="0">
              <a:buNone/>
            </a:pPr>
            <a:r>
              <a:rPr lang="en-US" sz="720" dirty="0">
                <a:solidFill>
                  <a:srgbClr val="5AC87A"/>
                </a:solidFill>
              </a:rPr>
              <a:t>✓ Open Source  ✓ K8s  ✓ S3NS  ✓ Agnostique Cloud</a:t>
            </a:r>
            <a:endParaRPr lang="en-US" sz="720" dirty="0"/>
          </a:p>
        </p:txBody>
      </p:sp>
      <p:sp>
        <p:nvSpPr>
          <p:cNvPr id="35" name="Text 33"/>
          <p:cNvSpPr/>
          <p:nvPr/>
        </p:nvSpPr>
        <p:spPr>
          <a:xfrm>
            <a:off x="365760" y="4663440"/>
            <a:ext cx="8412480" cy="320040"/>
          </a:xfrm>
          <a:prstGeom prst="rect">
            <a:avLst/>
          </a:prstGeom>
          <a:noFill/>
          <a:ln/>
        </p:spPr>
        <p:txBody>
          <a:bodyPr wrap="square" lIns="0" tIns="0" rIns="0" bIns="0" rtlCol="0" anchor="ctr"/>
          <a:lstStyle/>
          <a:p>
            <a:pPr algn="ctr" indent="0" marL="0">
              <a:buNone/>
            </a:pPr>
            <a:r>
              <a:rPr lang="en-US" sz="850" dirty="0">
                <a:solidFill>
                  <a:srgbClr val="6890A0"/>
                </a:solidFill>
              </a:rPr>
              <a:t>Tous les composants sont Open Source, agnostiques cloud, déployés sur Kubernetes — garantissant portabilité et souveraineté sur S3NS.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Fiches Technologiques MLOps</dc:title>
  <dc:subject>PptxGenJS Presentation</dc:subject>
  <dc:creator>PptxGenJS</dc:creator>
  <cp:lastModifiedBy>PptxGenJS</cp:lastModifiedBy>
  <cp:revision>1</cp:revision>
  <dcterms:created xsi:type="dcterms:W3CDTF">2026-06-18T08:07:51Z</dcterms:created>
  <dcterms:modified xsi:type="dcterms:W3CDTF">2026-06-18T08:07:51Z</dcterms:modified>
</cp:coreProperties>
</file>