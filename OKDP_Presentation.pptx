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(2 min). Se présenter brièvement (rôle, équipe). Annoncer l'objectif de la session : montrer comment moderniser la plateforme data/ML tout en respectant les contraintes de souveraineté du groupe, à travers OKDP.
Annoncer le plan en 3 temps : (1) le constat et la vision, (2) comment ça marche concrètement (architecture, sécurité, cas d'usage), (3) comment démarrer (comparatif, POC).
Poser le cadre : 20-30 minutes, questions bienvenues en cours de route ou à la fin.
Rappeler en une phrase ce qu'est OKDP : plateforme data &amp; ML open source (Apache 2.0), déployée dans le Kubernetes du client — pas un SaaS.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le problème business avant la solution.
Message : aucune des trois options actuelles ne coche toutes les cases (souveraineté, vitesse, gouvernance).
DSI : insister sur le coût caché du DIY (délais, dette technique) et le lock-in du SaaS (TCO, portabilité).
RSSI : insister sur l'externalisation d'identité et de calcul dans les SaaS non souverains.
Transition : "Et si on pouvait avoir le meilleur des deux mondes ?" -&gt; slide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central du deck : OKDP n'est pas un outil de plus, c'est la couche d'intégration souveraine au-dessus d'outils data open source éprouvés.
Architecte : self-hosted, Kubernetes-natif, GitOps — s'intègre au cluster existant.
CDO : une console = simplicité d'accès pour les équipes data.
Ne pas s'attarder sur le détail technique ici, il vient à la slide suivante (architecture 3 couches).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clé pour l'archi et le DSI. Détailler chaque couche brièvement :
- Console : UI unique, rôle-dépendante (admin vs utilisateur métier).
- Control Plane : API Go pilote le GitOps (KuboCD/Flux) ; kubauth gère l'identité souveraine (OIDC, users/groupes) — pas de dépendance à un IdP tiers non maîtrisé.
- Data Plane : les packages (Spark, Airflow, JupyterHub, Trino, Superset, Polaris, SeaweedFS, Vault) sont déployés et mis à jour de façon déclarative via le Control Plane.
Insister : chaque couche reste dans le cluster Kubernetes du client, aucune dépendance à un service externe non maîtrisé.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RSSI / DSI. Le tableau se lit dimension par dimension : données, calcul, identité, secrets, déploiement.
Pour chacune, OKDP la garde dans le périmètre du client ; un SaaS non souverain l'externalise structurellement.
Ne pas nommer d'éditeur en particulier ici — la comparaison nominative (Databricks/Snowflake) vient slide 10.
Si question sur le cloud souverain français/européen : préciser qu'OKDP fonctionne sur tout Kubernetes conforme, on-prem ou cloud souverain, sans dépendance à un cloud public non souverain.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 CDO. Parcourir rapidement les 8 briques, sans s'attarder — le détail technique de chacune n'est pas l'objet ici.
Point important : tous ces composants sont packagés et intégrés nativement (SSO, gouvernance) — c'est la valeur d'OKDP par rapport à un assemblage DIY.
Si question sur MLflow : indiquer que ce n'est pas encore packagé, c'est sur la roadmap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RSSI en particulier : ce parcours illustre l'absence de compte de service partagé entre Superset et Trino.
Quand l'analyste interroge une donnée depuis Superset, la requête envoyée à Trino porte le token de CET utilisateur — pas un compte technique générique.
Conséquence : la gouvernance et les ACL appliquées dans Trino (slide 9) s'appliquent réellement à l'utilisateur final, et l'audit est nominatif.
Insister : c'est un différenciateur fort par rapport à des intégrations BI→SQL classiques qui utilisent un compte de service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CDO / DE. Décrire le flux de gauche à droite : l'utilisateur s'authentifie une fois (kubauth), puis chaque saut (Superset -&gt; Trino -&gt; Polaris -&gt; stockage) porte son identité.
Polaris est le catalogue Iceberg : il permet à plusieurs moteurs de lire/écrire les mêmes tables sans dupliquer la donnée.
La gouvernance (ACL, policies OPA) est appliquée dans Trino — un seul point d'enforcement, cohérent quel que soit l'outil de consommation (Superset, notebook, autre client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dédiée au RSSI. Reformuler les 3 points en insistant sur l'audit : chaque accès est nominatif, tracé, et les groupes sont gérés côté client (souverain).
Anticiper l'objection 'IAM unifié' : préciser honnêtement qu'il n'y a pas d'IAM cross-outils avec autorisation homogène partout — l'identité est centralisée (kubauth/OIDC), mais les autorisations restent spécifiques à chaque outil (ACL Trino, policies Superset, etc.). C'est traité en détail slide 13 (limites).
Si question sur le chiffrement / Vault : Vault et External Secrets gèrent les secrets applicatifs (identifiants techniques, clés), déployés chez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synthèse pour le comité de décision. Lire ligne par ligne, en s'arrêtant sur la colonne OKDP (mise en évidence).
Objection Databricks/Snowflake : rappeler l'argument souveraineté + l'ouverture du format (Iceberg via Polaris) contre le lock-in propriétaire.
Objection DIY : le temps d'ingénierie et la dette technique (SSO, gouvernance, mises à jour) sont sous-estimés en interne la plupart du temps.
Objection Legacy : obsolescence technologique et coût de maintenance croissant, gouvernance hétérogène entre systèmes.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 / équipe plateforme. Insister sur le fait qu'OKDP s'appuie sur des outils GitOps standards (Flux) et une CRD dédiée (KuboCD) plutôt qu'un outillage propriétaire fermé.
Le Control Plane (API Go) est le point d'orchestration, mais l'état désiré reste dans Git — auditable, versionné, revenable.
Si question sur le multi-cloud : Kubernetes étant portable, la même stack peut être répliquée on-prem, cloud souverain ou private cloud sans réécriture.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l'exemple au secteur du client en face si connu, sinon dérouler les trois brièvement.
Banque : le duo SSO + gouvernance Trino répond directement aux exigences d'audit réglementaire tout en ouvrant du self-service BI encadré.
Industrie : Spark/Airflow pour l'ingestion et la transformation de données de production, JupyterHub pour l'exploration data science.
Public : la contrainte de souveraineté est structurelle (hébergement, identité), OKDP répond nativement sans SaaS.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transparence — à assumer sans minimiser, cela renforce la crédibilité plutôt que l'inverse.
MLflow : préciser que le tracking/MLOps n'est pas encore packagé, faire préciser l'horizon si le client insiste (rester factuel, ne pas s'engager sur une date qui n'est pas confirmée).
IAM cross-outils : c'est la nuance importante à ne pas éluder — kubauth centralise l'authentification, mais chaque outil (Trino, Superset...) garde son propre modèle d'autorisation. La gouvernance transverse repose sur Trino comme point d'enforcement principal côté données.
Maturité : Spark, Trino, Airflow, Superset, Iceberg sont des projets établis, utilisés en production ailleurs — OKDP est la couche d'intégration qui, elle, est plus récente et continue d'évoluer.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pivot avant la proposition d'engagement (POC). Ralentir le débit ici, ce sont les 3 messages à retenir de toute la session.
Reformuler chaque point en une phrase, en s'adressant successivement au DSI (souveraineté/TCO), au CDO (lakehouse/self-service) et à l'équipe data (time-to-value).
Transition : "Concrètement, comment le vérifier sur votre environnement, à faible risque ?" -&gt; slide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d'engagement concrète — donner un horizon temporel clair et un périmètre volontairement restreint pour limiter le risque perçu.
Insister : le POC se déroule dans l'environnement du client (pas de démo hébergée ailleurs), ce qui permet de vérifier la souveraineté dès cette étape.
Périmètre volontairement centré sur le triptyque lakehouse (Polaris/Trino/Superset) + identité (kubauth), pour un résultat démontrable en 4-6 semaines.
Prochaine étape logique après cette slide : convenir d'un atelier de cadrage technique (prérequis, sizing — voir annexes).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(1 min). Remercier pour le temps accordé. Résumer en une phrase : OKDP apporte la souveraineté par construction et un lakehouse gouverné, prêt à l'emploi.
Rappeler la proposition concrète : cadrer un POC 4-6 semaines sur leur environnement (voir annexes pour prérequis et sizing indicatif).
Ouvrir sur les questions restantes ; proposer un atelier de cadrage technique comme prochaine étape naturelle si l'intérêt est confirmé.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de référence, à garder sous le coude pour les questions techniques détaillées.
Toutes les briques sont sous licence Apache 2.0 ; les versions précises et la matrice de compatibilité sont à confirmer lors du cadrage technique / atelier de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donner de chiffres ou versions précises non confirmés en séance — renvoyer à l'atelier de cadrage technique qui accompagne le démarrage du POC.
Points à vérifier en atelier : version de Kubernetes supportée, accès réseau sortant/entrant, politique de stockage, intégration à l'IdP existant, gestion des certificats.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Volontairement, aucun chiffre de dimensionnement précis n'est avancé ici : cela dépend des volumétries de données, du nombre d'utilisateurs concurrents et des charges de calcul (Spark) propres au client.
Message clé si on vous pousse sur des chiffres : le dimensionnement se fait lors de l'atelier de cadrage du POC, sur la base de vos cas d'usage réels — proposer cet atelier plutôt que d'improviser des chiffres non engageants.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3C"/>
        </a:solidFill>
      </p:bgPr>
    </p:bg>
    <p:spTree>
      <p:nvGrpSpPr>
        <p:cNvPr id="1" name=""/>
        <p:cNvGrpSpPr/>
        <p:nvPr/>
      </p:nvGrpSpPr>
      <p:grpSpPr>
        <a:xfrm>
          <a:off x="0" y="0"/>
          <a:ext cx="0" cy="0"/>
          <a:chOff x="0" y="0"/>
          <a:chExt cx="0" cy="0"/>
        </a:xfrm>
      </p:grpSpPr>
      <p:sp>
        <p:nvSpPr>
          <p:cNvPr id="2" name="Shape 0"/>
          <p:cNvSpPr/>
          <p:nvPr/>
        </p:nvSpPr>
        <p:spPr>
          <a:xfrm>
            <a:off x="8503920" y="914400"/>
            <a:ext cx="3108960" cy="1051560"/>
          </a:xfrm>
          <a:prstGeom prst="roundRect">
            <a:avLst>
              <a:gd name="adj" fmla="val 8696"/>
            </a:avLst>
          </a:prstGeom>
          <a:solidFill>
            <a:srgbClr val="1E2761"/>
          </a:solidFill>
          <a:ln/>
        </p:spPr>
      </p:sp>
      <p:sp>
        <p:nvSpPr>
          <p:cNvPr id="3" name="Shape 1"/>
          <p:cNvSpPr/>
          <p:nvPr/>
        </p:nvSpPr>
        <p:spPr>
          <a:xfrm>
            <a:off x="8183880" y="2468880"/>
            <a:ext cx="3429000" cy="1051560"/>
          </a:xfrm>
          <a:prstGeom prst="roundRect">
            <a:avLst>
              <a:gd name="adj" fmla="val 8696"/>
            </a:avLst>
          </a:prstGeom>
          <a:solidFill>
            <a:srgbClr val="223072"/>
          </a:solidFill>
          <a:ln/>
        </p:spPr>
      </p:sp>
      <p:sp>
        <p:nvSpPr>
          <p:cNvPr id="4" name="Shape 2"/>
          <p:cNvSpPr/>
          <p:nvPr/>
        </p:nvSpPr>
        <p:spPr>
          <a:xfrm>
            <a:off x="7863840" y="4023360"/>
            <a:ext cx="3749040" cy="1051560"/>
          </a:xfrm>
          <a:prstGeom prst="roundRect">
            <a:avLst>
              <a:gd name="adj" fmla="val 8696"/>
            </a:avLst>
          </a:prstGeom>
          <a:solidFill>
            <a:srgbClr val="2A3B8A"/>
          </a:solidFill>
          <a:ln/>
        </p:spPr>
      </p:sp>
      <p:sp>
        <p:nvSpPr>
          <p:cNvPr id="5" name="Text 3"/>
          <p:cNvSpPr/>
          <p:nvPr/>
        </p:nvSpPr>
        <p:spPr>
          <a:xfrm>
            <a:off x="548640" y="2286000"/>
            <a:ext cx="7680960" cy="320040"/>
          </a:xfrm>
          <a:prstGeom prst="rect">
            <a:avLst/>
          </a:prstGeom>
          <a:noFill/>
          <a:ln/>
        </p:spPr>
        <p:txBody>
          <a:bodyPr wrap="square" lIns="0" tIns="0" rIns="0" bIns="0" rtlCol="0" anchor="ctr"/>
          <a:lstStyle/>
          <a:p>
            <a:pPr indent="0" marL="0">
              <a:buNone/>
            </a:pPr>
            <a:r>
              <a:rPr lang="en-US" sz="1300" b="1" spc="200" kern="0" dirty="0">
                <a:solidFill>
                  <a:srgbClr val="00A896"/>
                </a:solidFill>
                <a:latin typeface="Calibri" pitchFamily="34" charset="0"/>
                <a:ea typeface="Calibri" pitchFamily="34" charset="-122"/>
                <a:cs typeface="Calibri" pitchFamily="34" charset="-120"/>
              </a:rPr>
              <a:t>OPEN SOURCE  ·  APACHE 2.0  ·  KUBERNETES-NATIVE</a:t>
            </a:r>
            <a:endParaRPr lang="en-US" sz="1300" dirty="0"/>
          </a:p>
        </p:txBody>
      </p:sp>
      <p:sp>
        <p:nvSpPr>
          <p:cNvPr id="6" name="Text 4"/>
          <p:cNvSpPr/>
          <p:nvPr/>
        </p:nvSpPr>
        <p:spPr>
          <a:xfrm>
            <a:off x="502920" y="2560320"/>
            <a:ext cx="749808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OKDP</a:t>
            </a:r>
            <a:endParaRPr lang="en-US" sz="6000" dirty="0"/>
          </a:p>
        </p:txBody>
      </p:sp>
      <p:sp>
        <p:nvSpPr>
          <p:cNvPr id="7" name="Text 5"/>
          <p:cNvSpPr/>
          <p:nvPr/>
        </p:nvSpPr>
        <p:spPr>
          <a:xfrm>
            <a:off x="548640" y="3611880"/>
            <a:ext cx="7680960" cy="457200"/>
          </a:xfrm>
          <a:prstGeom prst="rect">
            <a:avLst/>
          </a:prstGeom>
          <a:noFill/>
          <a:ln/>
        </p:spPr>
        <p:txBody>
          <a:bodyPr wrap="square" lIns="0" tIns="0" rIns="0" bIns="0" rtlCol="0" anchor="ctr"/>
          <a:lstStyle/>
          <a:p>
            <a:pPr indent="0" marL="0">
              <a:buNone/>
            </a:pPr>
            <a:r>
              <a:rPr lang="en-US" sz="2200" i="1" dirty="0">
                <a:solidFill>
                  <a:srgbClr val="CADCFC"/>
                </a:solidFill>
                <a:latin typeface="Cambria" pitchFamily="34" charset="0"/>
                <a:ea typeface="Cambria" pitchFamily="34" charset="-122"/>
                <a:cs typeface="Cambria" pitchFamily="34" charset="-120"/>
              </a:rPr>
              <a:t>Open Kubernetes Data Platform</a:t>
            </a:r>
            <a:endParaRPr lang="en-US" sz="2200" dirty="0"/>
          </a:p>
        </p:txBody>
      </p:sp>
      <p:sp>
        <p:nvSpPr>
          <p:cNvPr id="8" name="Text 6"/>
          <p:cNvSpPr/>
          <p:nvPr/>
        </p:nvSpPr>
        <p:spPr>
          <a:xfrm>
            <a:off x="548640" y="4160520"/>
            <a:ext cx="768096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La plateforme data &amp; IA souveraine, sur votre Kubernetes</a:t>
            </a:r>
            <a:endParaRPr lang="en-US" sz="1600" dirty="0"/>
          </a:p>
        </p:txBody>
      </p:sp>
      <p:sp>
        <p:nvSpPr>
          <p:cNvPr id="9" name="Shape 7"/>
          <p:cNvSpPr/>
          <p:nvPr/>
        </p:nvSpPr>
        <p:spPr>
          <a:xfrm>
            <a:off x="566928" y="4892040"/>
            <a:ext cx="2926080" cy="0"/>
          </a:xfrm>
          <a:prstGeom prst="line">
            <a:avLst/>
          </a:prstGeom>
          <a:noFill/>
          <a:ln w="25400">
            <a:solidFill>
              <a:srgbClr val="00A896"/>
            </a:solidFill>
            <a:prstDash val="solid"/>
          </a:ln>
        </p:spPr>
      </p:sp>
      <p:sp>
        <p:nvSpPr>
          <p:cNvPr id="10" name="Text 8"/>
          <p:cNvSpPr/>
          <p:nvPr/>
        </p:nvSpPr>
        <p:spPr>
          <a:xfrm>
            <a:off x="548640" y="5074920"/>
            <a:ext cx="768096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Présenté à : [Client]     •     [Date]     •     [Intervenant]</a:t>
            </a:r>
            <a:endParaRPr lang="en-US" sz="1200" dirty="0"/>
          </a:p>
        </p:txBody>
      </p:sp>
      <p:sp>
        <p:nvSpPr>
          <p:cNvPr id="11" name="Text 9"/>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2" name="Text 10"/>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01 — LE CONSTAT</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Trois voies, trois compromis pour la donnée</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Souveraineté vs SaaS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les données sensibles et le cadre réglementaire limitent le recours à des plateformes SaaS non souveraines (hébergement, identité et calcul externalisés).</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DIY Helm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assembler soi-même Spark, Trino, Airflow, Superset sur Kubernetes prend des mois d'ingénierie, sans SSO ni gouvernance transverses dès le départ.</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Databricks / Snowflake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résolvent le time-to-value, mais recréent un lock-in propriétaire et externalisent identité, gouvernance et calcul hors de votre périmètre.</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Il manque une plateforme data/ML à la fois souveraine et prête à l'emploi.</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Constat</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02 — LA VISION</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Une plateforme, chez vous, prête à l'emploi</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Open source, chez vous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OKDP est une plateforme data &amp; ML Apache 2.0, déployée dans votre Kubernetes — on-prem, cloud souverain ou private cloud. Pas de SaaS.</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Une console unique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administration et consommation des services data (Spark, Airflow, Trino, Superset, Polaris…) depuis un seul point d'entrée.</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Un socle cohérent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une identité, une gouvernance, un pipeline GitOps — la même stack du poste de développement à la production.</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Le contrôle reste chez vous : données, calcul, identité, secrets, déploiement.</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Vision</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03 — ARCHITECTURE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Trois couches, une seule plateforme</a:t>
            </a:r>
            <a:endParaRPr lang="en-US" sz="3000" dirty="0"/>
          </a:p>
        </p:txBody>
      </p:sp>
      <p:sp>
        <p:nvSpPr>
          <p:cNvPr id="4" name="Shape 2"/>
          <p:cNvSpPr/>
          <p:nvPr/>
        </p:nvSpPr>
        <p:spPr>
          <a:xfrm>
            <a:off x="502920" y="1691640"/>
            <a:ext cx="11155680" cy="914400"/>
          </a:xfrm>
          <a:prstGeom prst="roundRect">
            <a:avLst>
              <a:gd name="adj" fmla="val 8000"/>
            </a:avLst>
          </a:prstGeom>
          <a:solidFill>
            <a:srgbClr val="1E2761"/>
          </a:solidFill>
          <a:ln/>
        </p:spPr>
      </p:sp>
      <p:sp>
        <p:nvSpPr>
          <p:cNvPr id="5" name="Text 3"/>
          <p:cNvSpPr/>
          <p:nvPr/>
        </p:nvSpPr>
        <p:spPr>
          <a:xfrm>
            <a:off x="777240" y="1783080"/>
            <a:ext cx="292608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Console</a:t>
            </a:r>
            <a:endParaRPr lang="en-US" sz="1800" dirty="0"/>
          </a:p>
        </p:txBody>
      </p:sp>
      <p:sp>
        <p:nvSpPr>
          <p:cNvPr id="6" name="Text 4"/>
          <p:cNvSpPr/>
          <p:nvPr/>
        </p:nvSpPr>
        <p:spPr>
          <a:xfrm>
            <a:off x="3703320" y="1783080"/>
            <a:ext cx="7680960" cy="73152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Point d'entrée unique — administration et consommation des services data</a:t>
            </a:r>
            <a:endParaRPr lang="en-US" sz="1250" dirty="0"/>
          </a:p>
        </p:txBody>
      </p:sp>
      <p:sp>
        <p:nvSpPr>
          <p:cNvPr id="7" name="Shape 5"/>
          <p:cNvSpPr/>
          <p:nvPr/>
        </p:nvSpPr>
        <p:spPr>
          <a:xfrm>
            <a:off x="502920" y="2788920"/>
            <a:ext cx="11155680" cy="1234440"/>
          </a:xfrm>
          <a:prstGeom prst="roundRect">
            <a:avLst>
              <a:gd name="adj" fmla="val 5926"/>
            </a:avLst>
          </a:prstGeom>
          <a:solidFill>
            <a:srgbClr val="223072"/>
          </a:solidFill>
          <a:ln/>
        </p:spPr>
      </p:sp>
      <p:sp>
        <p:nvSpPr>
          <p:cNvPr id="8" name="Text 6"/>
          <p:cNvSpPr/>
          <p:nvPr/>
        </p:nvSpPr>
        <p:spPr>
          <a:xfrm>
            <a:off x="777240" y="2880360"/>
            <a:ext cx="2926080" cy="10515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Control Plane</a:t>
            </a:r>
            <a:endParaRPr lang="en-US" sz="1800" dirty="0"/>
          </a:p>
        </p:txBody>
      </p:sp>
      <p:sp>
        <p:nvSpPr>
          <p:cNvPr id="9" name="Text 7"/>
          <p:cNvSpPr/>
          <p:nvPr/>
        </p:nvSpPr>
        <p:spPr>
          <a:xfrm>
            <a:off x="3703320" y="2880360"/>
            <a:ext cx="7680960" cy="105156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API Go  ·  KuboCD / Flux (GitOps)  ·  kubauth (identité OIDC souveraine, users &amp; groupes)</a:t>
            </a:r>
            <a:endParaRPr lang="en-US" sz="1250" dirty="0"/>
          </a:p>
        </p:txBody>
      </p:sp>
      <p:sp>
        <p:nvSpPr>
          <p:cNvPr id="10" name="Shape 8"/>
          <p:cNvSpPr/>
          <p:nvPr/>
        </p:nvSpPr>
        <p:spPr>
          <a:xfrm>
            <a:off x="502920" y="4206240"/>
            <a:ext cx="11155680" cy="1417320"/>
          </a:xfrm>
          <a:prstGeom prst="roundRect">
            <a:avLst>
              <a:gd name="adj" fmla="val 5161"/>
            </a:avLst>
          </a:prstGeom>
          <a:solidFill>
            <a:srgbClr val="017A72"/>
          </a:solidFill>
          <a:ln/>
        </p:spPr>
      </p:sp>
      <p:sp>
        <p:nvSpPr>
          <p:cNvPr id="11" name="Text 9"/>
          <p:cNvSpPr/>
          <p:nvPr/>
        </p:nvSpPr>
        <p:spPr>
          <a:xfrm>
            <a:off x="777240" y="4297680"/>
            <a:ext cx="2926080" cy="12344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Data Plane</a:t>
            </a:r>
            <a:endParaRPr lang="en-US" sz="1800" dirty="0"/>
          </a:p>
        </p:txBody>
      </p:sp>
      <p:sp>
        <p:nvSpPr>
          <p:cNvPr id="12" name="Text 10"/>
          <p:cNvSpPr/>
          <p:nvPr/>
        </p:nvSpPr>
        <p:spPr>
          <a:xfrm>
            <a:off x="3703320" y="4297680"/>
            <a:ext cx="7680960" cy="123444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Spark · Airflow · JupyterHub · Trino · Superset · Polaris · SeaweedFS (S3) · Vault / External Secrets</a:t>
            </a:r>
            <a:endParaRPr lang="en-US" sz="1250" dirty="0"/>
          </a:p>
        </p:txBody>
      </p:sp>
      <p:sp>
        <p:nvSpPr>
          <p:cNvPr id="13" name="Shape 11"/>
          <p:cNvSpPr/>
          <p:nvPr/>
        </p:nvSpPr>
        <p:spPr>
          <a:xfrm>
            <a:off x="6080760" y="2606040"/>
            <a:ext cx="9144" cy="182880"/>
          </a:xfrm>
          <a:prstGeom prst="line">
            <a:avLst/>
          </a:prstGeom>
          <a:noFill/>
          <a:ln w="25400">
            <a:solidFill>
              <a:srgbClr val="D7DEEC"/>
            </a:solidFill>
            <a:prstDash val="solid"/>
            <a:tailEnd type="triangle"/>
          </a:ln>
        </p:spPr>
      </p:sp>
      <p:sp>
        <p:nvSpPr>
          <p:cNvPr id="14" name="Shape 12"/>
          <p:cNvSpPr/>
          <p:nvPr/>
        </p:nvSpPr>
        <p:spPr>
          <a:xfrm>
            <a:off x="6080760" y="4023360"/>
            <a:ext cx="9144" cy="182880"/>
          </a:xfrm>
          <a:prstGeom prst="line">
            <a:avLst/>
          </a:prstGeom>
          <a:noFill/>
          <a:ln w="25400">
            <a:solidFill>
              <a:srgbClr val="D7DEEC"/>
            </a:solidFill>
            <a:prstDash val="solid"/>
            <a:tailEnd type="triangle"/>
          </a:ln>
        </p:spPr>
      </p:sp>
      <p:sp>
        <p:nvSpPr>
          <p:cNvPr id="15" name="Shape 13"/>
          <p:cNvSpPr/>
          <p:nvPr/>
        </p:nvSpPr>
        <p:spPr>
          <a:xfrm>
            <a:off x="502920" y="5870448"/>
            <a:ext cx="11155680" cy="566928"/>
          </a:xfrm>
          <a:prstGeom prst="roundRect">
            <a:avLst>
              <a:gd name="adj" fmla="val 12903"/>
            </a:avLst>
          </a:prstGeom>
          <a:solidFill>
            <a:srgbClr val="E9EEF9"/>
          </a:solidFill>
          <a:ln/>
        </p:spPr>
      </p:sp>
      <p:sp>
        <p:nvSpPr>
          <p:cNvPr id="16" name="Text 14"/>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Une architecture GitOps : tout est déclaratif, traçable, reproductible.</a:t>
            </a:r>
            <a:endParaRPr lang="en-US" sz="1200" dirty="0"/>
          </a:p>
        </p:txBody>
      </p:sp>
      <p:sp>
        <p:nvSpPr>
          <p:cNvPr id="17" name="Text 15"/>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8" name="Text 16"/>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Architecture</a:t>
            </a:r>
            <a:endParaRPr lang="en-US" sz="900" dirty="0"/>
          </a:p>
        </p:txBody>
      </p:sp>
      <p:sp>
        <p:nvSpPr>
          <p:cNvPr id="19" name="Text 17"/>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04 — SOUVERAINETÉ</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La souveraineté par l'architecture, pas par contrat</a:t>
            </a:r>
            <a:endParaRPr lang="en-US" sz="3000" dirty="0"/>
          </a:p>
        </p:txBody>
      </p:sp>
      <p:sp>
        <p:nvSpPr>
          <p:cNvPr id="4" name="Text 2"/>
          <p:cNvSpPr/>
          <p:nvPr/>
        </p:nvSpPr>
        <p:spPr>
          <a:xfrm>
            <a:off x="502920" y="1463040"/>
            <a:ext cx="2926080" cy="457200"/>
          </a:xfrm>
          <a:prstGeom prst="rect">
            <a:avLst/>
          </a:prstGeom>
          <a:noFill/>
          <a:ln/>
        </p:spPr>
        <p:txBody>
          <a:bodyPr wrap="square" lIns="0" tIns="0" rIns="0" bIns="0"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Dimension</a:t>
            </a:r>
            <a:endParaRPr lang="en-US" sz="1200" dirty="0"/>
          </a:p>
        </p:txBody>
      </p:sp>
      <p:sp>
        <p:nvSpPr>
          <p:cNvPr id="5" name="Shape 3"/>
          <p:cNvSpPr/>
          <p:nvPr/>
        </p:nvSpPr>
        <p:spPr>
          <a:xfrm>
            <a:off x="3566160" y="1463040"/>
            <a:ext cx="3840480" cy="457200"/>
          </a:xfrm>
          <a:prstGeom prst="roundRect">
            <a:avLst>
              <a:gd name="adj" fmla="val 12000"/>
            </a:avLst>
          </a:prstGeom>
          <a:solidFill>
            <a:srgbClr val="1E2761"/>
          </a:solidFill>
          <a:ln/>
        </p:spPr>
      </p:sp>
      <p:sp>
        <p:nvSpPr>
          <p:cNvPr id="6" name="Text 4"/>
          <p:cNvSpPr/>
          <p:nvPr/>
        </p:nvSpPr>
        <p:spPr>
          <a:xfrm>
            <a:off x="3566160" y="1463040"/>
            <a:ext cx="38404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OKDP — chez vous</a:t>
            </a:r>
            <a:endParaRPr lang="en-US" sz="1300" dirty="0"/>
          </a:p>
        </p:txBody>
      </p:sp>
      <p:sp>
        <p:nvSpPr>
          <p:cNvPr id="7" name="Shape 5"/>
          <p:cNvSpPr/>
          <p:nvPr/>
        </p:nvSpPr>
        <p:spPr>
          <a:xfrm>
            <a:off x="7635240" y="1463040"/>
            <a:ext cx="3840480" cy="457200"/>
          </a:xfrm>
          <a:prstGeom prst="roundRect">
            <a:avLst>
              <a:gd name="adj" fmla="val 12000"/>
            </a:avLst>
          </a:prstGeom>
          <a:solidFill>
            <a:srgbClr val="B54747"/>
          </a:solidFill>
          <a:ln/>
        </p:spPr>
      </p:sp>
      <p:sp>
        <p:nvSpPr>
          <p:cNvPr id="8" name="Text 6"/>
          <p:cNvSpPr/>
          <p:nvPr/>
        </p:nvSpPr>
        <p:spPr>
          <a:xfrm>
            <a:off x="7635240" y="1463040"/>
            <a:ext cx="38404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SaaS non souverain</a:t>
            </a:r>
            <a:endParaRPr lang="en-US" sz="1300" dirty="0"/>
          </a:p>
        </p:txBody>
      </p:sp>
      <p:sp>
        <p:nvSpPr>
          <p:cNvPr id="9" name="Text 7"/>
          <p:cNvSpPr/>
          <p:nvPr/>
        </p:nvSpPr>
        <p:spPr>
          <a:xfrm>
            <a:off x="502920" y="2148840"/>
            <a:ext cx="2926080" cy="7498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Données</a:t>
            </a:r>
            <a:endParaRPr lang="en-US" sz="1300" dirty="0"/>
          </a:p>
        </p:txBody>
      </p:sp>
      <p:sp>
        <p:nvSpPr>
          <p:cNvPr id="10" name="Text 8"/>
          <p:cNvSpPr/>
          <p:nvPr/>
        </p:nvSpPr>
        <p:spPr>
          <a:xfrm>
            <a:off x="3566160" y="2148840"/>
            <a:ext cx="3840480" cy="749808"/>
          </a:xfrm>
          <a:prstGeom prst="rect">
            <a:avLst/>
          </a:prstGeom>
          <a:noFill/>
          <a:ln/>
        </p:spPr>
        <p:txBody>
          <a:bodyPr wrap="square" lIns="635" tIns="635" rIns="635" bIns="635" rtlCol="0" anchor="ctr"/>
          <a:lstStyle/>
          <a:p>
            <a:pPr algn="l" indent="0" marL="0">
              <a:buNone/>
            </a:pPr>
            <a:r>
              <a:rPr lang="en-US" sz="1200" b="1" dirty="0">
                <a:solidFill>
                  <a:srgbClr val="017A72"/>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Hébergées dans votre cluster</a:t>
            </a:r>
            <a:endParaRPr lang="en-US" sz="1200" dirty="0"/>
          </a:p>
        </p:txBody>
      </p:sp>
      <p:sp>
        <p:nvSpPr>
          <p:cNvPr id="11" name="Text 9"/>
          <p:cNvSpPr/>
          <p:nvPr/>
        </p:nvSpPr>
        <p:spPr>
          <a:xfrm>
            <a:off x="7635240" y="2148840"/>
            <a:ext cx="3840480" cy="749808"/>
          </a:xfrm>
          <a:prstGeom prst="rect">
            <a:avLst/>
          </a:prstGeom>
          <a:noFill/>
          <a:ln/>
        </p:spPr>
        <p:txBody>
          <a:bodyPr wrap="square" lIns="635" tIns="635" rIns="635" bIns="635" rtlCol="0" anchor="ctr"/>
          <a:lstStyle/>
          <a:p>
            <a:pPr algn="l" indent="0" marL="0">
              <a:buNone/>
            </a:pPr>
            <a:r>
              <a:rPr lang="en-US" sz="1200" b="1" dirty="0">
                <a:solidFill>
                  <a:srgbClr val="B54747"/>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Externalisées chez l'éditeur</a:t>
            </a:r>
            <a:endParaRPr lang="en-US" sz="1200" dirty="0"/>
          </a:p>
        </p:txBody>
      </p:sp>
      <p:sp>
        <p:nvSpPr>
          <p:cNvPr id="12" name="Shape 10"/>
          <p:cNvSpPr/>
          <p:nvPr/>
        </p:nvSpPr>
        <p:spPr>
          <a:xfrm>
            <a:off x="502920" y="2898648"/>
            <a:ext cx="11155680" cy="749808"/>
          </a:xfrm>
          <a:prstGeom prst="rect">
            <a:avLst/>
          </a:prstGeom>
          <a:solidFill>
            <a:srgbClr val="F2F5FC"/>
          </a:solidFill>
          <a:ln/>
        </p:spPr>
      </p:sp>
      <p:sp>
        <p:nvSpPr>
          <p:cNvPr id="13" name="Text 11"/>
          <p:cNvSpPr/>
          <p:nvPr/>
        </p:nvSpPr>
        <p:spPr>
          <a:xfrm>
            <a:off x="502920" y="2898648"/>
            <a:ext cx="2926080" cy="7498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Calcul</a:t>
            </a:r>
            <a:endParaRPr lang="en-US" sz="1300" dirty="0"/>
          </a:p>
        </p:txBody>
      </p:sp>
      <p:sp>
        <p:nvSpPr>
          <p:cNvPr id="14" name="Text 12"/>
          <p:cNvSpPr/>
          <p:nvPr/>
        </p:nvSpPr>
        <p:spPr>
          <a:xfrm>
            <a:off x="3566160" y="2898648"/>
            <a:ext cx="3840480" cy="749808"/>
          </a:xfrm>
          <a:prstGeom prst="rect">
            <a:avLst/>
          </a:prstGeom>
          <a:noFill/>
          <a:ln/>
        </p:spPr>
        <p:txBody>
          <a:bodyPr wrap="square" lIns="635" tIns="635" rIns="635" bIns="635" rtlCol="0" anchor="ctr"/>
          <a:lstStyle/>
          <a:p>
            <a:pPr algn="l" indent="0" marL="0">
              <a:buNone/>
            </a:pPr>
            <a:r>
              <a:rPr lang="en-US" sz="1200" b="1" dirty="0">
                <a:solidFill>
                  <a:srgbClr val="017A72"/>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Exécuté sur votre infrastructure</a:t>
            </a:r>
            <a:endParaRPr lang="en-US" sz="1200" dirty="0"/>
          </a:p>
        </p:txBody>
      </p:sp>
      <p:sp>
        <p:nvSpPr>
          <p:cNvPr id="15" name="Text 13"/>
          <p:cNvSpPr/>
          <p:nvPr/>
        </p:nvSpPr>
        <p:spPr>
          <a:xfrm>
            <a:off x="7635240" y="2898648"/>
            <a:ext cx="3840480" cy="749808"/>
          </a:xfrm>
          <a:prstGeom prst="rect">
            <a:avLst/>
          </a:prstGeom>
          <a:noFill/>
          <a:ln/>
        </p:spPr>
        <p:txBody>
          <a:bodyPr wrap="square" lIns="635" tIns="635" rIns="635" bIns="635" rtlCol="0" anchor="ctr"/>
          <a:lstStyle/>
          <a:p>
            <a:pPr algn="l" indent="0" marL="0">
              <a:buNone/>
            </a:pPr>
            <a:r>
              <a:rPr lang="en-US" sz="1200" b="1" dirty="0">
                <a:solidFill>
                  <a:srgbClr val="B54747"/>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Exécuté chez l'éditeur</a:t>
            </a:r>
            <a:endParaRPr lang="en-US" sz="1200" dirty="0"/>
          </a:p>
        </p:txBody>
      </p:sp>
      <p:sp>
        <p:nvSpPr>
          <p:cNvPr id="16" name="Text 14"/>
          <p:cNvSpPr/>
          <p:nvPr/>
        </p:nvSpPr>
        <p:spPr>
          <a:xfrm>
            <a:off x="502920" y="3648456"/>
            <a:ext cx="2926080" cy="7498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Identité</a:t>
            </a:r>
            <a:endParaRPr lang="en-US" sz="1300" dirty="0"/>
          </a:p>
        </p:txBody>
      </p:sp>
      <p:sp>
        <p:nvSpPr>
          <p:cNvPr id="17" name="Text 15"/>
          <p:cNvSpPr/>
          <p:nvPr/>
        </p:nvSpPr>
        <p:spPr>
          <a:xfrm>
            <a:off x="3566160" y="3648456"/>
            <a:ext cx="3840480" cy="749808"/>
          </a:xfrm>
          <a:prstGeom prst="rect">
            <a:avLst/>
          </a:prstGeom>
          <a:noFill/>
          <a:ln/>
        </p:spPr>
        <p:txBody>
          <a:bodyPr wrap="square" lIns="635" tIns="635" rIns="635" bIns="635" rtlCol="0" anchor="ctr"/>
          <a:lstStyle/>
          <a:p>
            <a:pPr algn="l" indent="0" marL="0">
              <a:buNone/>
            </a:pPr>
            <a:r>
              <a:rPr lang="en-US" sz="1200" b="1" dirty="0">
                <a:solidFill>
                  <a:srgbClr val="017A72"/>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kubauth (OIDC), groupes souverains</a:t>
            </a:r>
            <a:endParaRPr lang="en-US" sz="1200" dirty="0"/>
          </a:p>
        </p:txBody>
      </p:sp>
      <p:sp>
        <p:nvSpPr>
          <p:cNvPr id="18" name="Text 16"/>
          <p:cNvSpPr/>
          <p:nvPr/>
        </p:nvSpPr>
        <p:spPr>
          <a:xfrm>
            <a:off x="7635240" y="3648456"/>
            <a:ext cx="3840480" cy="749808"/>
          </a:xfrm>
          <a:prstGeom prst="rect">
            <a:avLst/>
          </a:prstGeom>
          <a:noFill/>
          <a:ln/>
        </p:spPr>
        <p:txBody>
          <a:bodyPr wrap="square" lIns="635" tIns="635" rIns="635" bIns="635" rtlCol="0" anchor="ctr"/>
          <a:lstStyle/>
          <a:p>
            <a:pPr algn="l" indent="0" marL="0">
              <a:buNone/>
            </a:pPr>
            <a:r>
              <a:rPr lang="en-US" sz="1200" b="1" dirty="0">
                <a:solidFill>
                  <a:srgbClr val="B54747"/>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IdP et comptes gérés par l'éditeur</a:t>
            </a:r>
            <a:endParaRPr lang="en-US" sz="1200" dirty="0"/>
          </a:p>
        </p:txBody>
      </p:sp>
      <p:sp>
        <p:nvSpPr>
          <p:cNvPr id="19" name="Shape 17"/>
          <p:cNvSpPr/>
          <p:nvPr/>
        </p:nvSpPr>
        <p:spPr>
          <a:xfrm>
            <a:off x="502920" y="4398264"/>
            <a:ext cx="11155680" cy="749808"/>
          </a:xfrm>
          <a:prstGeom prst="rect">
            <a:avLst/>
          </a:prstGeom>
          <a:solidFill>
            <a:srgbClr val="F2F5FC"/>
          </a:solidFill>
          <a:ln/>
        </p:spPr>
      </p:sp>
      <p:sp>
        <p:nvSpPr>
          <p:cNvPr id="20" name="Text 18"/>
          <p:cNvSpPr/>
          <p:nvPr/>
        </p:nvSpPr>
        <p:spPr>
          <a:xfrm>
            <a:off x="502920" y="4398264"/>
            <a:ext cx="2926080" cy="7498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Secrets</a:t>
            </a:r>
            <a:endParaRPr lang="en-US" sz="1300" dirty="0"/>
          </a:p>
        </p:txBody>
      </p:sp>
      <p:sp>
        <p:nvSpPr>
          <p:cNvPr id="21" name="Text 19"/>
          <p:cNvSpPr/>
          <p:nvPr/>
        </p:nvSpPr>
        <p:spPr>
          <a:xfrm>
            <a:off x="3566160" y="4398264"/>
            <a:ext cx="3840480" cy="749808"/>
          </a:xfrm>
          <a:prstGeom prst="rect">
            <a:avLst/>
          </a:prstGeom>
          <a:noFill/>
          <a:ln/>
        </p:spPr>
        <p:txBody>
          <a:bodyPr wrap="square" lIns="635" tIns="635" rIns="635" bIns="635" rtlCol="0" anchor="ctr"/>
          <a:lstStyle/>
          <a:p>
            <a:pPr algn="l" indent="0" marL="0">
              <a:buNone/>
            </a:pPr>
            <a:r>
              <a:rPr lang="en-US" sz="1200" b="1" dirty="0">
                <a:solidFill>
                  <a:srgbClr val="017A72"/>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Vault / External Secrets, chez vous</a:t>
            </a:r>
            <a:endParaRPr lang="en-US" sz="1200" dirty="0"/>
          </a:p>
        </p:txBody>
      </p:sp>
      <p:sp>
        <p:nvSpPr>
          <p:cNvPr id="22" name="Text 20"/>
          <p:cNvSpPr/>
          <p:nvPr/>
        </p:nvSpPr>
        <p:spPr>
          <a:xfrm>
            <a:off x="7635240" y="4398264"/>
            <a:ext cx="3840480" cy="749808"/>
          </a:xfrm>
          <a:prstGeom prst="rect">
            <a:avLst/>
          </a:prstGeom>
          <a:noFill/>
          <a:ln/>
        </p:spPr>
        <p:txBody>
          <a:bodyPr wrap="square" lIns="635" tIns="635" rIns="635" bIns="635" rtlCol="0" anchor="ctr"/>
          <a:lstStyle/>
          <a:p>
            <a:pPr algn="l" indent="0" marL="0">
              <a:buNone/>
            </a:pPr>
            <a:r>
              <a:rPr lang="en-US" sz="1200" b="1" dirty="0">
                <a:solidFill>
                  <a:srgbClr val="B54747"/>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Gérés côté éditeur</a:t>
            </a:r>
            <a:endParaRPr lang="en-US" sz="1200" dirty="0"/>
          </a:p>
        </p:txBody>
      </p:sp>
      <p:sp>
        <p:nvSpPr>
          <p:cNvPr id="23" name="Text 21"/>
          <p:cNvSpPr/>
          <p:nvPr/>
        </p:nvSpPr>
        <p:spPr>
          <a:xfrm>
            <a:off x="502920" y="5148072"/>
            <a:ext cx="2926080" cy="7498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Déploiement</a:t>
            </a:r>
            <a:endParaRPr lang="en-US" sz="1300" dirty="0"/>
          </a:p>
        </p:txBody>
      </p:sp>
      <p:sp>
        <p:nvSpPr>
          <p:cNvPr id="24" name="Text 22"/>
          <p:cNvSpPr/>
          <p:nvPr/>
        </p:nvSpPr>
        <p:spPr>
          <a:xfrm>
            <a:off x="3566160" y="5148072"/>
            <a:ext cx="3840480" cy="749808"/>
          </a:xfrm>
          <a:prstGeom prst="rect">
            <a:avLst/>
          </a:prstGeom>
          <a:noFill/>
          <a:ln/>
        </p:spPr>
        <p:txBody>
          <a:bodyPr wrap="square" lIns="635" tIns="635" rIns="635" bIns="635" rtlCol="0" anchor="ctr"/>
          <a:lstStyle/>
          <a:p>
            <a:pPr algn="l" indent="0" marL="0">
              <a:buNone/>
            </a:pPr>
            <a:r>
              <a:rPr lang="en-US" sz="1200" b="1" dirty="0">
                <a:solidFill>
                  <a:srgbClr val="017A72"/>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GitOps (KuboCD/Flux), sous votre contrôle</a:t>
            </a:r>
            <a:endParaRPr lang="en-US" sz="1200" dirty="0"/>
          </a:p>
        </p:txBody>
      </p:sp>
      <p:sp>
        <p:nvSpPr>
          <p:cNvPr id="25" name="Text 23"/>
          <p:cNvSpPr/>
          <p:nvPr/>
        </p:nvSpPr>
        <p:spPr>
          <a:xfrm>
            <a:off x="7635240" y="5148072"/>
            <a:ext cx="3840480" cy="749808"/>
          </a:xfrm>
          <a:prstGeom prst="rect">
            <a:avLst/>
          </a:prstGeom>
          <a:noFill/>
          <a:ln/>
        </p:spPr>
        <p:txBody>
          <a:bodyPr wrap="square" lIns="635" tIns="635" rIns="635" bIns="635" rtlCol="0" anchor="ctr"/>
          <a:lstStyle/>
          <a:p>
            <a:pPr algn="l" indent="0" marL="0">
              <a:buNone/>
            </a:pPr>
            <a:r>
              <a:rPr lang="en-US" sz="1200" b="1" dirty="0">
                <a:solidFill>
                  <a:srgbClr val="B54747"/>
                </a:solidFill>
                <a:latin typeface="Calibri" pitchFamily="34" charset="0"/>
                <a:ea typeface="Calibri" pitchFamily="34" charset="-122"/>
                <a:cs typeface="Calibri" pitchFamily="34" charset="-120"/>
              </a:rPr>
              <a:t>✕  </a:t>
            </a:r>
            <a:pPr algn="l" indent="0" marL="0">
              <a:buNone/>
            </a:pPr>
            <a:r>
              <a:rPr lang="en-US" sz="1200" dirty="0">
                <a:solidFill>
                  <a:srgbClr val="1B2033"/>
                </a:solidFill>
                <a:latin typeface="Calibri" pitchFamily="34" charset="0"/>
                <a:ea typeface="Calibri" pitchFamily="34" charset="-122"/>
                <a:cs typeface="Calibri" pitchFamily="34" charset="-120"/>
              </a:rPr>
              <a:t>Pipelines propriétaires de l'éditeur</a:t>
            </a:r>
            <a:endParaRPr lang="en-US" sz="1200" dirty="0"/>
          </a:p>
        </p:txBody>
      </p:sp>
      <p:sp>
        <p:nvSpPr>
          <p:cNvPr id="26" name="Shape 24"/>
          <p:cNvSpPr/>
          <p:nvPr/>
        </p:nvSpPr>
        <p:spPr>
          <a:xfrm>
            <a:off x="502920" y="5870448"/>
            <a:ext cx="11155680" cy="566928"/>
          </a:xfrm>
          <a:prstGeom prst="roundRect">
            <a:avLst>
              <a:gd name="adj" fmla="val 12903"/>
            </a:avLst>
          </a:prstGeom>
          <a:solidFill>
            <a:srgbClr val="E9EEF9"/>
          </a:solidFill>
          <a:ln/>
        </p:spPr>
      </p:sp>
      <p:sp>
        <p:nvSpPr>
          <p:cNvPr id="27" name="Text 25"/>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Avec OKDP, la souveraineté n'est pas une clause contractuelle, c'est l'architecture.</a:t>
            </a:r>
            <a:endParaRPr lang="en-US" sz="1200" dirty="0"/>
          </a:p>
        </p:txBody>
      </p:sp>
      <p:sp>
        <p:nvSpPr>
          <p:cNvPr id="28" name="Text 26"/>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29" name="Text 27"/>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Souveraineté</a:t>
            </a:r>
            <a:endParaRPr lang="en-US" sz="900" dirty="0"/>
          </a:p>
        </p:txBody>
      </p:sp>
      <p:sp>
        <p:nvSpPr>
          <p:cNvPr id="30" name="Text 28"/>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05 — CATALOGUE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socle complet, packagé et gouverné</a:t>
            </a:r>
            <a:endParaRPr lang="en-US" sz="3000" dirty="0"/>
          </a:p>
        </p:txBody>
      </p:sp>
      <p:sp>
        <p:nvSpPr>
          <p:cNvPr id="4" name="Shape 2"/>
          <p:cNvSpPr/>
          <p:nvPr/>
        </p:nvSpPr>
        <p:spPr>
          <a:xfrm>
            <a:off x="502920" y="1737360"/>
            <a:ext cx="2606040" cy="1508760"/>
          </a:xfrm>
          <a:prstGeom prst="roundRect">
            <a:avLst>
              <a:gd name="adj" fmla="val 4848"/>
            </a:avLst>
          </a:prstGeom>
          <a:solidFill>
            <a:srgbClr val="F2F5FC"/>
          </a:solidFill>
          <a:ln/>
        </p:spPr>
      </p:sp>
      <p:sp>
        <p:nvSpPr>
          <p:cNvPr id="5" name="Shape 3"/>
          <p:cNvSpPr/>
          <p:nvPr/>
        </p:nvSpPr>
        <p:spPr>
          <a:xfrm>
            <a:off x="685800" y="1920240"/>
            <a:ext cx="457200" cy="457200"/>
          </a:xfrm>
          <a:prstGeom prst="roundRect">
            <a:avLst>
              <a:gd name="adj" fmla="val 50000"/>
            </a:avLst>
          </a:prstGeom>
          <a:solidFill>
            <a:srgbClr val="00A896"/>
          </a:solidFill>
          <a:ln/>
        </p:spPr>
      </p:sp>
      <p:sp>
        <p:nvSpPr>
          <p:cNvPr id="6" name="Text 4"/>
          <p:cNvSpPr/>
          <p:nvPr/>
        </p:nvSpPr>
        <p:spPr>
          <a:xfrm>
            <a:off x="68580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85800" y="245059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Spark</a:t>
            </a:r>
            <a:endParaRPr lang="en-US" sz="1500" dirty="0"/>
          </a:p>
        </p:txBody>
      </p:sp>
      <p:sp>
        <p:nvSpPr>
          <p:cNvPr id="8" name="Text 6"/>
          <p:cNvSpPr/>
          <p:nvPr/>
        </p:nvSpPr>
        <p:spPr>
          <a:xfrm>
            <a:off x="685800" y="278892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Calcul distribué / ETL</a:t>
            </a:r>
            <a:endParaRPr lang="en-US" sz="1050" dirty="0"/>
          </a:p>
        </p:txBody>
      </p:sp>
      <p:sp>
        <p:nvSpPr>
          <p:cNvPr id="9" name="Shape 7"/>
          <p:cNvSpPr/>
          <p:nvPr/>
        </p:nvSpPr>
        <p:spPr>
          <a:xfrm>
            <a:off x="3291840" y="1737360"/>
            <a:ext cx="2606040" cy="1508760"/>
          </a:xfrm>
          <a:prstGeom prst="roundRect">
            <a:avLst>
              <a:gd name="adj" fmla="val 4848"/>
            </a:avLst>
          </a:prstGeom>
          <a:solidFill>
            <a:srgbClr val="F2F5FC"/>
          </a:solidFill>
          <a:ln/>
        </p:spPr>
      </p:sp>
      <p:sp>
        <p:nvSpPr>
          <p:cNvPr id="10" name="Shape 8"/>
          <p:cNvSpPr/>
          <p:nvPr/>
        </p:nvSpPr>
        <p:spPr>
          <a:xfrm>
            <a:off x="3474720" y="1920240"/>
            <a:ext cx="457200" cy="457200"/>
          </a:xfrm>
          <a:prstGeom prst="roundRect">
            <a:avLst>
              <a:gd name="adj" fmla="val 50000"/>
            </a:avLst>
          </a:prstGeom>
          <a:solidFill>
            <a:srgbClr val="00A896"/>
          </a:solidFill>
          <a:ln/>
        </p:spPr>
      </p:sp>
      <p:sp>
        <p:nvSpPr>
          <p:cNvPr id="11" name="Text 9"/>
          <p:cNvSpPr/>
          <p:nvPr/>
        </p:nvSpPr>
        <p:spPr>
          <a:xfrm>
            <a:off x="347472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474720" y="245059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Airflow</a:t>
            </a:r>
            <a:endParaRPr lang="en-US" sz="1500" dirty="0"/>
          </a:p>
        </p:txBody>
      </p:sp>
      <p:sp>
        <p:nvSpPr>
          <p:cNvPr id="13" name="Text 11"/>
          <p:cNvSpPr/>
          <p:nvPr/>
        </p:nvSpPr>
        <p:spPr>
          <a:xfrm>
            <a:off x="3474720" y="278892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Orchestration de pipelines</a:t>
            </a:r>
            <a:endParaRPr lang="en-US" sz="1050" dirty="0"/>
          </a:p>
        </p:txBody>
      </p:sp>
      <p:sp>
        <p:nvSpPr>
          <p:cNvPr id="14" name="Shape 12"/>
          <p:cNvSpPr/>
          <p:nvPr/>
        </p:nvSpPr>
        <p:spPr>
          <a:xfrm>
            <a:off x="6080760" y="1737360"/>
            <a:ext cx="2606040" cy="1508760"/>
          </a:xfrm>
          <a:prstGeom prst="roundRect">
            <a:avLst>
              <a:gd name="adj" fmla="val 4848"/>
            </a:avLst>
          </a:prstGeom>
          <a:solidFill>
            <a:srgbClr val="F2F5FC"/>
          </a:solidFill>
          <a:ln/>
        </p:spPr>
      </p:sp>
      <p:sp>
        <p:nvSpPr>
          <p:cNvPr id="15" name="Shape 13"/>
          <p:cNvSpPr/>
          <p:nvPr/>
        </p:nvSpPr>
        <p:spPr>
          <a:xfrm>
            <a:off x="6263640" y="1920240"/>
            <a:ext cx="457200" cy="457200"/>
          </a:xfrm>
          <a:prstGeom prst="roundRect">
            <a:avLst>
              <a:gd name="adj" fmla="val 50000"/>
            </a:avLst>
          </a:prstGeom>
          <a:solidFill>
            <a:srgbClr val="00A896"/>
          </a:solidFill>
          <a:ln/>
        </p:spPr>
      </p:sp>
      <p:sp>
        <p:nvSpPr>
          <p:cNvPr id="16" name="Text 14"/>
          <p:cNvSpPr/>
          <p:nvPr/>
        </p:nvSpPr>
        <p:spPr>
          <a:xfrm>
            <a:off x="626364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6263640" y="245059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JupyterHub</a:t>
            </a:r>
            <a:endParaRPr lang="en-US" sz="1500" dirty="0"/>
          </a:p>
        </p:txBody>
      </p:sp>
      <p:sp>
        <p:nvSpPr>
          <p:cNvPr id="18" name="Text 16"/>
          <p:cNvSpPr/>
          <p:nvPr/>
        </p:nvSpPr>
        <p:spPr>
          <a:xfrm>
            <a:off x="6263640" y="278892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Data science interactive</a:t>
            </a:r>
            <a:endParaRPr lang="en-US" sz="1050" dirty="0"/>
          </a:p>
        </p:txBody>
      </p:sp>
      <p:sp>
        <p:nvSpPr>
          <p:cNvPr id="19" name="Shape 17"/>
          <p:cNvSpPr/>
          <p:nvPr/>
        </p:nvSpPr>
        <p:spPr>
          <a:xfrm>
            <a:off x="8869680" y="1737360"/>
            <a:ext cx="2606040" cy="1508760"/>
          </a:xfrm>
          <a:prstGeom prst="roundRect">
            <a:avLst>
              <a:gd name="adj" fmla="val 4848"/>
            </a:avLst>
          </a:prstGeom>
          <a:solidFill>
            <a:srgbClr val="F2F5FC"/>
          </a:solidFill>
          <a:ln/>
        </p:spPr>
      </p:sp>
      <p:sp>
        <p:nvSpPr>
          <p:cNvPr id="20" name="Shape 18"/>
          <p:cNvSpPr/>
          <p:nvPr/>
        </p:nvSpPr>
        <p:spPr>
          <a:xfrm>
            <a:off x="9052560" y="1920240"/>
            <a:ext cx="457200" cy="457200"/>
          </a:xfrm>
          <a:prstGeom prst="roundRect">
            <a:avLst>
              <a:gd name="adj" fmla="val 50000"/>
            </a:avLst>
          </a:prstGeom>
          <a:solidFill>
            <a:srgbClr val="00A896"/>
          </a:solidFill>
          <a:ln/>
        </p:spPr>
      </p:sp>
      <p:sp>
        <p:nvSpPr>
          <p:cNvPr id="21" name="Text 19"/>
          <p:cNvSpPr/>
          <p:nvPr/>
        </p:nvSpPr>
        <p:spPr>
          <a:xfrm>
            <a:off x="905256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9052560" y="245059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Trino</a:t>
            </a:r>
            <a:endParaRPr lang="en-US" sz="1500" dirty="0"/>
          </a:p>
        </p:txBody>
      </p:sp>
      <p:sp>
        <p:nvSpPr>
          <p:cNvPr id="23" name="Text 21"/>
          <p:cNvSpPr/>
          <p:nvPr/>
        </p:nvSpPr>
        <p:spPr>
          <a:xfrm>
            <a:off x="9052560" y="278892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SQL fédéré, moteur de requêtes</a:t>
            </a:r>
            <a:endParaRPr lang="en-US" sz="1050" dirty="0"/>
          </a:p>
        </p:txBody>
      </p:sp>
      <p:sp>
        <p:nvSpPr>
          <p:cNvPr id="24" name="Shape 22"/>
          <p:cNvSpPr/>
          <p:nvPr/>
        </p:nvSpPr>
        <p:spPr>
          <a:xfrm>
            <a:off x="502920" y="3474720"/>
            <a:ext cx="2606040" cy="1508760"/>
          </a:xfrm>
          <a:prstGeom prst="roundRect">
            <a:avLst>
              <a:gd name="adj" fmla="val 4848"/>
            </a:avLst>
          </a:prstGeom>
          <a:solidFill>
            <a:srgbClr val="F2F5FC"/>
          </a:solidFill>
          <a:ln/>
        </p:spPr>
      </p:sp>
      <p:sp>
        <p:nvSpPr>
          <p:cNvPr id="25" name="Shape 23"/>
          <p:cNvSpPr/>
          <p:nvPr/>
        </p:nvSpPr>
        <p:spPr>
          <a:xfrm>
            <a:off x="685800" y="3657600"/>
            <a:ext cx="457200" cy="457200"/>
          </a:xfrm>
          <a:prstGeom prst="roundRect">
            <a:avLst>
              <a:gd name="adj" fmla="val 50000"/>
            </a:avLst>
          </a:prstGeom>
          <a:solidFill>
            <a:srgbClr val="00A896"/>
          </a:solidFill>
          <a:ln/>
        </p:spPr>
      </p:sp>
      <p:sp>
        <p:nvSpPr>
          <p:cNvPr id="26" name="Text 24"/>
          <p:cNvSpPr/>
          <p:nvPr/>
        </p:nvSpPr>
        <p:spPr>
          <a:xfrm>
            <a:off x="68580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685800" y="418795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Superset</a:t>
            </a:r>
            <a:endParaRPr lang="en-US" sz="1500" dirty="0"/>
          </a:p>
        </p:txBody>
      </p:sp>
      <p:sp>
        <p:nvSpPr>
          <p:cNvPr id="28" name="Text 26"/>
          <p:cNvSpPr/>
          <p:nvPr/>
        </p:nvSpPr>
        <p:spPr>
          <a:xfrm>
            <a:off x="685800" y="452628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BI &amp; visualisation</a:t>
            </a:r>
            <a:endParaRPr lang="en-US" sz="1050" dirty="0"/>
          </a:p>
        </p:txBody>
      </p:sp>
      <p:sp>
        <p:nvSpPr>
          <p:cNvPr id="29" name="Shape 27"/>
          <p:cNvSpPr/>
          <p:nvPr/>
        </p:nvSpPr>
        <p:spPr>
          <a:xfrm>
            <a:off x="3291840" y="3474720"/>
            <a:ext cx="2606040" cy="1508760"/>
          </a:xfrm>
          <a:prstGeom prst="roundRect">
            <a:avLst>
              <a:gd name="adj" fmla="val 4848"/>
            </a:avLst>
          </a:prstGeom>
          <a:solidFill>
            <a:srgbClr val="F2F5FC"/>
          </a:solidFill>
          <a:ln/>
        </p:spPr>
      </p:sp>
      <p:sp>
        <p:nvSpPr>
          <p:cNvPr id="30" name="Shape 28"/>
          <p:cNvSpPr/>
          <p:nvPr/>
        </p:nvSpPr>
        <p:spPr>
          <a:xfrm>
            <a:off x="3474720" y="3657600"/>
            <a:ext cx="457200" cy="457200"/>
          </a:xfrm>
          <a:prstGeom prst="roundRect">
            <a:avLst>
              <a:gd name="adj" fmla="val 50000"/>
            </a:avLst>
          </a:prstGeom>
          <a:solidFill>
            <a:srgbClr val="00A896"/>
          </a:solidFill>
          <a:ln/>
        </p:spPr>
      </p:sp>
      <p:sp>
        <p:nvSpPr>
          <p:cNvPr id="31" name="Text 29"/>
          <p:cNvSpPr/>
          <p:nvPr/>
        </p:nvSpPr>
        <p:spPr>
          <a:xfrm>
            <a:off x="347472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3474720" y="418795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Polaris</a:t>
            </a:r>
            <a:endParaRPr lang="en-US" sz="1500" dirty="0"/>
          </a:p>
        </p:txBody>
      </p:sp>
      <p:sp>
        <p:nvSpPr>
          <p:cNvPr id="33" name="Text 31"/>
          <p:cNvSpPr/>
          <p:nvPr/>
        </p:nvSpPr>
        <p:spPr>
          <a:xfrm>
            <a:off x="3474720" y="452628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Catalogue Iceberg (lakehouse)</a:t>
            </a:r>
            <a:endParaRPr lang="en-US" sz="1050" dirty="0"/>
          </a:p>
        </p:txBody>
      </p:sp>
      <p:sp>
        <p:nvSpPr>
          <p:cNvPr id="34" name="Shape 32"/>
          <p:cNvSpPr/>
          <p:nvPr/>
        </p:nvSpPr>
        <p:spPr>
          <a:xfrm>
            <a:off x="6080760" y="3474720"/>
            <a:ext cx="2606040" cy="1508760"/>
          </a:xfrm>
          <a:prstGeom prst="roundRect">
            <a:avLst>
              <a:gd name="adj" fmla="val 4848"/>
            </a:avLst>
          </a:prstGeom>
          <a:solidFill>
            <a:srgbClr val="F2F5FC"/>
          </a:solidFill>
          <a:ln/>
        </p:spPr>
      </p:sp>
      <p:sp>
        <p:nvSpPr>
          <p:cNvPr id="35" name="Shape 33"/>
          <p:cNvSpPr/>
          <p:nvPr/>
        </p:nvSpPr>
        <p:spPr>
          <a:xfrm>
            <a:off x="6263640" y="3657600"/>
            <a:ext cx="457200" cy="457200"/>
          </a:xfrm>
          <a:prstGeom prst="roundRect">
            <a:avLst>
              <a:gd name="adj" fmla="val 50000"/>
            </a:avLst>
          </a:prstGeom>
          <a:solidFill>
            <a:srgbClr val="00A896"/>
          </a:solidFill>
          <a:ln/>
        </p:spPr>
      </p:sp>
      <p:sp>
        <p:nvSpPr>
          <p:cNvPr id="36" name="Text 34"/>
          <p:cNvSpPr/>
          <p:nvPr/>
        </p:nvSpPr>
        <p:spPr>
          <a:xfrm>
            <a:off x="626364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7" name="Text 35"/>
          <p:cNvSpPr/>
          <p:nvPr/>
        </p:nvSpPr>
        <p:spPr>
          <a:xfrm>
            <a:off x="6263640" y="418795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SeaweedFS</a:t>
            </a:r>
            <a:endParaRPr lang="en-US" sz="1500" dirty="0"/>
          </a:p>
        </p:txBody>
      </p:sp>
      <p:sp>
        <p:nvSpPr>
          <p:cNvPr id="38" name="Text 36"/>
          <p:cNvSpPr/>
          <p:nvPr/>
        </p:nvSpPr>
        <p:spPr>
          <a:xfrm>
            <a:off x="6263640" y="452628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Stockage objet compatible S3</a:t>
            </a:r>
            <a:endParaRPr lang="en-US" sz="1050" dirty="0"/>
          </a:p>
        </p:txBody>
      </p:sp>
      <p:sp>
        <p:nvSpPr>
          <p:cNvPr id="39" name="Shape 37"/>
          <p:cNvSpPr/>
          <p:nvPr/>
        </p:nvSpPr>
        <p:spPr>
          <a:xfrm>
            <a:off x="8869680" y="3474720"/>
            <a:ext cx="2606040" cy="1508760"/>
          </a:xfrm>
          <a:prstGeom prst="roundRect">
            <a:avLst>
              <a:gd name="adj" fmla="val 4848"/>
            </a:avLst>
          </a:prstGeom>
          <a:solidFill>
            <a:srgbClr val="F2F5FC"/>
          </a:solidFill>
          <a:ln/>
        </p:spPr>
      </p:sp>
      <p:sp>
        <p:nvSpPr>
          <p:cNvPr id="40" name="Shape 38"/>
          <p:cNvSpPr/>
          <p:nvPr/>
        </p:nvSpPr>
        <p:spPr>
          <a:xfrm>
            <a:off x="9052560" y="3657600"/>
            <a:ext cx="457200" cy="457200"/>
          </a:xfrm>
          <a:prstGeom prst="roundRect">
            <a:avLst>
              <a:gd name="adj" fmla="val 50000"/>
            </a:avLst>
          </a:prstGeom>
          <a:solidFill>
            <a:srgbClr val="00A896"/>
          </a:solidFill>
          <a:ln/>
        </p:spPr>
      </p:sp>
      <p:sp>
        <p:nvSpPr>
          <p:cNvPr id="41" name="Text 39"/>
          <p:cNvSpPr/>
          <p:nvPr/>
        </p:nvSpPr>
        <p:spPr>
          <a:xfrm>
            <a:off x="905256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2" name="Text 40"/>
          <p:cNvSpPr/>
          <p:nvPr/>
        </p:nvSpPr>
        <p:spPr>
          <a:xfrm>
            <a:off x="9052560" y="4187952"/>
            <a:ext cx="224028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Vault / Ext. Secrets</a:t>
            </a:r>
            <a:endParaRPr lang="en-US" sz="1500" dirty="0"/>
          </a:p>
        </p:txBody>
      </p:sp>
      <p:sp>
        <p:nvSpPr>
          <p:cNvPr id="43" name="Text 41"/>
          <p:cNvSpPr/>
          <p:nvPr/>
        </p:nvSpPr>
        <p:spPr>
          <a:xfrm>
            <a:off x="9052560" y="4526280"/>
            <a:ext cx="2240280" cy="384048"/>
          </a:xfrm>
          <a:prstGeom prst="rect">
            <a:avLst/>
          </a:prstGeom>
          <a:noFill/>
          <a:ln/>
        </p:spPr>
        <p:txBody>
          <a:bodyPr wrap="square" lIns="0" tIns="0" rIns="0" bIns="0" rtlCol="0" anchor="ctr"/>
          <a:lstStyle/>
          <a:p>
            <a:pPr indent="0" marL="0">
              <a:lnSpc>
                <a:spcPct val="105000"/>
              </a:lnSpc>
              <a:buNone/>
            </a:pPr>
            <a:r>
              <a:rPr lang="en-US" sz="1050" dirty="0">
                <a:solidFill>
                  <a:srgbClr val="5B6472"/>
                </a:solidFill>
                <a:latin typeface="Calibri" pitchFamily="34" charset="0"/>
                <a:ea typeface="Calibri" pitchFamily="34" charset="-122"/>
                <a:cs typeface="Calibri" pitchFamily="34" charset="-120"/>
              </a:rPr>
              <a:t>Gestion des secrets</a:t>
            </a:r>
            <a:endParaRPr lang="en-US" sz="1050" dirty="0"/>
          </a:p>
        </p:txBody>
      </p:sp>
      <p:sp>
        <p:nvSpPr>
          <p:cNvPr id="44" name="Shape 42"/>
          <p:cNvSpPr/>
          <p:nvPr/>
        </p:nvSpPr>
        <p:spPr>
          <a:xfrm>
            <a:off x="502920" y="5989320"/>
            <a:ext cx="11155680" cy="566928"/>
          </a:xfrm>
          <a:prstGeom prst="roundRect">
            <a:avLst>
              <a:gd name="adj" fmla="val 12903"/>
            </a:avLst>
          </a:prstGeom>
          <a:solidFill>
            <a:srgbClr val="E9EEF9"/>
          </a:solidFill>
          <a:ln/>
        </p:spPr>
      </p:sp>
      <p:sp>
        <p:nvSpPr>
          <p:cNvPr id="45" name="Text 43"/>
          <p:cNvSpPr/>
          <p:nvPr/>
        </p:nvSpPr>
        <p:spPr>
          <a:xfrm>
            <a:off x="777240" y="5989320"/>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Un socle complet, sans intégration maison à reconstruire.</a:t>
            </a:r>
            <a:endParaRPr lang="en-US" sz="1200" dirty="0"/>
          </a:p>
        </p:txBody>
      </p:sp>
      <p:sp>
        <p:nvSpPr>
          <p:cNvPr id="46" name="Text 44"/>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47" name="Text 45"/>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Catalogue de services</a:t>
            </a:r>
            <a:endParaRPr lang="en-US" sz="900" dirty="0"/>
          </a:p>
        </p:txBody>
      </p:sp>
      <p:sp>
        <p:nvSpPr>
          <p:cNvPr id="48" name="Text 46"/>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06 — PARCOURS UTILISATEUR</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 l'administration à l'analyse, une identité unique</a:t>
            </a:r>
            <a:endParaRPr lang="en-US" sz="3000" dirty="0"/>
          </a:p>
        </p:txBody>
      </p:sp>
      <p:sp>
        <p:nvSpPr>
          <p:cNvPr id="4" name="Shape 2"/>
          <p:cNvSpPr/>
          <p:nvPr/>
        </p:nvSpPr>
        <p:spPr>
          <a:xfrm>
            <a:off x="502920" y="2377440"/>
            <a:ext cx="1965960" cy="1554480"/>
          </a:xfrm>
          <a:prstGeom prst="roundRect">
            <a:avLst>
              <a:gd name="adj" fmla="val 4706"/>
            </a:avLst>
          </a:prstGeom>
          <a:solidFill>
            <a:srgbClr val="1E2761"/>
          </a:solidFill>
          <a:ln/>
        </p:spPr>
      </p:sp>
      <p:sp>
        <p:nvSpPr>
          <p:cNvPr id="5" name="Text 3"/>
          <p:cNvSpPr/>
          <p:nvPr/>
        </p:nvSpPr>
        <p:spPr>
          <a:xfrm>
            <a:off x="612648" y="2468880"/>
            <a:ext cx="45720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612648" y="2834640"/>
            <a:ext cx="1746504"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Admin</a:t>
            </a:r>
            <a:endParaRPr lang="en-US" sz="1450" dirty="0"/>
          </a:p>
        </p:txBody>
      </p:sp>
      <p:sp>
        <p:nvSpPr>
          <p:cNvPr id="7" name="Text 5"/>
          <p:cNvSpPr/>
          <p:nvPr/>
        </p:nvSpPr>
        <p:spPr>
          <a:xfrm>
            <a:off x="612648" y="3218688"/>
            <a:ext cx="1746504" cy="640080"/>
          </a:xfrm>
          <a:prstGeom prst="rect">
            <a:avLst/>
          </a:prstGeom>
          <a:noFill/>
          <a:ln/>
        </p:spPr>
        <p:txBody>
          <a:bodyPr wrap="square" lIns="0" tIns="0" rIns="0" bIns="0" rtlCol="0" anchor="ctr"/>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Provisionne l'utilisateur</a:t>
            </a:r>
            <a:endParaRPr lang="en-US" sz="1000" dirty="0"/>
          </a:p>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et son groupe dans kubauth</a:t>
            </a:r>
            <a:endParaRPr lang="en-US" sz="1000" dirty="0"/>
          </a:p>
        </p:txBody>
      </p:sp>
      <p:sp>
        <p:nvSpPr>
          <p:cNvPr id="8" name="Shape 6"/>
          <p:cNvSpPr/>
          <p:nvPr/>
        </p:nvSpPr>
        <p:spPr>
          <a:xfrm>
            <a:off x="2468880" y="3154680"/>
            <a:ext cx="331470" cy="9144"/>
          </a:xfrm>
          <a:prstGeom prst="line">
            <a:avLst/>
          </a:prstGeom>
          <a:noFill/>
          <a:ln w="25400">
            <a:solidFill>
              <a:srgbClr val="5B6472"/>
            </a:solidFill>
            <a:prstDash val="solid"/>
            <a:tailEnd type="triangle"/>
          </a:ln>
        </p:spPr>
      </p:sp>
      <p:sp>
        <p:nvSpPr>
          <p:cNvPr id="9" name="Shape 7"/>
          <p:cNvSpPr/>
          <p:nvPr/>
        </p:nvSpPr>
        <p:spPr>
          <a:xfrm>
            <a:off x="2800350" y="2377440"/>
            <a:ext cx="1965960" cy="1554480"/>
          </a:xfrm>
          <a:prstGeom prst="roundRect">
            <a:avLst>
              <a:gd name="adj" fmla="val 4706"/>
            </a:avLst>
          </a:prstGeom>
          <a:solidFill>
            <a:srgbClr val="223072"/>
          </a:solidFill>
          <a:ln/>
        </p:spPr>
      </p:sp>
      <p:sp>
        <p:nvSpPr>
          <p:cNvPr id="10" name="Text 8"/>
          <p:cNvSpPr/>
          <p:nvPr/>
        </p:nvSpPr>
        <p:spPr>
          <a:xfrm>
            <a:off x="2910078" y="2468880"/>
            <a:ext cx="45720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2910078" y="2834640"/>
            <a:ext cx="1746504"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Connexion SSO</a:t>
            </a:r>
            <a:endParaRPr lang="en-US" sz="1450" dirty="0"/>
          </a:p>
        </p:txBody>
      </p:sp>
      <p:sp>
        <p:nvSpPr>
          <p:cNvPr id="12" name="Text 10"/>
          <p:cNvSpPr/>
          <p:nvPr/>
        </p:nvSpPr>
        <p:spPr>
          <a:xfrm>
            <a:off x="2910078" y="3218688"/>
            <a:ext cx="1746504" cy="640080"/>
          </a:xfrm>
          <a:prstGeom prst="rect">
            <a:avLst/>
          </a:prstGeom>
          <a:noFill/>
          <a:ln/>
        </p:spPr>
        <p:txBody>
          <a:bodyPr wrap="square" lIns="0" tIns="0" rIns="0" bIns="0" rtlCol="0" anchor="ctr"/>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L'analyste se connecte</a:t>
            </a:r>
            <a:endParaRPr lang="en-US" sz="1000" dirty="0"/>
          </a:p>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à la Console (OIDC)</a:t>
            </a:r>
            <a:endParaRPr lang="en-US" sz="1000" dirty="0"/>
          </a:p>
        </p:txBody>
      </p:sp>
      <p:sp>
        <p:nvSpPr>
          <p:cNvPr id="13" name="Shape 11"/>
          <p:cNvSpPr/>
          <p:nvPr/>
        </p:nvSpPr>
        <p:spPr>
          <a:xfrm>
            <a:off x="4766310" y="3154680"/>
            <a:ext cx="331470" cy="9144"/>
          </a:xfrm>
          <a:prstGeom prst="line">
            <a:avLst/>
          </a:prstGeom>
          <a:noFill/>
          <a:ln w="25400">
            <a:solidFill>
              <a:srgbClr val="5B6472"/>
            </a:solidFill>
            <a:prstDash val="solid"/>
            <a:tailEnd type="triangle"/>
          </a:ln>
        </p:spPr>
      </p:sp>
      <p:sp>
        <p:nvSpPr>
          <p:cNvPr id="14" name="Shape 12"/>
          <p:cNvSpPr/>
          <p:nvPr/>
        </p:nvSpPr>
        <p:spPr>
          <a:xfrm>
            <a:off x="5097780" y="2377440"/>
            <a:ext cx="1965960" cy="1554480"/>
          </a:xfrm>
          <a:prstGeom prst="roundRect">
            <a:avLst>
              <a:gd name="adj" fmla="val 4706"/>
            </a:avLst>
          </a:prstGeom>
          <a:solidFill>
            <a:srgbClr val="017A72"/>
          </a:solidFill>
          <a:ln/>
        </p:spPr>
      </p:sp>
      <p:sp>
        <p:nvSpPr>
          <p:cNvPr id="15" name="Text 13"/>
          <p:cNvSpPr/>
          <p:nvPr/>
        </p:nvSpPr>
        <p:spPr>
          <a:xfrm>
            <a:off x="5207508" y="2468880"/>
            <a:ext cx="45720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5207508" y="2834640"/>
            <a:ext cx="1746504"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Superset</a:t>
            </a:r>
            <a:endParaRPr lang="en-US" sz="1450" dirty="0"/>
          </a:p>
        </p:txBody>
      </p:sp>
      <p:sp>
        <p:nvSpPr>
          <p:cNvPr id="17" name="Text 15"/>
          <p:cNvSpPr/>
          <p:nvPr/>
        </p:nvSpPr>
        <p:spPr>
          <a:xfrm>
            <a:off x="5207508" y="3218688"/>
            <a:ext cx="1746504" cy="640080"/>
          </a:xfrm>
          <a:prstGeom prst="rect">
            <a:avLst/>
          </a:prstGeom>
          <a:noFill/>
          <a:ln/>
        </p:spPr>
        <p:txBody>
          <a:bodyPr wrap="square" lIns="0" tIns="0" rIns="0" bIns="0" rtlCol="0" anchor="ctr"/>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Accède au tableau de bord</a:t>
            </a:r>
            <a:endParaRPr lang="en-US" sz="1000" dirty="0"/>
          </a:p>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avec son identité propre</a:t>
            </a:r>
            <a:endParaRPr lang="en-US" sz="1000" dirty="0"/>
          </a:p>
        </p:txBody>
      </p:sp>
      <p:sp>
        <p:nvSpPr>
          <p:cNvPr id="18" name="Shape 16"/>
          <p:cNvSpPr/>
          <p:nvPr/>
        </p:nvSpPr>
        <p:spPr>
          <a:xfrm>
            <a:off x="7063740" y="3154680"/>
            <a:ext cx="331470" cy="9144"/>
          </a:xfrm>
          <a:prstGeom prst="line">
            <a:avLst/>
          </a:prstGeom>
          <a:noFill/>
          <a:ln w="25400">
            <a:solidFill>
              <a:srgbClr val="5B6472"/>
            </a:solidFill>
            <a:prstDash val="solid"/>
            <a:tailEnd type="triangle"/>
          </a:ln>
        </p:spPr>
      </p:sp>
      <p:sp>
        <p:nvSpPr>
          <p:cNvPr id="19" name="Shape 17"/>
          <p:cNvSpPr/>
          <p:nvPr/>
        </p:nvSpPr>
        <p:spPr>
          <a:xfrm>
            <a:off x="7395210" y="2377440"/>
            <a:ext cx="1965960" cy="1554480"/>
          </a:xfrm>
          <a:prstGeom prst="roundRect">
            <a:avLst>
              <a:gd name="adj" fmla="val 4706"/>
            </a:avLst>
          </a:prstGeom>
          <a:solidFill>
            <a:srgbClr val="017A72"/>
          </a:solidFill>
          <a:ln/>
        </p:spPr>
      </p:sp>
      <p:sp>
        <p:nvSpPr>
          <p:cNvPr id="20" name="Text 18"/>
          <p:cNvSpPr/>
          <p:nvPr/>
        </p:nvSpPr>
        <p:spPr>
          <a:xfrm>
            <a:off x="7504938" y="2468880"/>
            <a:ext cx="45720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504938" y="2834640"/>
            <a:ext cx="1746504"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Trino</a:t>
            </a:r>
            <a:endParaRPr lang="en-US" sz="1450" dirty="0"/>
          </a:p>
        </p:txBody>
      </p:sp>
      <p:sp>
        <p:nvSpPr>
          <p:cNvPr id="22" name="Text 20"/>
          <p:cNvSpPr/>
          <p:nvPr/>
        </p:nvSpPr>
        <p:spPr>
          <a:xfrm>
            <a:off x="7504938" y="3218688"/>
            <a:ext cx="1746504" cy="640080"/>
          </a:xfrm>
          <a:prstGeom prst="rect">
            <a:avLst/>
          </a:prstGeom>
          <a:noFill/>
          <a:ln/>
        </p:spPr>
        <p:txBody>
          <a:bodyPr wrap="square" lIns="0" tIns="0" rIns="0" bIns="0" rtlCol="0" anchor="ctr"/>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Interroge les données avec</a:t>
            </a:r>
            <a:endParaRPr lang="en-US" sz="1000" dirty="0"/>
          </a:p>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son propre token utilisateur</a:t>
            </a:r>
            <a:endParaRPr lang="en-US" sz="1000" dirty="0"/>
          </a:p>
        </p:txBody>
      </p:sp>
      <p:sp>
        <p:nvSpPr>
          <p:cNvPr id="23" name="Shape 21"/>
          <p:cNvSpPr/>
          <p:nvPr/>
        </p:nvSpPr>
        <p:spPr>
          <a:xfrm>
            <a:off x="9361170" y="3154680"/>
            <a:ext cx="331470" cy="9144"/>
          </a:xfrm>
          <a:prstGeom prst="line">
            <a:avLst/>
          </a:prstGeom>
          <a:noFill/>
          <a:ln w="25400">
            <a:solidFill>
              <a:srgbClr val="5B6472"/>
            </a:solidFill>
            <a:prstDash val="solid"/>
            <a:tailEnd type="triangle"/>
          </a:ln>
        </p:spPr>
      </p:sp>
      <p:sp>
        <p:nvSpPr>
          <p:cNvPr id="24" name="Shape 22"/>
          <p:cNvSpPr/>
          <p:nvPr/>
        </p:nvSpPr>
        <p:spPr>
          <a:xfrm>
            <a:off x="9692640" y="2377440"/>
            <a:ext cx="1965960" cy="1554480"/>
          </a:xfrm>
          <a:prstGeom prst="roundRect">
            <a:avLst>
              <a:gd name="adj" fmla="val 4706"/>
            </a:avLst>
          </a:prstGeom>
          <a:solidFill>
            <a:srgbClr val="1E2761"/>
          </a:solidFill>
          <a:ln/>
        </p:spPr>
      </p:sp>
      <p:sp>
        <p:nvSpPr>
          <p:cNvPr id="25" name="Text 23"/>
          <p:cNvSpPr/>
          <p:nvPr/>
        </p:nvSpPr>
        <p:spPr>
          <a:xfrm>
            <a:off x="9802368" y="2468880"/>
            <a:ext cx="457200" cy="36576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9802368" y="2834640"/>
            <a:ext cx="1746504"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Résultat</a:t>
            </a:r>
            <a:endParaRPr lang="en-US" sz="1450" dirty="0"/>
          </a:p>
        </p:txBody>
      </p:sp>
      <p:sp>
        <p:nvSpPr>
          <p:cNvPr id="27" name="Text 25"/>
          <p:cNvSpPr/>
          <p:nvPr/>
        </p:nvSpPr>
        <p:spPr>
          <a:xfrm>
            <a:off x="9802368" y="3218688"/>
            <a:ext cx="1746504" cy="640080"/>
          </a:xfrm>
          <a:prstGeom prst="rect">
            <a:avLst/>
          </a:prstGeom>
          <a:noFill/>
          <a:ln/>
        </p:spPr>
        <p:txBody>
          <a:bodyPr wrap="square" lIns="0" tIns="0" rIns="0" bIns="0" rtlCol="0" anchor="ctr"/>
          <a:lstStyle/>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Analyse restituée,</a:t>
            </a:r>
            <a:endParaRPr lang="en-US" sz="1000" dirty="0"/>
          </a:p>
          <a:p>
            <a:pPr indent="0" marL="0">
              <a:lnSpc>
                <a:spcPct val="110000"/>
              </a:lnSpc>
              <a:buNone/>
            </a:pPr>
            <a:r>
              <a:rPr lang="en-US" sz="1000" dirty="0">
                <a:solidFill>
                  <a:srgbClr val="CADCFC"/>
                </a:solidFill>
                <a:latin typeface="Calibri" pitchFamily="34" charset="0"/>
                <a:ea typeface="Calibri" pitchFamily="34" charset="-122"/>
                <a:cs typeface="Calibri" pitchFamily="34" charset="-120"/>
              </a:rPr>
              <a:t>accès tracé et gouverné</a:t>
            </a:r>
            <a:endParaRPr lang="en-US" sz="1000" dirty="0"/>
          </a:p>
        </p:txBody>
      </p:sp>
      <p:sp>
        <p:nvSpPr>
          <p:cNvPr id="28" name="Shape 26"/>
          <p:cNvSpPr/>
          <p:nvPr/>
        </p:nvSpPr>
        <p:spPr>
          <a:xfrm>
            <a:off x="502920" y="5870448"/>
            <a:ext cx="11155680" cy="566928"/>
          </a:xfrm>
          <a:prstGeom prst="roundRect">
            <a:avLst>
              <a:gd name="adj" fmla="val 12903"/>
            </a:avLst>
          </a:prstGeom>
          <a:solidFill>
            <a:srgbClr val="E9EEF9"/>
          </a:solidFill>
          <a:ln/>
        </p:spPr>
      </p:sp>
      <p:sp>
        <p:nvSpPr>
          <p:cNvPr id="29" name="Text 27"/>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Chaque utilisateur agit avec sa propre identité, de bout en bout — jamais un compte partagé.</a:t>
            </a:r>
            <a:endParaRPr lang="en-US" sz="1200" dirty="0"/>
          </a:p>
        </p:txBody>
      </p:sp>
      <p:sp>
        <p:nvSpPr>
          <p:cNvPr id="30" name="Text 28"/>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31" name="Text 29"/>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Parcours utilisateur</a:t>
            </a:r>
            <a:endParaRPr lang="en-US" sz="900" dirty="0"/>
          </a:p>
        </p:txBody>
      </p:sp>
      <p:sp>
        <p:nvSpPr>
          <p:cNvPr id="32" name="Text 30"/>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07 — LAKEHOUSE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flux gouverné, de l'identité au stockage</a:t>
            </a:r>
            <a:endParaRPr lang="en-US" sz="3000" dirty="0"/>
          </a:p>
        </p:txBody>
      </p:sp>
      <p:sp>
        <p:nvSpPr>
          <p:cNvPr id="4" name="Shape 2"/>
          <p:cNvSpPr/>
          <p:nvPr/>
        </p:nvSpPr>
        <p:spPr>
          <a:xfrm>
            <a:off x="502920" y="1965960"/>
            <a:ext cx="1965960" cy="1600200"/>
          </a:xfrm>
          <a:prstGeom prst="roundRect">
            <a:avLst>
              <a:gd name="adj" fmla="val 4571"/>
            </a:avLst>
          </a:prstGeom>
          <a:solidFill>
            <a:srgbClr val="1E2761"/>
          </a:solidFill>
          <a:ln/>
        </p:spPr>
      </p:sp>
      <p:sp>
        <p:nvSpPr>
          <p:cNvPr id="5" name="Text 3"/>
          <p:cNvSpPr/>
          <p:nvPr/>
        </p:nvSpPr>
        <p:spPr>
          <a:xfrm>
            <a:off x="612648" y="2130552"/>
            <a:ext cx="1746504"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kubauth</a:t>
            </a:r>
            <a:endParaRPr lang="en-US" sz="1500" dirty="0"/>
          </a:p>
        </p:txBody>
      </p:sp>
      <p:sp>
        <p:nvSpPr>
          <p:cNvPr id="6" name="Text 4"/>
          <p:cNvSpPr/>
          <p:nvPr/>
        </p:nvSpPr>
        <p:spPr>
          <a:xfrm>
            <a:off x="612648" y="2560320"/>
            <a:ext cx="1746504" cy="868680"/>
          </a:xfrm>
          <a:prstGeom prst="rect">
            <a:avLst/>
          </a:prstGeom>
          <a:noFill/>
          <a:ln/>
        </p:spPr>
        <p:txBody>
          <a:bodyPr wrap="square" lIns="0" tIns="0" rIns="0" bIns="0"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Identité OIDC</a:t>
            </a:r>
            <a:endParaRPr lang="en-US" sz="1100" dirty="0"/>
          </a:p>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(SSO)</a:t>
            </a:r>
            <a:endParaRPr lang="en-US" sz="1100" dirty="0"/>
          </a:p>
        </p:txBody>
      </p:sp>
      <p:sp>
        <p:nvSpPr>
          <p:cNvPr id="7" name="Shape 5"/>
          <p:cNvSpPr/>
          <p:nvPr/>
        </p:nvSpPr>
        <p:spPr>
          <a:xfrm>
            <a:off x="2468880" y="2766060"/>
            <a:ext cx="331470" cy="9144"/>
          </a:xfrm>
          <a:prstGeom prst="line">
            <a:avLst/>
          </a:prstGeom>
          <a:noFill/>
          <a:ln w="25400">
            <a:solidFill>
              <a:srgbClr val="5B6472"/>
            </a:solidFill>
            <a:prstDash val="solid"/>
            <a:tailEnd type="triangle"/>
          </a:ln>
        </p:spPr>
      </p:sp>
      <p:sp>
        <p:nvSpPr>
          <p:cNvPr id="8" name="Shape 6"/>
          <p:cNvSpPr/>
          <p:nvPr/>
        </p:nvSpPr>
        <p:spPr>
          <a:xfrm>
            <a:off x="2800350" y="1965960"/>
            <a:ext cx="1965960" cy="1600200"/>
          </a:xfrm>
          <a:prstGeom prst="roundRect">
            <a:avLst>
              <a:gd name="adj" fmla="val 4571"/>
            </a:avLst>
          </a:prstGeom>
          <a:solidFill>
            <a:srgbClr val="223072"/>
          </a:solidFill>
          <a:ln/>
        </p:spPr>
      </p:sp>
      <p:sp>
        <p:nvSpPr>
          <p:cNvPr id="9" name="Text 7"/>
          <p:cNvSpPr/>
          <p:nvPr/>
        </p:nvSpPr>
        <p:spPr>
          <a:xfrm>
            <a:off x="2910078" y="2130552"/>
            <a:ext cx="1746504"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Superset</a:t>
            </a:r>
            <a:endParaRPr lang="en-US" sz="1500" dirty="0"/>
          </a:p>
        </p:txBody>
      </p:sp>
      <p:sp>
        <p:nvSpPr>
          <p:cNvPr id="10" name="Text 8"/>
          <p:cNvSpPr/>
          <p:nvPr/>
        </p:nvSpPr>
        <p:spPr>
          <a:xfrm>
            <a:off x="2910078" y="2560320"/>
            <a:ext cx="1746504" cy="868680"/>
          </a:xfrm>
          <a:prstGeom prst="rect">
            <a:avLst/>
          </a:prstGeom>
          <a:noFill/>
          <a:ln/>
        </p:spPr>
        <p:txBody>
          <a:bodyPr wrap="square" lIns="0" tIns="0" rIns="0" bIns="0"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BI — token</a:t>
            </a:r>
            <a:endParaRPr lang="en-US" sz="1100" dirty="0"/>
          </a:p>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utilisateur</a:t>
            </a:r>
            <a:endParaRPr lang="en-US" sz="1100" dirty="0"/>
          </a:p>
        </p:txBody>
      </p:sp>
      <p:sp>
        <p:nvSpPr>
          <p:cNvPr id="11" name="Shape 9"/>
          <p:cNvSpPr/>
          <p:nvPr/>
        </p:nvSpPr>
        <p:spPr>
          <a:xfrm>
            <a:off x="4766310" y="2766060"/>
            <a:ext cx="331470" cy="9144"/>
          </a:xfrm>
          <a:prstGeom prst="line">
            <a:avLst/>
          </a:prstGeom>
          <a:noFill/>
          <a:ln w="25400">
            <a:solidFill>
              <a:srgbClr val="5B6472"/>
            </a:solidFill>
            <a:prstDash val="solid"/>
            <a:tailEnd type="triangle"/>
          </a:ln>
        </p:spPr>
      </p:sp>
      <p:sp>
        <p:nvSpPr>
          <p:cNvPr id="12" name="Shape 10"/>
          <p:cNvSpPr/>
          <p:nvPr/>
        </p:nvSpPr>
        <p:spPr>
          <a:xfrm>
            <a:off x="5097780" y="1965960"/>
            <a:ext cx="1965960" cy="1600200"/>
          </a:xfrm>
          <a:prstGeom prst="roundRect">
            <a:avLst>
              <a:gd name="adj" fmla="val 4571"/>
            </a:avLst>
          </a:prstGeom>
          <a:solidFill>
            <a:srgbClr val="017A72"/>
          </a:solidFill>
          <a:ln/>
        </p:spPr>
      </p:sp>
      <p:sp>
        <p:nvSpPr>
          <p:cNvPr id="13" name="Text 11"/>
          <p:cNvSpPr/>
          <p:nvPr/>
        </p:nvSpPr>
        <p:spPr>
          <a:xfrm>
            <a:off x="5207508" y="2130552"/>
            <a:ext cx="1746504"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Trino</a:t>
            </a:r>
            <a:endParaRPr lang="en-US" sz="1500" dirty="0"/>
          </a:p>
        </p:txBody>
      </p:sp>
      <p:sp>
        <p:nvSpPr>
          <p:cNvPr id="14" name="Text 12"/>
          <p:cNvSpPr/>
          <p:nvPr/>
        </p:nvSpPr>
        <p:spPr>
          <a:xfrm>
            <a:off x="5207508" y="2560320"/>
            <a:ext cx="1746504" cy="868680"/>
          </a:xfrm>
          <a:prstGeom prst="rect">
            <a:avLst/>
          </a:prstGeom>
          <a:noFill/>
          <a:ln/>
        </p:spPr>
        <p:txBody>
          <a:bodyPr wrap="square" lIns="0" tIns="0" rIns="0" bIns="0"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Moteur SQL —</a:t>
            </a:r>
            <a:endParaRPr lang="en-US" sz="1100" dirty="0"/>
          </a:p>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ACL / OPA</a:t>
            </a:r>
            <a:endParaRPr lang="en-US" sz="1100" dirty="0"/>
          </a:p>
        </p:txBody>
      </p:sp>
      <p:sp>
        <p:nvSpPr>
          <p:cNvPr id="15" name="Shape 13"/>
          <p:cNvSpPr/>
          <p:nvPr/>
        </p:nvSpPr>
        <p:spPr>
          <a:xfrm>
            <a:off x="7063740" y="2766060"/>
            <a:ext cx="331470" cy="9144"/>
          </a:xfrm>
          <a:prstGeom prst="line">
            <a:avLst/>
          </a:prstGeom>
          <a:noFill/>
          <a:ln w="25400">
            <a:solidFill>
              <a:srgbClr val="5B6472"/>
            </a:solidFill>
            <a:prstDash val="solid"/>
            <a:tailEnd type="triangle"/>
          </a:ln>
        </p:spPr>
      </p:sp>
      <p:sp>
        <p:nvSpPr>
          <p:cNvPr id="16" name="Shape 14"/>
          <p:cNvSpPr/>
          <p:nvPr/>
        </p:nvSpPr>
        <p:spPr>
          <a:xfrm>
            <a:off x="7395210" y="1965960"/>
            <a:ext cx="1965960" cy="1600200"/>
          </a:xfrm>
          <a:prstGeom prst="roundRect">
            <a:avLst>
              <a:gd name="adj" fmla="val 4571"/>
            </a:avLst>
          </a:prstGeom>
          <a:solidFill>
            <a:srgbClr val="017A72"/>
          </a:solidFill>
          <a:ln/>
        </p:spPr>
      </p:sp>
      <p:sp>
        <p:nvSpPr>
          <p:cNvPr id="17" name="Text 15"/>
          <p:cNvSpPr/>
          <p:nvPr/>
        </p:nvSpPr>
        <p:spPr>
          <a:xfrm>
            <a:off x="7504938" y="2130552"/>
            <a:ext cx="1746504"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Polaris</a:t>
            </a:r>
            <a:endParaRPr lang="en-US" sz="1500" dirty="0"/>
          </a:p>
        </p:txBody>
      </p:sp>
      <p:sp>
        <p:nvSpPr>
          <p:cNvPr id="18" name="Text 16"/>
          <p:cNvSpPr/>
          <p:nvPr/>
        </p:nvSpPr>
        <p:spPr>
          <a:xfrm>
            <a:off x="7504938" y="2560320"/>
            <a:ext cx="1746504" cy="868680"/>
          </a:xfrm>
          <a:prstGeom prst="rect">
            <a:avLst/>
          </a:prstGeom>
          <a:noFill/>
          <a:ln/>
        </p:spPr>
        <p:txBody>
          <a:bodyPr wrap="square" lIns="0" tIns="0" rIns="0" bIns="0"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Catalogue</a:t>
            </a:r>
            <a:endParaRPr lang="en-US" sz="1100" dirty="0"/>
          </a:p>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Iceberg</a:t>
            </a:r>
            <a:endParaRPr lang="en-US" sz="1100" dirty="0"/>
          </a:p>
        </p:txBody>
      </p:sp>
      <p:sp>
        <p:nvSpPr>
          <p:cNvPr id="19" name="Shape 17"/>
          <p:cNvSpPr/>
          <p:nvPr/>
        </p:nvSpPr>
        <p:spPr>
          <a:xfrm>
            <a:off x="9361170" y="2766060"/>
            <a:ext cx="331470" cy="9144"/>
          </a:xfrm>
          <a:prstGeom prst="line">
            <a:avLst/>
          </a:prstGeom>
          <a:noFill/>
          <a:ln w="25400">
            <a:solidFill>
              <a:srgbClr val="5B6472"/>
            </a:solidFill>
            <a:prstDash val="solid"/>
            <a:tailEnd type="triangle"/>
          </a:ln>
        </p:spPr>
      </p:sp>
      <p:sp>
        <p:nvSpPr>
          <p:cNvPr id="20" name="Shape 18"/>
          <p:cNvSpPr/>
          <p:nvPr/>
        </p:nvSpPr>
        <p:spPr>
          <a:xfrm>
            <a:off x="9692640" y="1965960"/>
            <a:ext cx="1965960" cy="1600200"/>
          </a:xfrm>
          <a:prstGeom prst="roundRect">
            <a:avLst>
              <a:gd name="adj" fmla="val 4571"/>
            </a:avLst>
          </a:prstGeom>
          <a:solidFill>
            <a:srgbClr val="1E2761"/>
          </a:solidFill>
          <a:ln/>
        </p:spPr>
      </p:sp>
      <p:sp>
        <p:nvSpPr>
          <p:cNvPr id="21" name="Text 19"/>
          <p:cNvSpPr/>
          <p:nvPr/>
        </p:nvSpPr>
        <p:spPr>
          <a:xfrm>
            <a:off x="9802368" y="2130552"/>
            <a:ext cx="1746504"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SeaweedFS</a:t>
            </a:r>
            <a:endParaRPr lang="en-US" sz="1500" dirty="0"/>
          </a:p>
        </p:txBody>
      </p:sp>
      <p:sp>
        <p:nvSpPr>
          <p:cNvPr id="22" name="Text 20"/>
          <p:cNvSpPr/>
          <p:nvPr/>
        </p:nvSpPr>
        <p:spPr>
          <a:xfrm>
            <a:off x="9802368" y="2560320"/>
            <a:ext cx="1746504" cy="868680"/>
          </a:xfrm>
          <a:prstGeom prst="rect">
            <a:avLst/>
          </a:prstGeom>
          <a:noFill/>
          <a:ln/>
        </p:spPr>
        <p:txBody>
          <a:bodyPr wrap="square" lIns="0" tIns="0" rIns="0" bIns="0" rtlCol="0" anchor="ctr"/>
          <a:lstStyle/>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Stockage</a:t>
            </a:r>
            <a:endParaRPr lang="en-US" sz="1100" dirty="0"/>
          </a:p>
          <a:p>
            <a:pPr indent="0" marL="0">
              <a:lnSpc>
                <a:spcPct val="115000"/>
              </a:lnSpc>
              <a:buNone/>
            </a:pPr>
            <a:r>
              <a:rPr lang="en-US" sz="1100" dirty="0">
                <a:solidFill>
                  <a:srgbClr val="CADCFC"/>
                </a:solidFill>
                <a:latin typeface="Calibri" pitchFamily="34" charset="0"/>
                <a:ea typeface="Calibri" pitchFamily="34" charset="-122"/>
                <a:cs typeface="Calibri" pitchFamily="34" charset="-120"/>
              </a:rPr>
              <a:t>objet S3</a:t>
            </a:r>
            <a:endParaRPr lang="en-US" sz="1100" dirty="0"/>
          </a:p>
        </p:txBody>
      </p:sp>
      <p:sp>
        <p:nvSpPr>
          <p:cNvPr id="23" name="Shape 21"/>
          <p:cNvSpPr/>
          <p:nvPr/>
        </p:nvSpPr>
        <p:spPr>
          <a:xfrm>
            <a:off x="502920" y="3858768"/>
            <a:ext cx="457200" cy="457200"/>
          </a:xfrm>
          <a:prstGeom prst="ellipse">
            <a:avLst/>
          </a:prstGeom>
          <a:solidFill>
            <a:srgbClr val="00A896"/>
          </a:solidFill>
          <a:ln/>
        </p:spPr>
      </p:sp>
      <p:sp>
        <p:nvSpPr>
          <p:cNvPr id="24" name="Text 22"/>
          <p:cNvSpPr/>
          <p:nvPr/>
        </p:nvSpPr>
        <p:spPr>
          <a:xfrm>
            <a:off x="502920" y="38587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5" name="Text 23"/>
          <p:cNvSpPr/>
          <p:nvPr/>
        </p:nvSpPr>
        <p:spPr>
          <a:xfrm>
            <a:off x="1161288" y="3794760"/>
            <a:ext cx="10497312" cy="411480"/>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Format ouvert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Iceberg comme format de table — interopérable, sans verrouillage propriétaire.</a:t>
            </a:r>
            <a:endParaRPr lang="en-US" sz="1500" dirty="0"/>
          </a:p>
        </p:txBody>
      </p:sp>
      <p:sp>
        <p:nvSpPr>
          <p:cNvPr id="26" name="Shape 24"/>
          <p:cNvSpPr/>
          <p:nvPr/>
        </p:nvSpPr>
        <p:spPr>
          <a:xfrm>
            <a:off x="502920" y="4407408"/>
            <a:ext cx="457200" cy="457200"/>
          </a:xfrm>
          <a:prstGeom prst="ellipse">
            <a:avLst/>
          </a:prstGeom>
          <a:solidFill>
            <a:srgbClr val="00A896"/>
          </a:solidFill>
          <a:ln/>
        </p:spPr>
      </p:sp>
      <p:sp>
        <p:nvSpPr>
          <p:cNvPr id="27" name="Text 25"/>
          <p:cNvSpPr/>
          <p:nvPr/>
        </p:nvSpPr>
        <p:spPr>
          <a:xfrm>
            <a:off x="502920" y="4407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8" name="Text 26"/>
          <p:cNvSpPr/>
          <p:nvPr/>
        </p:nvSpPr>
        <p:spPr>
          <a:xfrm>
            <a:off x="1161288" y="4343400"/>
            <a:ext cx="10497312" cy="411480"/>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Catalogue partagé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Polaris expose le même catalogue à plusieurs moteurs (Trino, Spark…).</a:t>
            </a:r>
            <a:endParaRPr lang="en-US" sz="1500" dirty="0"/>
          </a:p>
        </p:txBody>
      </p:sp>
      <p:sp>
        <p:nvSpPr>
          <p:cNvPr id="29" name="Shape 27"/>
          <p:cNvSpPr/>
          <p:nvPr/>
        </p:nvSpPr>
        <p:spPr>
          <a:xfrm>
            <a:off x="502920" y="4956048"/>
            <a:ext cx="457200" cy="457200"/>
          </a:xfrm>
          <a:prstGeom prst="ellipse">
            <a:avLst/>
          </a:prstGeom>
          <a:solidFill>
            <a:srgbClr val="00A896"/>
          </a:solidFill>
          <a:ln/>
        </p:spPr>
      </p:sp>
      <p:sp>
        <p:nvSpPr>
          <p:cNvPr id="30" name="Text 28"/>
          <p:cNvSpPr/>
          <p:nvPr/>
        </p:nvSpPr>
        <p:spPr>
          <a:xfrm>
            <a:off x="502920" y="4956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9"/>
          <p:cNvSpPr/>
          <p:nvPr/>
        </p:nvSpPr>
        <p:spPr>
          <a:xfrm>
            <a:off x="1161288" y="4892040"/>
            <a:ext cx="10497312" cy="411480"/>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Gouvernance au niveau moteur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les règles d'accès (ACL / OPA) s'appliquent dans Trino, avec l'identité réelle de l'utilisateur.</a:t>
            </a:r>
            <a:endParaRPr lang="en-US" sz="1500" dirty="0"/>
          </a:p>
        </p:txBody>
      </p:sp>
      <p:sp>
        <p:nvSpPr>
          <p:cNvPr id="32" name="Shape 30"/>
          <p:cNvSpPr/>
          <p:nvPr/>
        </p:nvSpPr>
        <p:spPr>
          <a:xfrm>
            <a:off x="502920" y="5870448"/>
            <a:ext cx="11155680" cy="566928"/>
          </a:xfrm>
          <a:prstGeom prst="roundRect">
            <a:avLst>
              <a:gd name="adj" fmla="val 12903"/>
            </a:avLst>
          </a:prstGeom>
          <a:solidFill>
            <a:srgbClr val="E9EEF9"/>
          </a:solidFill>
          <a:ln/>
        </p:spPr>
      </p:sp>
      <p:sp>
        <p:nvSpPr>
          <p:cNvPr id="33" name="Text 31"/>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Un lakehouse ouvert, gouverné à l'identité, interrogeable par tout moteur compatible Iceberg.</a:t>
            </a:r>
            <a:endParaRPr lang="en-US" sz="1200" dirty="0"/>
          </a:p>
        </p:txBody>
      </p:sp>
      <p:sp>
        <p:nvSpPr>
          <p:cNvPr id="34" name="Text 32"/>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35" name="Text 33"/>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Lakehouse</a:t>
            </a:r>
            <a:endParaRPr lang="en-US" sz="900" dirty="0"/>
          </a:p>
        </p:txBody>
      </p:sp>
      <p:sp>
        <p:nvSpPr>
          <p:cNvPr id="36" name="Text 34"/>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08 — SÉCURITÉ &amp; GOUVERNANCE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point de contrôle unique pour le RSSI</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SSO unifié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authentification OIDC sur l'ensemble des services ; utilisateurs et groupes gérés de façon souveraine dans kubauth.</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Pas de compte partagé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chaque requête adressée à Trino porte le token de l'utilisateur final, pas un compte de service générique.</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Gouvernance centralisée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les règles d'accès aux données (ACL, policies OPA) sont appliquées au niveau de Trino, quel que soit l'outil client.</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Le RSSI dispose d'un point de contrôle et d'audit unique, avec une identité de bout en bout.</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Sécurité &amp; gouvernance</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09 — COMPARATIF</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Quatre approches, quatre profils de risque</a:t>
            </a:r>
            <a:endParaRPr lang="en-US" sz="3000" dirty="0"/>
          </a:p>
        </p:txBody>
      </p:sp>
      <p:sp>
        <p:nvSpPr>
          <p:cNvPr id="4" name="Shape 2"/>
          <p:cNvSpPr/>
          <p:nvPr/>
        </p:nvSpPr>
        <p:spPr>
          <a:xfrm>
            <a:off x="502920" y="1691640"/>
            <a:ext cx="2834640" cy="502920"/>
          </a:xfrm>
          <a:prstGeom prst="rect">
            <a:avLst/>
          </a:prstGeom>
          <a:solidFill>
            <a:srgbClr val="1E2761"/>
          </a:solidFill>
          <a:ln w="9525">
            <a:solidFill>
              <a:srgbClr val="FFFFFF"/>
            </a:solidFill>
            <a:prstDash val="solid"/>
          </a:ln>
        </p:spPr>
      </p:sp>
      <p:sp>
        <p:nvSpPr>
          <p:cNvPr id="5" name="Text 3"/>
          <p:cNvSpPr/>
          <p:nvPr/>
        </p:nvSpPr>
        <p:spPr>
          <a:xfrm>
            <a:off x="502920" y="1691640"/>
            <a:ext cx="2834640" cy="5029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Critère</a:t>
            </a:r>
            <a:endParaRPr lang="en-US" sz="1100" dirty="0"/>
          </a:p>
        </p:txBody>
      </p:sp>
      <p:sp>
        <p:nvSpPr>
          <p:cNvPr id="6" name="Shape 4"/>
          <p:cNvSpPr/>
          <p:nvPr/>
        </p:nvSpPr>
        <p:spPr>
          <a:xfrm>
            <a:off x="3337560" y="1691640"/>
            <a:ext cx="2148840" cy="502920"/>
          </a:xfrm>
          <a:prstGeom prst="rect">
            <a:avLst/>
          </a:prstGeom>
          <a:solidFill>
            <a:srgbClr val="017A72"/>
          </a:solidFill>
          <a:ln w="9525">
            <a:solidFill>
              <a:srgbClr val="FFFFFF"/>
            </a:solidFill>
            <a:prstDash val="solid"/>
          </a:ln>
        </p:spPr>
      </p:sp>
      <p:sp>
        <p:nvSpPr>
          <p:cNvPr id="7" name="Text 5"/>
          <p:cNvSpPr/>
          <p:nvPr/>
        </p:nvSpPr>
        <p:spPr>
          <a:xfrm>
            <a:off x="3337560" y="1691640"/>
            <a:ext cx="2148840" cy="5029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OKDP</a:t>
            </a:r>
            <a:endParaRPr lang="en-US" sz="1100" dirty="0"/>
          </a:p>
        </p:txBody>
      </p:sp>
      <p:sp>
        <p:nvSpPr>
          <p:cNvPr id="8" name="Shape 6"/>
          <p:cNvSpPr/>
          <p:nvPr/>
        </p:nvSpPr>
        <p:spPr>
          <a:xfrm>
            <a:off x="5486400" y="1691640"/>
            <a:ext cx="2331720" cy="502920"/>
          </a:xfrm>
          <a:prstGeom prst="rect">
            <a:avLst/>
          </a:prstGeom>
          <a:solidFill>
            <a:srgbClr val="1E2761"/>
          </a:solidFill>
          <a:ln w="9525">
            <a:solidFill>
              <a:srgbClr val="FFFFFF"/>
            </a:solidFill>
            <a:prstDash val="solid"/>
          </a:ln>
        </p:spPr>
      </p:sp>
      <p:sp>
        <p:nvSpPr>
          <p:cNvPr id="9" name="Text 7"/>
          <p:cNvSpPr/>
          <p:nvPr/>
        </p:nvSpPr>
        <p:spPr>
          <a:xfrm>
            <a:off x="5486400" y="1691640"/>
            <a:ext cx="2331720" cy="5029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Databricks /</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Snowflake</a:t>
            </a:r>
            <a:endParaRPr lang="en-US" sz="1100" dirty="0"/>
          </a:p>
        </p:txBody>
      </p:sp>
      <p:sp>
        <p:nvSpPr>
          <p:cNvPr id="10" name="Shape 8"/>
          <p:cNvSpPr/>
          <p:nvPr/>
        </p:nvSpPr>
        <p:spPr>
          <a:xfrm>
            <a:off x="7818120" y="1691640"/>
            <a:ext cx="1920240" cy="502920"/>
          </a:xfrm>
          <a:prstGeom prst="rect">
            <a:avLst/>
          </a:prstGeom>
          <a:solidFill>
            <a:srgbClr val="1E2761"/>
          </a:solidFill>
          <a:ln w="9525">
            <a:solidFill>
              <a:srgbClr val="FFFFFF"/>
            </a:solidFill>
            <a:prstDash val="solid"/>
          </a:ln>
        </p:spPr>
      </p:sp>
      <p:sp>
        <p:nvSpPr>
          <p:cNvPr id="11" name="Text 9"/>
          <p:cNvSpPr/>
          <p:nvPr/>
        </p:nvSpPr>
        <p:spPr>
          <a:xfrm>
            <a:off x="7818120" y="1691640"/>
            <a:ext cx="1920240" cy="5029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DIY Helm</a:t>
            </a:r>
            <a:endParaRPr lang="en-US" sz="1100" dirty="0"/>
          </a:p>
        </p:txBody>
      </p:sp>
      <p:sp>
        <p:nvSpPr>
          <p:cNvPr id="12" name="Shape 10"/>
          <p:cNvSpPr/>
          <p:nvPr/>
        </p:nvSpPr>
        <p:spPr>
          <a:xfrm>
            <a:off x="9738360" y="1691640"/>
            <a:ext cx="1920240" cy="502920"/>
          </a:xfrm>
          <a:prstGeom prst="rect">
            <a:avLst/>
          </a:prstGeom>
          <a:solidFill>
            <a:srgbClr val="1E2761"/>
          </a:solidFill>
          <a:ln w="9525">
            <a:solidFill>
              <a:srgbClr val="FFFFFF"/>
            </a:solidFill>
            <a:prstDash val="solid"/>
          </a:ln>
        </p:spPr>
      </p:sp>
      <p:sp>
        <p:nvSpPr>
          <p:cNvPr id="13" name="Text 11"/>
          <p:cNvSpPr/>
          <p:nvPr/>
        </p:nvSpPr>
        <p:spPr>
          <a:xfrm>
            <a:off x="9738360" y="1691640"/>
            <a:ext cx="1920240" cy="5029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Legacy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on-prem</a:t>
            </a:r>
            <a:endParaRPr lang="en-US" sz="1100" dirty="0"/>
          </a:p>
        </p:txBody>
      </p:sp>
      <p:sp>
        <p:nvSpPr>
          <p:cNvPr id="14" name="Shape 12"/>
          <p:cNvSpPr/>
          <p:nvPr/>
        </p:nvSpPr>
        <p:spPr>
          <a:xfrm>
            <a:off x="502920" y="2194560"/>
            <a:ext cx="2834640" cy="530352"/>
          </a:xfrm>
          <a:prstGeom prst="rect">
            <a:avLst/>
          </a:prstGeom>
          <a:solidFill>
            <a:srgbClr val="FFFFFF"/>
          </a:solidFill>
          <a:ln w="9525">
            <a:solidFill>
              <a:srgbClr val="D7DEEC"/>
            </a:solidFill>
            <a:prstDash val="solid"/>
          </a:ln>
        </p:spPr>
      </p:sp>
      <p:sp>
        <p:nvSpPr>
          <p:cNvPr id="15" name="Text 13"/>
          <p:cNvSpPr/>
          <p:nvPr/>
        </p:nvSpPr>
        <p:spPr>
          <a:xfrm>
            <a:off x="502920" y="2194560"/>
            <a:ext cx="2834640" cy="530352"/>
          </a:xfrm>
          <a:prstGeom prst="rect">
            <a:avLst/>
          </a:prstGeom>
          <a:noFill/>
          <a:ln/>
        </p:spPr>
        <p:txBody>
          <a:bodyPr wrap="square" lIns="50800" tIns="50800" rIns="50800" bIns="5080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Souveraineté</a:t>
            </a:r>
            <a:endParaRPr lang="en-US" sz="1150" dirty="0"/>
          </a:p>
        </p:txBody>
      </p:sp>
      <p:sp>
        <p:nvSpPr>
          <p:cNvPr id="16" name="Shape 14"/>
          <p:cNvSpPr/>
          <p:nvPr/>
        </p:nvSpPr>
        <p:spPr>
          <a:xfrm>
            <a:off x="3337560" y="2194560"/>
            <a:ext cx="2148840" cy="530352"/>
          </a:xfrm>
          <a:prstGeom prst="rect">
            <a:avLst/>
          </a:prstGeom>
          <a:solidFill>
            <a:srgbClr val="DFF3EF"/>
          </a:solidFill>
          <a:ln w="9525">
            <a:solidFill>
              <a:srgbClr val="D7DEEC"/>
            </a:solidFill>
            <a:prstDash val="solid"/>
          </a:ln>
        </p:spPr>
      </p:sp>
      <p:sp>
        <p:nvSpPr>
          <p:cNvPr id="17" name="Text 15"/>
          <p:cNvSpPr/>
          <p:nvPr/>
        </p:nvSpPr>
        <p:spPr>
          <a:xfrm>
            <a:off x="3337560" y="2194560"/>
            <a:ext cx="2148840" cy="530352"/>
          </a:xfrm>
          <a:prstGeom prst="rect">
            <a:avLst/>
          </a:prstGeom>
          <a:noFill/>
          <a:ln/>
        </p:spPr>
        <p:txBody>
          <a:bodyPr wrap="square" lIns="25400" tIns="25400" rIns="25400" bIns="25400" rtlCol="0" anchor="ctr"/>
          <a:lstStyle/>
          <a:p>
            <a:pPr algn="ctr" indent="0" marL="0">
              <a:buNone/>
            </a:pPr>
            <a:r>
              <a:rPr lang="en-US" sz="1050" b="1" dirty="0">
                <a:solidFill>
                  <a:srgbClr val="1B2033"/>
                </a:solidFill>
                <a:latin typeface="Calibri" pitchFamily="34" charset="0"/>
                <a:ea typeface="Calibri" pitchFamily="34" charset="-122"/>
                <a:cs typeface="Calibri" pitchFamily="34" charset="-120"/>
              </a:rPr>
              <a:t>Forte</a:t>
            </a:r>
            <a:endParaRPr lang="en-US" sz="1050" dirty="0"/>
          </a:p>
        </p:txBody>
      </p:sp>
      <p:sp>
        <p:nvSpPr>
          <p:cNvPr id="18" name="Shape 16"/>
          <p:cNvSpPr/>
          <p:nvPr/>
        </p:nvSpPr>
        <p:spPr>
          <a:xfrm>
            <a:off x="5486400" y="2194560"/>
            <a:ext cx="2331720" cy="530352"/>
          </a:xfrm>
          <a:prstGeom prst="rect">
            <a:avLst/>
          </a:prstGeom>
          <a:solidFill>
            <a:srgbClr val="FFFFFF"/>
          </a:solidFill>
          <a:ln w="9525">
            <a:solidFill>
              <a:srgbClr val="D7DEEC"/>
            </a:solidFill>
            <a:prstDash val="solid"/>
          </a:ln>
        </p:spPr>
      </p:sp>
      <p:sp>
        <p:nvSpPr>
          <p:cNvPr id="19" name="Text 17"/>
          <p:cNvSpPr/>
          <p:nvPr/>
        </p:nvSpPr>
        <p:spPr>
          <a:xfrm>
            <a:off x="5486400" y="2194560"/>
            <a:ext cx="233172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Limitée (SaaS)</a:t>
            </a:r>
            <a:endParaRPr lang="en-US" sz="1050" dirty="0"/>
          </a:p>
        </p:txBody>
      </p:sp>
      <p:sp>
        <p:nvSpPr>
          <p:cNvPr id="20" name="Shape 18"/>
          <p:cNvSpPr/>
          <p:nvPr/>
        </p:nvSpPr>
        <p:spPr>
          <a:xfrm>
            <a:off x="7818120" y="2194560"/>
            <a:ext cx="1920240" cy="530352"/>
          </a:xfrm>
          <a:prstGeom prst="rect">
            <a:avLst/>
          </a:prstGeom>
          <a:solidFill>
            <a:srgbClr val="FFFFFF"/>
          </a:solidFill>
          <a:ln w="9525">
            <a:solidFill>
              <a:srgbClr val="D7DEEC"/>
            </a:solidFill>
            <a:prstDash val="solid"/>
          </a:ln>
        </p:spPr>
      </p:sp>
      <p:sp>
        <p:nvSpPr>
          <p:cNvPr id="21" name="Text 19"/>
          <p:cNvSpPr/>
          <p:nvPr/>
        </p:nvSpPr>
        <p:spPr>
          <a:xfrm>
            <a:off x="7818120" y="2194560"/>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Forte</a:t>
            </a:r>
            <a:endParaRPr lang="en-US" sz="1050" dirty="0"/>
          </a:p>
        </p:txBody>
      </p:sp>
      <p:sp>
        <p:nvSpPr>
          <p:cNvPr id="22" name="Shape 20"/>
          <p:cNvSpPr/>
          <p:nvPr/>
        </p:nvSpPr>
        <p:spPr>
          <a:xfrm>
            <a:off x="9738360" y="2194560"/>
            <a:ext cx="1920240" cy="530352"/>
          </a:xfrm>
          <a:prstGeom prst="rect">
            <a:avLst/>
          </a:prstGeom>
          <a:solidFill>
            <a:srgbClr val="FFFFFF"/>
          </a:solidFill>
          <a:ln w="9525">
            <a:solidFill>
              <a:srgbClr val="D7DEEC"/>
            </a:solidFill>
            <a:prstDash val="solid"/>
          </a:ln>
        </p:spPr>
      </p:sp>
      <p:sp>
        <p:nvSpPr>
          <p:cNvPr id="23" name="Text 21"/>
          <p:cNvSpPr/>
          <p:nvPr/>
        </p:nvSpPr>
        <p:spPr>
          <a:xfrm>
            <a:off x="9738360" y="2194560"/>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Forte</a:t>
            </a:r>
            <a:endParaRPr lang="en-US" sz="1050" dirty="0"/>
          </a:p>
        </p:txBody>
      </p:sp>
      <p:sp>
        <p:nvSpPr>
          <p:cNvPr id="24" name="Shape 22"/>
          <p:cNvSpPr/>
          <p:nvPr/>
        </p:nvSpPr>
        <p:spPr>
          <a:xfrm>
            <a:off x="502920" y="2724912"/>
            <a:ext cx="2834640" cy="530352"/>
          </a:xfrm>
          <a:prstGeom prst="rect">
            <a:avLst/>
          </a:prstGeom>
          <a:solidFill>
            <a:srgbClr val="F2F5FC"/>
          </a:solidFill>
          <a:ln w="9525">
            <a:solidFill>
              <a:srgbClr val="D7DEEC"/>
            </a:solidFill>
            <a:prstDash val="solid"/>
          </a:ln>
        </p:spPr>
      </p:sp>
      <p:sp>
        <p:nvSpPr>
          <p:cNvPr id="25" name="Text 23"/>
          <p:cNvSpPr/>
          <p:nvPr/>
        </p:nvSpPr>
        <p:spPr>
          <a:xfrm>
            <a:off x="502920" y="2724912"/>
            <a:ext cx="2834640" cy="530352"/>
          </a:xfrm>
          <a:prstGeom prst="rect">
            <a:avLst/>
          </a:prstGeom>
          <a:noFill/>
          <a:ln/>
        </p:spPr>
        <p:txBody>
          <a:bodyPr wrap="square" lIns="50800" tIns="50800" rIns="50800" bIns="5080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Time-to-value</a:t>
            </a:r>
            <a:endParaRPr lang="en-US" sz="1150" dirty="0"/>
          </a:p>
        </p:txBody>
      </p:sp>
      <p:sp>
        <p:nvSpPr>
          <p:cNvPr id="26" name="Shape 24"/>
          <p:cNvSpPr/>
          <p:nvPr/>
        </p:nvSpPr>
        <p:spPr>
          <a:xfrm>
            <a:off x="3337560" y="2724912"/>
            <a:ext cx="2148840" cy="530352"/>
          </a:xfrm>
          <a:prstGeom prst="rect">
            <a:avLst/>
          </a:prstGeom>
          <a:solidFill>
            <a:srgbClr val="DFF3EF"/>
          </a:solidFill>
          <a:ln w="9525">
            <a:solidFill>
              <a:srgbClr val="D7DEEC"/>
            </a:solidFill>
            <a:prstDash val="solid"/>
          </a:ln>
        </p:spPr>
      </p:sp>
      <p:sp>
        <p:nvSpPr>
          <p:cNvPr id="27" name="Text 25"/>
          <p:cNvSpPr/>
          <p:nvPr/>
        </p:nvSpPr>
        <p:spPr>
          <a:xfrm>
            <a:off x="3337560" y="2724912"/>
            <a:ext cx="2148840" cy="530352"/>
          </a:xfrm>
          <a:prstGeom prst="rect">
            <a:avLst/>
          </a:prstGeom>
          <a:noFill/>
          <a:ln/>
        </p:spPr>
        <p:txBody>
          <a:bodyPr wrap="square" lIns="25400" tIns="25400" rIns="25400" bIns="25400" rtlCol="0" anchor="ctr"/>
          <a:lstStyle/>
          <a:p>
            <a:pPr algn="ctr" indent="0" marL="0">
              <a:buNone/>
            </a:pPr>
            <a:r>
              <a:rPr lang="en-US" sz="1050" b="1" dirty="0">
                <a:solidFill>
                  <a:srgbClr val="1B2033"/>
                </a:solidFill>
                <a:latin typeface="Calibri" pitchFamily="34" charset="0"/>
                <a:ea typeface="Calibri" pitchFamily="34" charset="-122"/>
                <a:cs typeface="Calibri" pitchFamily="34" charset="-120"/>
              </a:rPr>
              <a:t>Rapide (packagé)</a:t>
            </a:r>
            <a:endParaRPr lang="en-US" sz="1050" dirty="0"/>
          </a:p>
        </p:txBody>
      </p:sp>
      <p:sp>
        <p:nvSpPr>
          <p:cNvPr id="28" name="Shape 26"/>
          <p:cNvSpPr/>
          <p:nvPr/>
        </p:nvSpPr>
        <p:spPr>
          <a:xfrm>
            <a:off x="5486400" y="2724912"/>
            <a:ext cx="2331720" cy="530352"/>
          </a:xfrm>
          <a:prstGeom prst="rect">
            <a:avLst/>
          </a:prstGeom>
          <a:solidFill>
            <a:srgbClr val="F2F5FC"/>
          </a:solidFill>
          <a:ln w="9525">
            <a:solidFill>
              <a:srgbClr val="D7DEEC"/>
            </a:solidFill>
            <a:prstDash val="solid"/>
          </a:ln>
        </p:spPr>
      </p:sp>
      <p:sp>
        <p:nvSpPr>
          <p:cNvPr id="29" name="Text 27"/>
          <p:cNvSpPr/>
          <p:nvPr/>
        </p:nvSpPr>
        <p:spPr>
          <a:xfrm>
            <a:off x="5486400" y="2724912"/>
            <a:ext cx="233172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Rapide</a:t>
            </a:r>
            <a:endParaRPr lang="en-US" sz="1050" dirty="0"/>
          </a:p>
        </p:txBody>
      </p:sp>
      <p:sp>
        <p:nvSpPr>
          <p:cNvPr id="30" name="Shape 28"/>
          <p:cNvSpPr/>
          <p:nvPr/>
        </p:nvSpPr>
        <p:spPr>
          <a:xfrm>
            <a:off x="7818120" y="2724912"/>
            <a:ext cx="1920240" cy="530352"/>
          </a:xfrm>
          <a:prstGeom prst="rect">
            <a:avLst/>
          </a:prstGeom>
          <a:solidFill>
            <a:srgbClr val="F2F5FC"/>
          </a:solidFill>
          <a:ln w="9525">
            <a:solidFill>
              <a:srgbClr val="D7DEEC"/>
            </a:solidFill>
            <a:prstDash val="solid"/>
          </a:ln>
        </p:spPr>
      </p:sp>
      <p:sp>
        <p:nvSpPr>
          <p:cNvPr id="31" name="Text 29"/>
          <p:cNvSpPr/>
          <p:nvPr/>
        </p:nvSpPr>
        <p:spPr>
          <a:xfrm>
            <a:off x="7818120" y="2724912"/>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Lent (mois)</a:t>
            </a:r>
            <a:endParaRPr lang="en-US" sz="1050" dirty="0"/>
          </a:p>
        </p:txBody>
      </p:sp>
      <p:sp>
        <p:nvSpPr>
          <p:cNvPr id="32" name="Shape 30"/>
          <p:cNvSpPr/>
          <p:nvPr/>
        </p:nvSpPr>
        <p:spPr>
          <a:xfrm>
            <a:off x="9738360" y="2724912"/>
            <a:ext cx="1920240" cy="530352"/>
          </a:xfrm>
          <a:prstGeom prst="rect">
            <a:avLst/>
          </a:prstGeom>
          <a:solidFill>
            <a:srgbClr val="F2F5FC"/>
          </a:solidFill>
          <a:ln w="9525">
            <a:solidFill>
              <a:srgbClr val="D7DEEC"/>
            </a:solidFill>
            <a:prstDash val="solid"/>
          </a:ln>
        </p:spPr>
      </p:sp>
      <p:sp>
        <p:nvSpPr>
          <p:cNvPr id="33" name="Text 31"/>
          <p:cNvSpPr/>
          <p:nvPr/>
        </p:nvSpPr>
        <p:spPr>
          <a:xfrm>
            <a:off x="9738360" y="2724912"/>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Lent</a:t>
            </a:r>
            <a:endParaRPr lang="en-US" sz="1050" dirty="0"/>
          </a:p>
        </p:txBody>
      </p:sp>
      <p:sp>
        <p:nvSpPr>
          <p:cNvPr id="34" name="Shape 32"/>
          <p:cNvSpPr/>
          <p:nvPr/>
        </p:nvSpPr>
        <p:spPr>
          <a:xfrm>
            <a:off x="502920" y="3255264"/>
            <a:ext cx="2834640" cy="530352"/>
          </a:xfrm>
          <a:prstGeom prst="rect">
            <a:avLst/>
          </a:prstGeom>
          <a:solidFill>
            <a:srgbClr val="FFFFFF"/>
          </a:solidFill>
          <a:ln w="9525">
            <a:solidFill>
              <a:srgbClr val="D7DEEC"/>
            </a:solidFill>
            <a:prstDash val="solid"/>
          </a:ln>
        </p:spPr>
      </p:sp>
      <p:sp>
        <p:nvSpPr>
          <p:cNvPr id="35" name="Text 33"/>
          <p:cNvSpPr/>
          <p:nvPr/>
        </p:nvSpPr>
        <p:spPr>
          <a:xfrm>
            <a:off x="502920" y="3255264"/>
            <a:ext cx="2834640" cy="530352"/>
          </a:xfrm>
          <a:prstGeom prst="rect">
            <a:avLst/>
          </a:prstGeom>
          <a:noFill/>
          <a:ln/>
        </p:spPr>
        <p:txBody>
          <a:bodyPr wrap="square" lIns="50800" tIns="50800" rIns="50800" bIns="5080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Gouvernance / SSO natif</a:t>
            </a:r>
            <a:endParaRPr lang="en-US" sz="1150" dirty="0"/>
          </a:p>
        </p:txBody>
      </p:sp>
      <p:sp>
        <p:nvSpPr>
          <p:cNvPr id="36" name="Shape 34"/>
          <p:cNvSpPr/>
          <p:nvPr/>
        </p:nvSpPr>
        <p:spPr>
          <a:xfrm>
            <a:off x="3337560" y="3255264"/>
            <a:ext cx="2148840" cy="530352"/>
          </a:xfrm>
          <a:prstGeom prst="rect">
            <a:avLst/>
          </a:prstGeom>
          <a:solidFill>
            <a:srgbClr val="DFF3EF"/>
          </a:solidFill>
          <a:ln w="9525">
            <a:solidFill>
              <a:srgbClr val="D7DEEC"/>
            </a:solidFill>
            <a:prstDash val="solid"/>
          </a:ln>
        </p:spPr>
      </p:sp>
      <p:sp>
        <p:nvSpPr>
          <p:cNvPr id="37" name="Text 35"/>
          <p:cNvSpPr/>
          <p:nvPr/>
        </p:nvSpPr>
        <p:spPr>
          <a:xfrm>
            <a:off x="3337560" y="3255264"/>
            <a:ext cx="2148840" cy="530352"/>
          </a:xfrm>
          <a:prstGeom prst="rect">
            <a:avLst/>
          </a:prstGeom>
          <a:noFill/>
          <a:ln/>
        </p:spPr>
        <p:txBody>
          <a:bodyPr wrap="square" lIns="25400" tIns="25400" rIns="25400" bIns="25400" rtlCol="0" anchor="ctr"/>
          <a:lstStyle/>
          <a:p>
            <a:pPr algn="ctr" indent="0" marL="0">
              <a:buNone/>
            </a:pPr>
            <a:r>
              <a:rPr lang="en-US" sz="1050" b="1" dirty="0">
                <a:solidFill>
                  <a:srgbClr val="1B2033"/>
                </a:solidFill>
                <a:latin typeface="Calibri" pitchFamily="34" charset="0"/>
                <a:ea typeface="Calibri" pitchFamily="34" charset="-122"/>
                <a:cs typeface="Calibri" pitchFamily="34" charset="-120"/>
              </a:rPr>
              <a:t>Natif (kubauth, Trino)</a:t>
            </a:r>
            <a:endParaRPr lang="en-US" sz="1050" dirty="0"/>
          </a:p>
        </p:txBody>
      </p:sp>
      <p:sp>
        <p:nvSpPr>
          <p:cNvPr id="38" name="Shape 36"/>
          <p:cNvSpPr/>
          <p:nvPr/>
        </p:nvSpPr>
        <p:spPr>
          <a:xfrm>
            <a:off x="5486400" y="3255264"/>
            <a:ext cx="2331720" cy="530352"/>
          </a:xfrm>
          <a:prstGeom prst="rect">
            <a:avLst/>
          </a:prstGeom>
          <a:solidFill>
            <a:srgbClr val="FFFFFF"/>
          </a:solidFill>
          <a:ln w="9525">
            <a:solidFill>
              <a:srgbClr val="D7DEEC"/>
            </a:solidFill>
            <a:prstDash val="solid"/>
          </a:ln>
        </p:spPr>
      </p:sp>
      <p:sp>
        <p:nvSpPr>
          <p:cNvPr id="39" name="Text 37"/>
          <p:cNvSpPr/>
          <p:nvPr/>
        </p:nvSpPr>
        <p:spPr>
          <a:xfrm>
            <a:off x="5486400" y="3255264"/>
            <a:ext cx="233172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Natif propriétaire</a:t>
            </a:r>
            <a:endParaRPr lang="en-US" sz="1050" dirty="0"/>
          </a:p>
        </p:txBody>
      </p:sp>
      <p:sp>
        <p:nvSpPr>
          <p:cNvPr id="40" name="Shape 38"/>
          <p:cNvSpPr/>
          <p:nvPr/>
        </p:nvSpPr>
        <p:spPr>
          <a:xfrm>
            <a:off x="7818120" y="3255264"/>
            <a:ext cx="1920240" cy="530352"/>
          </a:xfrm>
          <a:prstGeom prst="rect">
            <a:avLst/>
          </a:prstGeom>
          <a:solidFill>
            <a:srgbClr val="FFFFFF"/>
          </a:solidFill>
          <a:ln w="9525">
            <a:solidFill>
              <a:srgbClr val="D7DEEC"/>
            </a:solidFill>
            <a:prstDash val="solid"/>
          </a:ln>
        </p:spPr>
      </p:sp>
      <p:sp>
        <p:nvSpPr>
          <p:cNvPr id="41" name="Text 39"/>
          <p:cNvSpPr/>
          <p:nvPr/>
        </p:nvSpPr>
        <p:spPr>
          <a:xfrm>
            <a:off x="7818120" y="3255264"/>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À construire</a:t>
            </a:r>
            <a:endParaRPr lang="en-US" sz="1050" dirty="0"/>
          </a:p>
        </p:txBody>
      </p:sp>
      <p:sp>
        <p:nvSpPr>
          <p:cNvPr id="42" name="Shape 40"/>
          <p:cNvSpPr/>
          <p:nvPr/>
        </p:nvSpPr>
        <p:spPr>
          <a:xfrm>
            <a:off x="9738360" y="3255264"/>
            <a:ext cx="1920240" cy="530352"/>
          </a:xfrm>
          <a:prstGeom prst="rect">
            <a:avLst/>
          </a:prstGeom>
          <a:solidFill>
            <a:srgbClr val="FFFFFF"/>
          </a:solidFill>
          <a:ln w="9525">
            <a:solidFill>
              <a:srgbClr val="D7DEEC"/>
            </a:solidFill>
            <a:prstDash val="solid"/>
          </a:ln>
        </p:spPr>
      </p:sp>
      <p:sp>
        <p:nvSpPr>
          <p:cNvPr id="43" name="Text 41"/>
          <p:cNvSpPr/>
          <p:nvPr/>
        </p:nvSpPr>
        <p:spPr>
          <a:xfrm>
            <a:off x="9738360" y="3255264"/>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Hétérogène</a:t>
            </a:r>
            <a:endParaRPr lang="en-US" sz="1050" dirty="0"/>
          </a:p>
        </p:txBody>
      </p:sp>
      <p:sp>
        <p:nvSpPr>
          <p:cNvPr id="44" name="Shape 42"/>
          <p:cNvSpPr/>
          <p:nvPr/>
        </p:nvSpPr>
        <p:spPr>
          <a:xfrm>
            <a:off x="502920" y="3785616"/>
            <a:ext cx="2834640" cy="530352"/>
          </a:xfrm>
          <a:prstGeom prst="rect">
            <a:avLst/>
          </a:prstGeom>
          <a:solidFill>
            <a:srgbClr val="F2F5FC"/>
          </a:solidFill>
          <a:ln w="9525">
            <a:solidFill>
              <a:srgbClr val="D7DEEC"/>
            </a:solidFill>
            <a:prstDash val="solid"/>
          </a:ln>
        </p:spPr>
      </p:sp>
      <p:sp>
        <p:nvSpPr>
          <p:cNvPr id="45" name="Text 43"/>
          <p:cNvSpPr/>
          <p:nvPr/>
        </p:nvSpPr>
        <p:spPr>
          <a:xfrm>
            <a:off x="502920" y="3785616"/>
            <a:ext cx="2834640" cy="530352"/>
          </a:xfrm>
          <a:prstGeom prst="rect">
            <a:avLst/>
          </a:prstGeom>
          <a:noFill/>
          <a:ln/>
        </p:spPr>
        <p:txBody>
          <a:bodyPr wrap="square" lIns="50800" tIns="50800" rIns="50800" bIns="5080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Lock-in</a:t>
            </a:r>
            <a:endParaRPr lang="en-US" sz="1150" dirty="0"/>
          </a:p>
        </p:txBody>
      </p:sp>
      <p:sp>
        <p:nvSpPr>
          <p:cNvPr id="46" name="Shape 44"/>
          <p:cNvSpPr/>
          <p:nvPr/>
        </p:nvSpPr>
        <p:spPr>
          <a:xfrm>
            <a:off x="3337560" y="3785616"/>
            <a:ext cx="2148840" cy="530352"/>
          </a:xfrm>
          <a:prstGeom prst="rect">
            <a:avLst/>
          </a:prstGeom>
          <a:solidFill>
            <a:srgbClr val="DFF3EF"/>
          </a:solidFill>
          <a:ln w="9525">
            <a:solidFill>
              <a:srgbClr val="D7DEEC"/>
            </a:solidFill>
            <a:prstDash val="solid"/>
          </a:ln>
        </p:spPr>
      </p:sp>
      <p:sp>
        <p:nvSpPr>
          <p:cNvPr id="47" name="Text 45"/>
          <p:cNvSpPr/>
          <p:nvPr/>
        </p:nvSpPr>
        <p:spPr>
          <a:xfrm>
            <a:off x="3337560" y="3785616"/>
            <a:ext cx="2148840" cy="530352"/>
          </a:xfrm>
          <a:prstGeom prst="rect">
            <a:avLst/>
          </a:prstGeom>
          <a:noFill/>
          <a:ln/>
        </p:spPr>
        <p:txBody>
          <a:bodyPr wrap="square" lIns="25400" tIns="25400" rIns="25400" bIns="25400" rtlCol="0" anchor="ctr"/>
          <a:lstStyle/>
          <a:p>
            <a:pPr algn="ctr" indent="0" marL="0">
              <a:buNone/>
            </a:pPr>
            <a:r>
              <a:rPr lang="en-US" sz="1050" b="1" dirty="0">
                <a:solidFill>
                  <a:srgbClr val="1B2033"/>
                </a:solidFill>
                <a:latin typeface="Calibri" pitchFamily="34" charset="0"/>
                <a:ea typeface="Calibri" pitchFamily="34" charset="-122"/>
                <a:cs typeface="Calibri" pitchFamily="34" charset="-120"/>
              </a:rPr>
              <a:t>Faible (Apache 2.0)</a:t>
            </a:r>
            <a:endParaRPr lang="en-US" sz="1050" dirty="0"/>
          </a:p>
        </p:txBody>
      </p:sp>
      <p:sp>
        <p:nvSpPr>
          <p:cNvPr id="48" name="Shape 46"/>
          <p:cNvSpPr/>
          <p:nvPr/>
        </p:nvSpPr>
        <p:spPr>
          <a:xfrm>
            <a:off x="5486400" y="3785616"/>
            <a:ext cx="2331720" cy="530352"/>
          </a:xfrm>
          <a:prstGeom prst="rect">
            <a:avLst/>
          </a:prstGeom>
          <a:solidFill>
            <a:srgbClr val="F2F5FC"/>
          </a:solidFill>
          <a:ln w="9525">
            <a:solidFill>
              <a:srgbClr val="D7DEEC"/>
            </a:solidFill>
            <a:prstDash val="solid"/>
          </a:ln>
        </p:spPr>
      </p:sp>
      <p:sp>
        <p:nvSpPr>
          <p:cNvPr id="49" name="Text 47"/>
          <p:cNvSpPr/>
          <p:nvPr/>
        </p:nvSpPr>
        <p:spPr>
          <a:xfrm>
            <a:off x="5486400" y="3785616"/>
            <a:ext cx="233172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Fort</a:t>
            </a:r>
            <a:endParaRPr lang="en-US" sz="1050" dirty="0"/>
          </a:p>
        </p:txBody>
      </p:sp>
      <p:sp>
        <p:nvSpPr>
          <p:cNvPr id="50" name="Shape 48"/>
          <p:cNvSpPr/>
          <p:nvPr/>
        </p:nvSpPr>
        <p:spPr>
          <a:xfrm>
            <a:off x="7818120" y="3785616"/>
            <a:ext cx="1920240" cy="530352"/>
          </a:xfrm>
          <a:prstGeom prst="rect">
            <a:avLst/>
          </a:prstGeom>
          <a:solidFill>
            <a:srgbClr val="F2F5FC"/>
          </a:solidFill>
          <a:ln w="9525">
            <a:solidFill>
              <a:srgbClr val="D7DEEC"/>
            </a:solidFill>
            <a:prstDash val="solid"/>
          </a:ln>
        </p:spPr>
      </p:sp>
      <p:sp>
        <p:nvSpPr>
          <p:cNvPr id="51" name="Text 49"/>
          <p:cNvSpPr/>
          <p:nvPr/>
        </p:nvSpPr>
        <p:spPr>
          <a:xfrm>
            <a:off x="7818120" y="3785616"/>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Faible (mais dette interne)</a:t>
            </a:r>
            <a:endParaRPr lang="en-US" sz="1050" dirty="0"/>
          </a:p>
        </p:txBody>
      </p:sp>
      <p:sp>
        <p:nvSpPr>
          <p:cNvPr id="52" name="Shape 50"/>
          <p:cNvSpPr/>
          <p:nvPr/>
        </p:nvSpPr>
        <p:spPr>
          <a:xfrm>
            <a:off x="9738360" y="3785616"/>
            <a:ext cx="1920240" cy="530352"/>
          </a:xfrm>
          <a:prstGeom prst="rect">
            <a:avLst/>
          </a:prstGeom>
          <a:solidFill>
            <a:srgbClr val="F2F5FC"/>
          </a:solidFill>
          <a:ln w="9525">
            <a:solidFill>
              <a:srgbClr val="D7DEEC"/>
            </a:solidFill>
            <a:prstDash val="solid"/>
          </a:ln>
        </p:spPr>
      </p:sp>
      <p:sp>
        <p:nvSpPr>
          <p:cNvPr id="53" name="Text 51"/>
          <p:cNvSpPr/>
          <p:nvPr/>
        </p:nvSpPr>
        <p:spPr>
          <a:xfrm>
            <a:off x="9738360" y="3785616"/>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Fort (obsolescence)</a:t>
            </a:r>
            <a:endParaRPr lang="en-US" sz="1050" dirty="0"/>
          </a:p>
        </p:txBody>
      </p:sp>
      <p:sp>
        <p:nvSpPr>
          <p:cNvPr id="54" name="Shape 52"/>
          <p:cNvSpPr/>
          <p:nvPr/>
        </p:nvSpPr>
        <p:spPr>
          <a:xfrm>
            <a:off x="502920" y="4315968"/>
            <a:ext cx="2834640" cy="530352"/>
          </a:xfrm>
          <a:prstGeom prst="rect">
            <a:avLst/>
          </a:prstGeom>
          <a:solidFill>
            <a:srgbClr val="FFFFFF"/>
          </a:solidFill>
          <a:ln w="9525">
            <a:solidFill>
              <a:srgbClr val="D7DEEC"/>
            </a:solidFill>
            <a:prstDash val="solid"/>
          </a:ln>
        </p:spPr>
      </p:sp>
      <p:sp>
        <p:nvSpPr>
          <p:cNvPr id="55" name="Text 53"/>
          <p:cNvSpPr/>
          <p:nvPr/>
        </p:nvSpPr>
        <p:spPr>
          <a:xfrm>
            <a:off x="502920" y="4315968"/>
            <a:ext cx="2834640" cy="530352"/>
          </a:xfrm>
          <a:prstGeom prst="rect">
            <a:avLst/>
          </a:prstGeom>
          <a:noFill/>
          <a:ln/>
        </p:spPr>
        <p:txBody>
          <a:bodyPr wrap="square" lIns="50800" tIns="50800" rIns="50800" bIns="5080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TCO / effort d'intégration</a:t>
            </a:r>
            <a:endParaRPr lang="en-US" sz="1150" dirty="0"/>
          </a:p>
        </p:txBody>
      </p:sp>
      <p:sp>
        <p:nvSpPr>
          <p:cNvPr id="56" name="Shape 54"/>
          <p:cNvSpPr/>
          <p:nvPr/>
        </p:nvSpPr>
        <p:spPr>
          <a:xfrm>
            <a:off x="3337560" y="4315968"/>
            <a:ext cx="2148840" cy="530352"/>
          </a:xfrm>
          <a:prstGeom prst="rect">
            <a:avLst/>
          </a:prstGeom>
          <a:solidFill>
            <a:srgbClr val="DFF3EF"/>
          </a:solidFill>
          <a:ln w="9525">
            <a:solidFill>
              <a:srgbClr val="D7DEEC"/>
            </a:solidFill>
            <a:prstDash val="solid"/>
          </a:ln>
        </p:spPr>
      </p:sp>
      <p:sp>
        <p:nvSpPr>
          <p:cNvPr id="57" name="Text 55"/>
          <p:cNvSpPr/>
          <p:nvPr/>
        </p:nvSpPr>
        <p:spPr>
          <a:xfrm>
            <a:off x="3337560" y="4315968"/>
            <a:ext cx="2148840" cy="530352"/>
          </a:xfrm>
          <a:prstGeom prst="rect">
            <a:avLst/>
          </a:prstGeom>
          <a:noFill/>
          <a:ln/>
        </p:spPr>
        <p:txBody>
          <a:bodyPr wrap="square" lIns="25400" tIns="25400" rIns="25400" bIns="25400" rtlCol="0" anchor="ctr"/>
          <a:lstStyle/>
          <a:p>
            <a:pPr algn="ctr" indent="0" marL="0">
              <a:buNone/>
            </a:pPr>
            <a:r>
              <a:rPr lang="en-US" sz="1050" b="1" dirty="0">
                <a:solidFill>
                  <a:srgbClr val="1B2033"/>
                </a:solidFill>
                <a:latin typeface="Calibri" pitchFamily="34" charset="0"/>
                <a:ea typeface="Calibri" pitchFamily="34" charset="-122"/>
                <a:cs typeface="Calibri" pitchFamily="34" charset="-120"/>
              </a:rPr>
              <a:t>Maîtrisé</a:t>
            </a:r>
            <a:endParaRPr lang="en-US" sz="1050" dirty="0"/>
          </a:p>
        </p:txBody>
      </p:sp>
      <p:sp>
        <p:nvSpPr>
          <p:cNvPr id="58" name="Shape 56"/>
          <p:cNvSpPr/>
          <p:nvPr/>
        </p:nvSpPr>
        <p:spPr>
          <a:xfrm>
            <a:off x="5486400" y="4315968"/>
            <a:ext cx="2331720" cy="530352"/>
          </a:xfrm>
          <a:prstGeom prst="rect">
            <a:avLst/>
          </a:prstGeom>
          <a:solidFill>
            <a:srgbClr val="FFFFFF"/>
          </a:solidFill>
          <a:ln w="9525">
            <a:solidFill>
              <a:srgbClr val="D7DEEC"/>
            </a:solidFill>
            <a:prstDash val="solid"/>
          </a:ln>
        </p:spPr>
      </p:sp>
      <p:sp>
        <p:nvSpPr>
          <p:cNvPr id="59" name="Text 57"/>
          <p:cNvSpPr/>
          <p:nvPr/>
        </p:nvSpPr>
        <p:spPr>
          <a:xfrm>
            <a:off x="5486400" y="4315968"/>
            <a:ext cx="233172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Élevé (licences)</a:t>
            </a:r>
            <a:endParaRPr lang="en-US" sz="1050" dirty="0"/>
          </a:p>
        </p:txBody>
      </p:sp>
      <p:sp>
        <p:nvSpPr>
          <p:cNvPr id="60" name="Shape 58"/>
          <p:cNvSpPr/>
          <p:nvPr/>
        </p:nvSpPr>
        <p:spPr>
          <a:xfrm>
            <a:off x="7818120" y="4315968"/>
            <a:ext cx="1920240" cy="530352"/>
          </a:xfrm>
          <a:prstGeom prst="rect">
            <a:avLst/>
          </a:prstGeom>
          <a:solidFill>
            <a:srgbClr val="FFFFFF"/>
          </a:solidFill>
          <a:ln w="9525">
            <a:solidFill>
              <a:srgbClr val="D7DEEC"/>
            </a:solidFill>
            <a:prstDash val="solid"/>
          </a:ln>
        </p:spPr>
      </p:sp>
      <p:sp>
        <p:nvSpPr>
          <p:cNvPr id="61" name="Text 59"/>
          <p:cNvSpPr/>
          <p:nvPr/>
        </p:nvSpPr>
        <p:spPr>
          <a:xfrm>
            <a:off x="7818120" y="4315968"/>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Élevé (ingénierie)</a:t>
            </a:r>
            <a:endParaRPr lang="en-US" sz="1050" dirty="0"/>
          </a:p>
        </p:txBody>
      </p:sp>
      <p:sp>
        <p:nvSpPr>
          <p:cNvPr id="62" name="Shape 60"/>
          <p:cNvSpPr/>
          <p:nvPr/>
        </p:nvSpPr>
        <p:spPr>
          <a:xfrm>
            <a:off x="9738360" y="4315968"/>
            <a:ext cx="1920240" cy="530352"/>
          </a:xfrm>
          <a:prstGeom prst="rect">
            <a:avLst/>
          </a:prstGeom>
          <a:solidFill>
            <a:srgbClr val="FFFFFF"/>
          </a:solidFill>
          <a:ln w="9525">
            <a:solidFill>
              <a:srgbClr val="D7DEEC"/>
            </a:solidFill>
            <a:prstDash val="solid"/>
          </a:ln>
        </p:spPr>
      </p:sp>
      <p:sp>
        <p:nvSpPr>
          <p:cNvPr id="63" name="Text 61"/>
          <p:cNvSpPr/>
          <p:nvPr/>
        </p:nvSpPr>
        <p:spPr>
          <a:xfrm>
            <a:off x="9738360" y="4315968"/>
            <a:ext cx="1920240" cy="530352"/>
          </a:xfrm>
          <a:prstGeom prst="rect">
            <a:avLst/>
          </a:prstGeom>
          <a:noFill/>
          <a:ln/>
        </p:spPr>
        <p:txBody>
          <a:bodyPr wrap="square" lIns="25400" tIns="25400" rIns="25400" bIns="25400" rtlCol="0" anchor="ctr"/>
          <a:lstStyle/>
          <a:p>
            <a:pPr algn="ctr" indent="0" marL="0">
              <a:buNone/>
            </a:pPr>
            <a:r>
              <a:rPr lang="en-US" sz="1050" dirty="0">
                <a:solidFill>
                  <a:srgbClr val="1B2033"/>
                </a:solidFill>
                <a:latin typeface="Calibri" pitchFamily="34" charset="0"/>
                <a:ea typeface="Calibri" pitchFamily="34" charset="-122"/>
                <a:cs typeface="Calibri" pitchFamily="34" charset="-120"/>
              </a:rPr>
              <a:t>Élevé (maintenance)</a:t>
            </a:r>
            <a:endParaRPr lang="en-US" sz="1050" dirty="0"/>
          </a:p>
        </p:txBody>
      </p:sp>
      <p:sp>
        <p:nvSpPr>
          <p:cNvPr id="64" name="Shape 62"/>
          <p:cNvSpPr/>
          <p:nvPr/>
        </p:nvSpPr>
        <p:spPr>
          <a:xfrm>
            <a:off x="502920" y="5989320"/>
            <a:ext cx="11155680" cy="566928"/>
          </a:xfrm>
          <a:prstGeom prst="roundRect">
            <a:avLst>
              <a:gd name="adj" fmla="val 12903"/>
            </a:avLst>
          </a:prstGeom>
          <a:solidFill>
            <a:srgbClr val="E9EEF9"/>
          </a:solidFill>
          <a:ln/>
        </p:spPr>
      </p:sp>
      <p:sp>
        <p:nvSpPr>
          <p:cNvPr id="65" name="Text 63"/>
          <p:cNvSpPr/>
          <p:nvPr/>
        </p:nvSpPr>
        <p:spPr>
          <a:xfrm>
            <a:off x="777240" y="5989320"/>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OKDP combine la rapidité perçue du SaaS et le contrôle du on-prem.</a:t>
            </a:r>
            <a:endParaRPr lang="en-US" sz="1200" dirty="0"/>
          </a:p>
        </p:txBody>
      </p:sp>
      <p:sp>
        <p:nvSpPr>
          <p:cNvPr id="66" name="Text 64"/>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67" name="Text 65"/>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Comparatif</a:t>
            </a:r>
            <a:endParaRPr lang="en-US" sz="900" dirty="0"/>
          </a:p>
        </p:txBody>
      </p:sp>
      <p:sp>
        <p:nvSpPr>
          <p:cNvPr id="68" name="Text 66"/>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10 — DÉPLOIEMENT &amp; OPS</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La même stack, du poste de dev à la production</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Installation GitOps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KuboCD/Flux déploie de façon déclarative et versionnée sur tout cluster Kubernetes cible.</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Même stack dev → prod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cohérence des environnements, montée en charge progressive, moindre effet de surprise en production.</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Mises à jour pilotées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le Control Plane orchestre les mises à jour des packages, sans réécrire les manifestes à la main.</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L'équipe plateforme garde la main, sans réinventer un outillage GitOps maison.</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Déploiement &amp; Ops</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11 — CAS D'USAGE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même socle, trois contextes sectoriels</a:t>
            </a:r>
            <a:endParaRPr lang="en-US" sz="3000" dirty="0"/>
          </a:p>
        </p:txBody>
      </p:sp>
      <p:sp>
        <p:nvSpPr>
          <p:cNvPr id="4" name="Shape 2"/>
          <p:cNvSpPr/>
          <p:nvPr/>
        </p:nvSpPr>
        <p:spPr>
          <a:xfrm>
            <a:off x="502920" y="1737360"/>
            <a:ext cx="3566160" cy="3566160"/>
          </a:xfrm>
          <a:prstGeom prst="roundRect">
            <a:avLst>
              <a:gd name="adj" fmla="val 2564"/>
            </a:avLst>
          </a:prstGeom>
          <a:solidFill>
            <a:srgbClr val="1E2761"/>
          </a:solidFill>
          <a:ln/>
        </p:spPr>
      </p:sp>
      <p:sp>
        <p:nvSpPr>
          <p:cNvPr id="5" name="Text 3"/>
          <p:cNvSpPr/>
          <p:nvPr/>
        </p:nvSpPr>
        <p:spPr>
          <a:xfrm>
            <a:off x="777240" y="2011680"/>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Banque</a:t>
            </a:r>
            <a:endParaRPr lang="en-US" sz="2000" dirty="0"/>
          </a:p>
        </p:txBody>
      </p:sp>
      <p:sp>
        <p:nvSpPr>
          <p:cNvPr id="6" name="Shape 4"/>
          <p:cNvSpPr/>
          <p:nvPr/>
        </p:nvSpPr>
        <p:spPr>
          <a:xfrm>
            <a:off x="777240" y="2560320"/>
            <a:ext cx="548640" cy="0"/>
          </a:xfrm>
          <a:prstGeom prst="line">
            <a:avLst/>
          </a:prstGeom>
          <a:noFill/>
          <a:ln w="25400">
            <a:solidFill>
              <a:srgbClr val="00A896"/>
            </a:solidFill>
            <a:prstDash val="solid"/>
          </a:ln>
        </p:spPr>
      </p:sp>
      <p:sp>
        <p:nvSpPr>
          <p:cNvPr id="7" name="Text 5"/>
          <p:cNvSpPr/>
          <p:nvPr/>
        </p:nvSpPr>
        <p:spPr>
          <a:xfrm>
            <a:off x="777240" y="2788920"/>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Reporting réglementaire</a:t>
            </a:r>
            <a:endParaRPr lang="en-US" sz="1300" dirty="0"/>
          </a:p>
        </p:txBody>
      </p:sp>
      <p:sp>
        <p:nvSpPr>
          <p:cNvPr id="8" name="Text 6"/>
          <p:cNvSpPr/>
          <p:nvPr/>
        </p:nvSpPr>
        <p:spPr>
          <a:xfrm>
            <a:off x="777240" y="3172968"/>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sous SSO et gouvernance</a:t>
            </a:r>
            <a:endParaRPr lang="en-US" sz="1300" dirty="0"/>
          </a:p>
        </p:txBody>
      </p:sp>
      <p:sp>
        <p:nvSpPr>
          <p:cNvPr id="9" name="Text 7"/>
          <p:cNvSpPr/>
          <p:nvPr/>
        </p:nvSpPr>
        <p:spPr>
          <a:xfrm>
            <a:off x="777240" y="3557016"/>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Self-service BI encadré</a:t>
            </a:r>
            <a:endParaRPr lang="en-US" sz="1300" dirty="0"/>
          </a:p>
        </p:txBody>
      </p:sp>
      <p:sp>
        <p:nvSpPr>
          <p:cNvPr id="10" name="Text 8"/>
          <p:cNvSpPr/>
          <p:nvPr/>
        </p:nvSpPr>
        <p:spPr>
          <a:xfrm>
            <a:off x="777240" y="3941064"/>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(Superset + Trino)</a:t>
            </a:r>
            <a:endParaRPr lang="en-US" sz="1300" dirty="0"/>
          </a:p>
        </p:txBody>
      </p:sp>
      <p:sp>
        <p:nvSpPr>
          <p:cNvPr id="11" name="Shape 9"/>
          <p:cNvSpPr/>
          <p:nvPr/>
        </p:nvSpPr>
        <p:spPr>
          <a:xfrm>
            <a:off x="4297680" y="1737360"/>
            <a:ext cx="3566160" cy="3566160"/>
          </a:xfrm>
          <a:prstGeom prst="roundRect">
            <a:avLst>
              <a:gd name="adj" fmla="val 2564"/>
            </a:avLst>
          </a:prstGeom>
          <a:solidFill>
            <a:srgbClr val="223072"/>
          </a:solidFill>
          <a:ln/>
        </p:spPr>
      </p:sp>
      <p:sp>
        <p:nvSpPr>
          <p:cNvPr id="12" name="Text 10"/>
          <p:cNvSpPr/>
          <p:nvPr/>
        </p:nvSpPr>
        <p:spPr>
          <a:xfrm>
            <a:off x="4572000" y="2011680"/>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Industrie</a:t>
            </a:r>
            <a:endParaRPr lang="en-US" sz="2000" dirty="0"/>
          </a:p>
        </p:txBody>
      </p:sp>
      <p:sp>
        <p:nvSpPr>
          <p:cNvPr id="13" name="Shape 11"/>
          <p:cNvSpPr/>
          <p:nvPr/>
        </p:nvSpPr>
        <p:spPr>
          <a:xfrm>
            <a:off x="4572000" y="2560320"/>
            <a:ext cx="548640" cy="0"/>
          </a:xfrm>
          <a:prstGeom prst="line">
            <a:avLst/>
          </a:prstGeom>
          <a:noFill/>
          <a:ln w="25400">
            <a:solidFill>
              <a:srgbClr val="00A896"/>
            </a:solidFill>
            <a:prstDash val="solid"/>
          </a:ln>
        </p:spPr>
      </p:sp>
      <p:sp>
        <p:nvSpPr>
          <p:cNvPr id="14" name="Text 12"/>
          <p:cNvSpPr/>
          <p:nvPr/>
        </p:nvSpPr>
        <p:spPr>
          <a:xfrm>
            <a:off x="4572000" y="2788920"/>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Pipelines Spark / Airflow</a:t>
            </a:r>
            <a:endParaRPr lang="en-US" sz="1300" dirty="0"/>
          </a:p>
        </p:txBody>
      </p:sp>
      <p:sp>
        <p:nvSpPr>
          <p:cNvPr id="15" name="Text 13"/>
          <p:cNvSpPr/>
          <p:nvPr/>
        </p:nvSpPr>
        <p:spPr>
          <a:xfrm>
            <a:off x="4572000" y="3172968"/>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sur données production / IoT</a:t>
            </a:r>
            <a:endParaRPr lang="en-US" sz="1300" dirty="0"/>
          </a:p>
        </p:txBody>
      </p:sp>
      <p:sp>
        <p:nvSpPr>
          <p:cNvPr id="16" name="Text 14"/>
          <p:cNvSpPr/>
          <p:nvPr/>
        </p:nvSpPr>
        <p:spPr>
          <a:xfrm>
            <a:off x="4572000" y="3557016"/>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Data science sur</a:t>
            </a:r>
            <a:endParaRPr lang="en-US" sz="1300" dirty="0"/>
          </a:p>
        </p:txBody>
      </p:sp>
      <p:sp>
        <p:nvSpPr>
          <p:cNvPr id="17" name="Text 15"/>
          <p:cNvSpPr/>
          <p:nvPr/>
        </p:nvSpPr>
        <p:spPr>
          <a:xfrm>
            <a:off x="4572000" y="3941064"/>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JupyterHub</a:t>
            </a:r>
            <a:endParaRPr lang="en-US" sz="1300" dirty="0"/>
          </a:p>
        </p:txBody>
      </p:sp>
      <p:sp>
        <p:nvSpPr>
          <p:cNvPr id="18" name="Shape 16"/>
          <p:cNvSpPr/>
          <p:nvPr/>
        </p:nvSpPr>
        <p:spPr>
          <a:xfrm>
            <a:off x="8092440" y="1737360"/>
            <a:ext cx="3566160" cy="3566160"/>
          </a:xfrm>
          <a:prstGeom prst="roundRect">
            <a:avLst>
              <a:gd name="adj" fmla="val 2564"/>
            </a:avLst>
          </a:prstGeom>
          <a:solidFill>
            <a:srgbClr val="017A72"/>
          </a:solidFill>
          <a:ln/>
        </p:spPr>
      </p:sp>
      <p:sp>
        <p:nvSpPr>
          <p:cNvPr id="19" name="Text 17"/>
          <p:cNvSpPr/>
          <p:nvPr/>
        </p:nvSpPr>
        <p:spPr>
          <a:xfrm>
            <a:off x="8366760" y="2011680"/>
            <a:ext cx="30175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Secteur public</a:t>
            </a:r>
            <a:endParaRPr lang="en-US" sz="2000" dirty="0"/>
          </a:p>
        </p:txBody>
      </p:sp>
      <p:sp>
        <p:nvSpPr>
          <p:cNvPr id="20" name="Shape 18"/>
          <p:cNvSpPr/>
          <p:nvPr/>
        </p:nvSpPr>
        <p:spPr>
          <a:xfrm>
            <a:off x="8366760" y="2560320"/>
            <a:ext cx="548640" cy="0"/>
          </a:xfrm>
          <a:prstGeom prst="line">
            <a:avLst/>
          </a:prstGeom>
          <a:noFill/>
          <a:ln w="25400">
            <a:solidFill>
              <a:srgbClr val="00A896"/>
            </a:solidFill>
            <a:prstDash val="solid"/>
          </a:ln>
        </p:spPr>
      </p:sp>
      <p:sp>
        <p:nvSpPr>
          <p:cNvPr id="21" name="Text 19"/>
          <p:cNvSpPr/>
          <p:nvPr/>
        </p:nvSpPr>
        <p:spPr>
          <a:xfrm>
            <a:off x="8366760" y="2788920"/>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Souveraineté data stricte,</a:t>
            </a:r>
            <a:endParaRPr lang="en-US" sz="1300" dirty="0"/>
          </a:p>
        </p:txBody>
      </p:sp>
      <p:sp>
        <p:nvSpPr>
          <p:cNvPr id="22" name="Text 20"/>
          <p:cNvSpPr/>
          <p:nvPr/>
        </p:nvSpPr>
        <p:spPr>
          <a:xfrm>
            <a:off x="8366760" y="3172968"/>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hébergement on-prem /</a:t>
            </a:r>
            <a:endParaRPr lang="en-US" sz="1300" dirty="0"/>
          </a:p>
        </p:txBody>
      </p:sp>
      <p:sp>
        <p:nvSpPr>
          <p:cNvPr id="23" name="Text 21"/>
          <p:cNvSpPr/>
          <p:nvPr/>
        </p:nvSpPr>
        <p:spPr>
          <a:xfrm>
            <a:off x="8366760" y="3557016"/>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cloud souverain</a:t>
            </a:r>
            <a:endParaRPr lang="en-US" sz="1300" dirty="0"/>
          </a:p>
        </p:txBody>
      </p:sp>
      <p:sp>
        <p:nvSpPr>
          <p:cNvPr id="24" name="Text 22"/>
          <p:cNvSpPr/>
          <p:nvPr/>
        </p:nvSpPr>
        <p:spPr>
          <a:xfrm>
            <a:off x="8366760" y="3941064"/>
            <a:ext cx="301752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Traçabilité GitOps</a:t>
            </a:r>
            <a:endParaRPr lang="en-US" sz="1300" dirty="0"/>
          </a:p>
        </p:txBody>
      </p:sp>
      <p:sp>
        <p:nvSpPr>
          <p:cNvPr id="25" name="Shape 23"/>
          <p:cNvSpPr/>
          <p:nvPr/>
        </p:nvSpPr>
        <p:spPr>
          <a:xfrm>
            <a:off x="502920" y="5870448"/>
            <a:ext cx="11155680" cy="566928"/>
          </a:xfrm>
          <a:prstGeom prst="roundRect">
            <a:avLst>
              <a:gd name="adj" fmla="val 12903"/>
            </a:avLst>
          </a:prstGeom>
          <a:solidFill>
            <a:srgbClr val="E9EEF9"/>
          </a:solidFill>
          <a:ln/>
        </p:spPr>
      </p:sp>
      <p:sp>
        <p:nvSpPr>
          <p:cNvPr id="26" name="Text 24"/>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Trois secteurs, un même besoin : souveraineté et self-service gouverné.</a:t>
            </a:r>
            <a:endParaRPr lang="en-US" sz="1200" dirty="0"/>
          </a:p>
        </p:txBody>
      </p:sp>
      <p:sp>
        <p:nvSpPr>
          <p:cNvPr id="27" name="Text 25"/>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28" name="Text 26"/>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Cas d'usage</a:t>
            </a:r>
            <a:endParaRPr lang="en-US" sz="900" dirty="0"/>
          </a:p>
        </p:txBody>
      </p:sp>
      <p:sp>
        <p:nvSpPr>
          <p:cNvPr id="29" name="Text 27"/>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12 — LIMITES &amp; ROADMAP</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Une trajectoire transparente</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Pas de MLOps intégré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MLflow n'est pas encore packagé nativement — il est sur la roadmap.</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Pas d'IAM unifié cross-outils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l'identité est centralisée (kubauth / OIDC), mais les autorisations restent spécifiques à chaque outil (ACL Trino, policies Superset, etc.).</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Plateforme en évolution active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les composants sous-jacents (Spark, Trino, Iceberg, Superset…) sont matures et déjà éprouvés en production ; l'intégration OKDP continue de s'enrichir.</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Une roadmap assumée ; le socle sur lequel elle s'appuie est déjà solide en production.</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Limites &amp; roadmap</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3C"/>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13 — SYNTHÈSE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Trois raisons de choisir OKDP</a:t>
            </a:r>
            <a:endParaRPr lang="en-US" sz="3000" dirty="0"/>
          </a:p>
        </p:txBody>
      </p:sp>
      <p:sp>
        <p:nvSpPr>
          <p:cNvPr id="4" name="Shape 2"/>
          <p:cNvSpPr/>
          <p:nvPr/>
        </p:nvSpPr>
        <p:spPr>
          <a:xfrm>
            <a:off x="502920" y="1783080"/>
            <a:ext cx="3566160" cy="3749040"/>
          </a:xfrm>
          <a:prstGeom prst="roundRect">
            <a:avLst>
              <a:gd name="adj" fmla="val 2564"/>
            </a:avLst>
          </a:prstGeom>
          <a:solidFill>
            <a:srgbClr val="1B2263"/>
          </a:solidFill>
          <a:ln/>
        </p:spPr>
      </p:sp>
      <p:sp>
        <p:nvSpPr>
          <p:cNvPr id="5" name="Text 3"/>
          <p:cNvSpPr/>
          <p:nvPr/>
        </p:nvSpPr>
        <p:spPr>
          <a:xfrm>
            <a:off x="777240" y="2011680"/>
            <a:ext cx="1097280" cy="822960"/>
          </a:xfrm>
          <a:prstGeom prst="rect">
            <a:avLst/>
          </a:prstGeom>
          <a:noFill/>
          <a:ln/>
        </p:spPr>
        <p:txBody>
          <a:bodyPr wrap="square" lIns="0" tIns="0" rIns="0" bIns="0" rtlCol="0" anchor="ctr"/>
          <a:lstStyle/>
          <a:p>
            <a:pPr indent="0" marL="0">
              <a:buNone/>
            </a:pPr>
            <a:r>
              <a:rPr lang="en-US" sz="4800" b="1" dirty="0">
                <a:solidFill>
                  <a:srgbClr val="00A896"/>
                </a:solidFill>
                <a:latin typeface="Cambria" pitchFamily="34" charset="0"/>
                <a:ea typeface="Cambria" pitchFamily="34" charset="-122"/>
                <a:cs typeface="Cambria" pitchFamily="34" charset="-120"/>
              </a:rPr>
              <a:t>1</a:t>
            </a:r>
            <a:endParaRPr lang="en-US" sz="4800" dirty="0"/>
          </a:p>
        </p:txBody>
      </p:sp>
      <p:sp>
        <p:nvSpPr>
          <p:cNvPr id="6" name="Text 4"/>
          <p:cNvSpPr/>
          <p:nvPr/>
        </p:nvSpPr>
        <p:spPr>
          <a:xfrm>
            <a:off x="777240" y="2880360"/>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Souveraineté totale</a:t>
            </a:r>
            <a:endParaRPr lang="en-US" sz="1800" dirty="0"/>
          </a:p>
        </p:txBody>
      </p:sp>
      <p:sp>
        <p:nvSpPr>
          <p:cNvPr id="7" name="Text 5"/>
          <p:cNvSpPr/>
          <p:nvPr/>
        </p:nvSpPr>
        <p:spPr>
          <a:xfrm>
            <a:off x="777240" y="365760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Données, calcul, identité, secrets et déploiement restent chez vous — architecture, pas promesse contractuelle.</a:t>
            </a:r>
            <a:endParaRPr lang="en-US" sz="1250" dirty="0"/>
          </a:p>
        </p:txBody>
      </p:sp>
      <p:sp>
        <p:nvSpPr>
          <p:cNvPr id="8" name="Shape 6"/>
          <p:cNvSpPr/>
          <p:nvPr/>
        </p:nvSpPr>
        <p:spPr>
          <a:xfrm>
            <a:off x="4297680" y="1783080"/>
            <a:ext cx="3566160" cy="3749040"/>
          </a:xfrm>
          <a:prstGeom prst="roundRect">
            <a:avLst>
              <a:gd name="adj" fmla="val 2564"/>
            </a:avLst>
          </a:prstGeom>
          <a:solidFill>
            <a:srgbClr val="1B2263"/>
          </a:solidFill>
          <a:ln/>
        </p:spPr>
      </p:sp>
      <p:sp>
        <p:nvSpPr>
          <p:cNvPr id="9" name="Text 7"/>
          <p:cNvSpPr/>
          <p:nvPr/>
        </p:nvSpPr>
        <p:spPr>
          <a:xfrm>
            <a:off x="4572000" y="2011680"/>
            <a:ext cx="1097280" cy="822960"/>
          </a:xfrm>
          <a:prstGeom prst="rect">
            <a:avLst/>
          </a:prstGeom>
          <a:noFill/>
          <a:ln/>
        </p:spPr>
        <p:txBody>
          <a:bodyPr wrap="square" lIns="0" tIns="0" rIns="0" bIns="0" rtlCol="0" anchor="ctr"/>
          <a:lstStyle/>
          <a:p>
            <a:pPr indent="0" marL="0">
              <a:buNone/>
            </a:pPr>
            <a:r>
              <a:rPr lang="en-US" sz="4800" b="1" dirty="0">
                <a:solidFill>
                  <a:srgbClr val="00A896"/>
                </a:solidFill>
                <a:latin typeface="Cambria" pitchFamily="34" charset="0"/>
                <a:ea typeface="Cambria" pitchFamily="34" charset="-122"/>
                <a:cs typeface="Cambria" pitchFamily="34" charset="-120"/>
              </a:rPr>
              <a:t>2</a:t>
            </a:r>
            <a:endParaRPr lang="en-US" sz="4800" dirty="0"/>
          </a:p>
        </p:txBody>
      </p:sp>
      <p:sp>
        <p:nvSpPr>
          <p:cNvPr id="10" name="Text 8"/>
          <p:cNvSpPr/>
          <p:nvPr/>
        </p:nvSpPr>
        <p:spPr>
          <a:xfrm>
            <a:off x="4572000" y="2880360"/>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Lakehouse ouvert et gouverné</a:t>
            </a:r>
            <a:endParaRPr lang="en-US" sz="1800" dirty="0"/>
          </a:p>
        </p:txBody>
      </p:sp>
      <p:sp>
        <p:nvSpPr>
          <p:cNvPr id="11" name="Text 9"/>
          <p:cNvSpPr/>
          <p:nvPr/>
        </p:nvSpPr>
        <p:spPr>
          <a:xfrm>
            <a:off x="4572000" y="365760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Iceberg + Polaris + Trino + Superset, avec identité de bout en bout et enforcement centralisé (ACL / OPA).</a:t>
            </a:r>
            <a:endParaRPr lang="en-US" sz="1250" dirty="0"/>
          </a:p>
        </p:txBody>
      </p:sp>
      <p:sp>
        <p:nvSpPr>
          <p:cNvPr id="12" name="Shape 10"/>
          <p:cNvSpPr/>
          <p:nvPr/>
        </p:nvSpPr>
        <p:spPr>
          <a:xfrm>
            <a:off x="8092440" y="1783080"/>
            <a:ext cx="3566160" cy="3749040"/>
          </a:xfrm>
          <a:prstGeom prst="roundRect">
            <a:avLst>
              <a:gd name="adj" fmla="val 2564"/>
            </a:avLst>
          </a:prstGeom>
          <a:solidFill>
            <a:srgbClr val="1B2263"/>
          </a:solidFill>
          <a:ln/>
        </p:spPr>
      </p:sp>
      <p:sp>
        <p:nvSpPr>
          <p:cNvPr id="13" name="Text 11"/>
          <p:cNvSpPr/>
          <p:nvPr/>
        </p:nvSpPr>
        <p:spPr>
          <a:xfrm>
            <a:off x="8366760" y="2011680"/>
            <a:ext cx="1097280" cy="822960"/>
          </a:xfrm>
          <a:prstGeom prst="rect">
            <a:avLst/>
          </a:prstGeom>
          <a:noFill/>
          <a:ln/>
        </p:spPr>
        <p:txBody>
          <a:bodyPr wrap="square" lIns="0" tIns="0" rIns="0" bIns="0" rtlCol="0" anchor="ctr"/>
          <a:lstStyle/>
          <a:p>
            <a:pPr indent="0" marL="0">
              <a:buNone/>
            </a:pPr>
            <a:r>
              <a:rPr lang="en-US" sz="4800" b="1" dirty="0">
                <a:solidFill>
                  <a:srgbClr val="00A896"/>
                </a:solidFill>
                <a:latin typeface="Cambria" pitchFamily="34" charset="0"/>
                <a:ea typeface="Cambria" pitchFamily="34" charset="-122"/>
                <a:cs typeface="Cambria" pitchFamily="34" charset="-120"/>
              </a:rPr>
              <a:t>3</a:t>
            </a:r>
            <a:endParaRPr lang="en-US" sz="4800" dirty="0"/>
          </a:p>
        </p:txBody>
      </p:sp>
      <p:sp>
        <p:nvSpPr>
          <p:cNvPr id="14" name="Text 12"/>
          <p:cNvSpPr/>
          <p:nvPr/>
        </p:nvSpPr>
        <p:spPr>
          <a:xfrm>
            <a:off x="8366760" y="2880360"/>
            <a:ext cx="30175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Time-to-value</a:t>
            </a:r>
            <a:endParaRPr lang="en-US" sz="1800" dirty="0"/>
          </a:p>
        </p:txBody>
      </p:sp>
      <p:sp>
        <p:nvSpPr>
          <p:cNvPr id="15" name="Text 13"/>
          <p:cNvSpPr/>
          <p:nvPr/>
        </p:nvSpPr>
        <p:spPr>
          <a:xfrm>
            <a:off x="8366760" y="3657600"/>
            <a:ext cx="3017520" cy="1737360"/>
          </a:xfrm>
          <a:prstGeom prst="rect">
            <a:avLst/>
          </a:prstGeom>
          <a:noFill/>
          <a:ln/>
        </p:spPr>
        <p:txBody>
          <a:bodyPr wrap="square" lIns="0" tIns="0" rIns="0" bIns="0" rtlCol="0" anchor="ctr"/>
          <a:lstStyle/>
          <a:p>
            <a:pPr indent="0" marL="0">
              <a:lnSpc>
                <a:spcPct val="120000"/>
              </a:lnSpc>
              <a:buNone/>
            </a:pPr>
            <a:r>
              <a:rPr lang="en-US" sz="1250" dirty="0">
                <a:solidFill>
                  <a:srgbClr val="CADCFC"/>
                </a:solidFill>
                <a:latin typeface="Calibri" pitchFamily="34" charset="0"/>
                <a:ea typeface="Calibri" pitchFamily="34" charset="-122"/>
                <a:cs typeface="Calibri" pitchFamily="34" charset="-120"/>
              </a:rPr>
              <a:t>Un socle prêt à l'emploi, sans le coût ni les délais d'un assemblage Helm fait maison.</a:t>
            </a:r>
            <a:endParaRPr lang="en-US" sz="1250" dirty="0"/>
          </a:p>
        </p:txBody>
      </p:sp>
      <p:sp>
        <p:nvSpPr>
          <p:cNvPr id="16" name="Text 14"/>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7" name="Text 15"/>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Synthèse</a:t>
            </a:r>
            <a:endParaRPr lang="en-US" sz="900" dirty="0"/>
          </a:p>
        </p:txBody>
      </p:sp>
      <p:sp>
        <p:nvSpPr>
          <p:cNvPr id="18" name="Text 16"/>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14 — PROCHAINE ÉTAPE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POC de 4 à 6 semaines, sur votre infrastructure</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Périmètre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lakehouse Polaris + Trino + Superset, identité kubauth (SSO), 5 à 10 utilisateurs pilotes.</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Durée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4 à 6 semaines, déployé sur votre infrastructure Kubernetes (on-prem / cloud souverain).</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Objectif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valider souveraineté, time-to-value et adoption utilisateur avant toute généralisation.</a:t>
            </a:r>
            <a:endParaRPr lang="en-US" sz="1500" dirty="0"/>
          </a:p>
        </p:txBody>
      </p:sp>
      <p:sp>
        <p:nvSpPr>
          <p:cNvPr id="13" name="Shape 11"/>
          <p:cNvSpPr/>
          <p:nvPr/>
        </p:nvSpPr>
        <p:spPr>
          <a:xfrm>
            <a:off x="502920" y="5870448"/>
            <a:ext cx="11155680" cy="566928"/>
          </a:xfrm>
          <a:prstGeom prst="roundRect">
            <a:avLst>
              <a:gd name="adj" fmla="val 12903"/>
            </a:avLst>
          </a:prstGeom>
          <a:solidFill>
            <a:srgbClr val="E9EEF9"/>
          </a:solidFill>
          <a:ln/>
        </p:spPr>
      </p:sp>
      <p:sp>
        <p:nvSpPr>
          <p:cNvPr id="14" name="Text 12"/>
          <p:cNvSpPr/>
          <p:nvPr/>
        </p:nvSpPr>
        <p:spPr>
          <a:xfrm>
            <a:off x="777240" y="5870448"/>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Un engagement limité pour une preuve concrète, sur vos données, dans votre environnement.</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POC</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3C"/>
        </a:solidFill>
      </p:bgPr>
    </p:bg>
    <p:spTree>
      <p:nvGrpSpPr>
        <p:cNvPr id="1" name=""/>
        <p:cNvGrpSpPr/>
        <p:nvPr/>
      </p:nvGrpSpPr>
      <p:grpSpPr>
        <a:xfrm>
          <a:off x="0" y="0"/>
          <a:ext cx="0" cy="0"/>
          <a:chOff x="0" y="0"/>
          <a:chExt cx="0" cy="0"/>
        </a:xfrm>
      </p:grpSpPr>
      <p:sp>
        <p:nvSpPr>
          <p:cNvPr id="2" name="Text 0"/>
          <p:cNvSpPr/>
          <p:nvPr/>
        </p:nvSpPr>
        <p:spPr>
          <a:xfrm>
            <a:off x="548640" y="210312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Merci</a:t>
            </a:r>
            <a:endParaRPr lang="en-US" sz="4400" dirty="0"/>
          </a:p>
        </p:txBody>
      </p:sp>
      <p:sp>
        <p:nvSpPr>
          <p:cNvPr id="3" name="Text 1"/>
          <p:cNvSpPr/>
          <p:nvPr/>
        </p:nvSpPr>
        <p:spPr>
          <a:xfrm>
            <a:off x="548640" y="2971800"/>
            <a:ext cx="8229600" cy="548640"/>
          </a:xfrm>
          <a:prstGeom prst="rect">
            <a:avLst/>
          </a:prstGeom>
          <a:noFill/>
          <a:ln/>
        </p:spPr>
        <p:txBody>
          <a:bodyPr wrap="square" lIns="0" tIns="0" rIns="0" bIns="0" rtlCol="0" anchor="ctr"/>
          <a:lstStyle/>
          <a:p>
            <a:pPr indent="0" marL="0">
              <a:buNone/>
            </a:pPr>
            <a:r>
              <a:rPr lang="en-US" sz="1800" i="1" dirty="0">
                <a:solidFill>
                  <a:srgbClr val="CADCFC"/>
                </a:solidFill>
                <a:latin typeface="Cambria" pitchFamily="34" charset="0"/>
                <a:ea typeface="Cambria" pitchFamily="34" charset="-122"/>
                <a:cs typeface="Cambria" pitchFamily="34" charset="-120"/>
              </a:rPr>
              <a:t>OKDP — la souveraineté par l'architecture, le lakehouse par défaut.</a:t>
            </a:r>
            <a:endParaRPr lang="en-US" sz="1800" dirty="0"/>
          </a:p>
        </p:txBody>
      </p:sp>
      <p:sp>
        <p:nvSpPr>
          <p:cNvPr id="4" name="Shape 2"/>
          <p:cNvSpPr/>
          <p:nvPr/>
        </p:nvSpPr>
        <p:spPr>
          <a:xfrm>
            <a:off x="566928" y="3657600"/>
            <a:ext cx="2926080" cy="0"/>
          </a:xfrm>
          <a:prstGeom prst="line">
            <a:avLst/>
          </a:prstGeom>
          <a:noFill/>
          <a:ln w="25400">
            <a:solidFill>
              <a:srgbClr val="00A896"/>
            </a:solidFill>
            <a:prstDash val="solid"/>
          </a:ln>
        </p:spPr>
      </p:sp>
      <p:sp>
        <p:nvSpPr>
          <p:cNvPr id="5" name="Text 3"/>
          <p:cNvSpPr/>
          <p:nvPr/>
        </p:nvSpPr>
        <p:spPr>
          <a:xfrm>
            <a:off x="548640" y="3886200"/>
            <a:ext cx="96012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Prochaine étape proposée : </a:t>
            </a:r>
            <a:pPr indent="0" marL="0">
              <a:buNone/>
            </a:pPr>
            <a:r>
              <a:rPr lang="en-US" sz="1400" dirty="0">
                <a:solidFill>
                  <a:srgbClr val="CADCFC"/>
                </a:solidFill>
                <a:latin typeface="Calibri" pitchFamily="34" charset="0"/>
                <a:ea typeface="Calibri" pitchFamily="34" charset="-122"/>
                <a:cs typeface="Calibri" pitchFamily="34" charset="-120"/>
              </a:rPr>
              <a:t>cadrer ensemble le POC 4-6 semaines (périmètre, prérequis, sizing).</a:t>
            </a:r>
            <a:endParaRPr lang="en-US" sz="1400" dirty="0"/>
          </a:p>
        </p:txBody>
      </p:sp>
      <p:sp>
        <p:nvSpPr>
          <p:cNvPr id="6" name="Text 4"/>
          <p:cNvSpPr/>
          <p:nvPr/>
        </p:nvSpPr>
        <p:spPr>
          <a:xfrm>
            <a:off x="548640" y="4572000"/>
            <a:ext cx="8229600" cy="365760"/>
          </a:xfrm>
          <a:prstGeom prst="rect">
            <a:avLst/>
          </a:prstGeom>
          <a:noFill/>
          <a:ln/>
        </p:spPr>
        <p:txBody>
          <a:bodyPr wrap="square" lIns="0" tIns="0" rIns="0" bIns="0" rtlCol="0" anchor="ctr"/>
          <a:lstStyle/>
          <a:p>
            <a:pPr indent="0" marL="0">
              <a:buNone/>
            </a:pPr>
            <a:r>
              <a:rPr lang="en-US" sz="1300" dirty="0">
                <a:solidFill>
                  <a:srgbClr val="00A896"/>
                </a:solidFill>
                <a:latin typeface="Calibri" pitchFamily="34" charset="0"/>
                <a:ea typeface="Calibri" pitchFamily="34" charset="-122"/>
                <a:cs typeface="Calibri" pitchFamily="34" charset="-120"/>
              </a:rPr>
              <a:t>[Contact]   ·   [Email]   ·   okdp.io</a:t>
            </a:r>
            <a:endParaRPr lang="en-US" sz="1300" dirty="0"/>
          </a:p>
        </p:txBody>
      </p:sp>
      <p:sp>
        <p:nvSpPr>
          <p:cNvPr id="7" name="Text 5"/>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8" name="Text 6"/>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ANNEXE A — STACK TECHNIQUE</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Composants et rôle dans la plateforme</a:t>
            </a:r>
            <a:endParaRPr lang="en-US" sz="3000" dirty="0"/>
          </a:p>
        </p:txBody>
      </p:sp>
      <p:sp>
        <p:nvSpPr>
          <p:cNvPr id="4" name="Shape 2"/>
          <p:cNvSpPr/>
          <p:nvPr/>
        </p:nvSpPr>
        <p:spPr>
          <a:xfrm>
            <a:off x="502920" y="1691640"/>
            <a:ext cx="2697480" cy="4023360"/>
          </a:xfrm>
          <a:prstGeom prst="roundRect">
            <a:avLst>
              <a:gd name="adj" fmla="val 2712"/>
            </a:avLst>
          </a:prstGeom>
          <a:solidFill>
            <a:srgbClr val="F2F5FC"/>
          </a:solidFill>
          <a:ln/>
        </p:spPr>
      </p:sp>
      <p:sp>
        <p:nvSpPr>
          <p:cNvPr id="5" name="Shape 3"/>
          <p:cNvSpPr/>
          <p:nvPr/>
        </p:nvSpPr>
        <p:spPr>
          <a:xfrm>
            <a:off x="502920" y="1691640"/>
            <a:ext cx="2697480" cy="502920"/>
          </a:xfrm>
          <a:prstGeom prst="rect">
            <a:avLst/>
          </a:prstGeom>
          <a:solidFill>
            <a:srgbClr val="1E2761"/>
          </a:solidFill>
          <a:ln/>
        </p:spPr>
      </p:sp>
      <p:sp>
        <p:nvSpPr>
          <p:cNvPr id="6" name="Text 4"/>
          <p:cNvSpPr/>
          <p:nvPr/>
        </p:nvSpPr>
        <p:spPr>
          <a:xfrm>
            <a:off x="640080" y="1691640"/>
            <a:ext cx="24231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Plateforme</a:t>
            </a:r>
            <a:endParaRPr lang="en-US" sz="1200" dirty="0"/>
          </a:p>
        </p:txBody>
      </p:sp>
      <p:sp>
        <p:nvSpPr>
          <p:cNvPr id="7" name="Text 5"/>
          <p:cNvSpPr/>
          <p:nvPr/>
        </p:nvSpPr>
        <p:spPr>
          <a:xfrm>
            <a:off x="640080" y="2331720"/>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Console (UI unique)</a:t>
            </a:r>
            <a:endParaRPr lang="en-US" sz="1150" dirty="0"/>
          </a:p>
        </p:txBody>
      </p:sp>
      <p:sp>
        <p:nvSpPr>
          <p:cNvPr id="8" name="Text 6"/>
          <p:cNvSpPr/>
          <p:nvPr/>
        </p:nvSpPr>
        <p:spPr>
          <a:xfrm>
            <a:off x="640080" y="2807208"/>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Control Plane (API Go)</a:t>
            </a:r>
            <a:endParaRPr lang="en-US" sz="1150" dirty="0"/>
          </a:p>
        </p:txBody>
      </p:sp>
      <p:sp>
        <p:nvSpPr>
          <p:cNvPr id="9" name="Text 7"/>
          <p:cNvSpPr/>
          <p:nvPr/>
        </p:nvSpPr>
        <p:spPr>
          <a:xfrm>
            <a:off x="640080" y="3282696"/>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KuboCD / Flux (GitOps)</a:t>
            </a:r>
            <a:endParaRPr lang="en-US" sz="1150" dirty="0"/>
          </a:p>
        </p:txBody>
      </p:sp>
      <p:sp>
        <p:nvSpPr>
          <p:cNvPr id="10" name="Text 8"/>
          <p:cNvSpPr/>
          <p:nvPr/>
        </p:nvSpPr>
        <p:spPr>
          <a:xfrm>
            <a:off x="640080" y="3758184"/>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kubauth (OIDC, users/groupes)</a:t>
            </a:r>
            <a:endParaRPr lang="en-US" sz="1150" dirty="0"/>
          </a:p>
        </p:txBody>
      </p:sp>
      <p:sp>
        <p:nvSpPr>
          <p:cNvPr id="11" name="Shape 9"/>
          <p:cNvSpPr/>
          <p:nvPr/>
        </p:nvSpPr>
        <p:spPr>
          <a:xfrm>
            <a:off x="3337560" y="1691640"/>
            <a:ext cx="2697480" cy="4023360"/>
          </a:xfrm>
          <a:prstGeom prst="roundRect">
            <a:avLst>
              <a:gd name="adj" fmla="val 2712"/>
            </a:avLst>
          </a:prstGeom>
          <a:solidFill>
            <a:srgbClr val="F2F5FC"/>
          </a:solidFill>
          <a:ln/>
        </p:spPr>
      </p:sp>
      <p:sp>
        <p:nvSpPr>
          <p:cNvPr id="12" name="Shape 10"/>
          <p:cNvSpPr/>
          <p:nvPr/>
        </p:nvSpPr>
        <p:spPr>
          <a:xfrm>
            <a:off x="3337560" y="1691640"/>
            <a:ext cx="2697480" cy="502920"/>
          </a:xfrm>
          <a:prstGeom prst="rect">
            <a:avLst/>
          </a:prstGeom>
          <a:solidFill>
            <a:srgbClr val="1E2761"/>
          </a:solidFill>
          <a:ln/>
        </p:spPr>
      </p:sp>
      <p:sp>
        <p:nvSpPr>
          <p:cNvPr id="13" name="Text 11"/>
          <p:cNvSpPr/>
          <p:nvPr/>
        </p:nvSpPr>
        <p:spPr>
          <a:xfrm>
            <a:off x="3474720" y="1691640"/>
            <a:ext cx="24231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Traitement &amp; orchestration</a:t>
            </a:r>
            <a:endParaRPr lang="en-US" sz="1200" dirty="0"/>
          </a:p>
        </p:txBody>
      </p:sp>
      <p:sp>
        <p:nvSpPr>
          <p:cNvPr id="14" name="Text 12"/>
          <p:cNvSpPr/>
          <p:nvPr/>
        </p:nvSpPr>
        <p:spPr>
          <a:xfrm>
            <a:off x="3474720" y="2331720"/>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Apache Spark</a:t>
            </a:r>
            <a:endParaRPr lang="en-US" sz="1150" dirty="0"/>
          </a:p>
        </p:txBody>
      </p:sp>
      <p:sp>
        <p:nvSpPr>
          <p:cNvPr id="15" name="Text 13"/>
          <p:cNvSpPr/>
          <p:nvPr/>
        </p:nvSpPr>
        <p:spPr>
          <a:xfrm>
            <a:off x="3474720" y="2807208"/>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Apache Airflow</a:t>
            </a:r>
            <a:endParaRPr lang="en-US" sz="1150" dirty="0"/>
          </a:p>
        </p:txBody>
      </p:sp>
      <p:sp>
        <p:nvSpPr>
          <p:cNvPr id="16" name="Text 14"/>
          <p:cNvSpPr/>
          <p:nvPr/>
        </p:nvSpPr>
        <p:spPr>
          <a:xfrm>
            <a:off x="3474720" y="3282696"/>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JupyterHub</a:t>
            </a:r>
            <a:endParaRPr lang="en-US" sz="1150" dirty="0"/>
          </a:p>
        </p:txBody>
      </p:sp>
      <p:sp>
        <p:nvSpPr>
          <p:cNvPr id="17" name="Shape 15"/>
          <p:cNvSpPr/>
          <p:nvPr/>
        </p:nvSpPr>
        <p:spPr>
          <a:xfrm>
            <a:off x="6172200" y="1691640"/>
            <a:ext cx="2697480" cy="4023360"/>
          </a:xfrm>
          <a:prstGeom prst="roundRect">
            <a:avLst>
              <a:gd name="adj" fmla="val 2712"/>
            </a:avLst>
          </a:prstGeom>
          <a:solidFill>
            <a:srgbClr val="F2F5FC"/>
          </a:solidFill>
          <a:ln/>
        </p:spPr>
      </p:sp>
      <p:sp>
        <p:nvSpPr>
          <p:cNvPr id="18" name="Shape 16"/>
          <p:cNvSpPr/>
          <p:nvPr/>
        </p:nvSpPr>
        <p:spPr>
          <a:xfrm>
            <a:off x="6172200" y="1691640"/>
            <a:ext cx="2697480" cy="502920"/>
          </a:xfrm>
          <a:prstGeom prst="rect">
            <a:avLst/>
          </a:prstGeom>
          <a:solidFill>
            <a:srgbClr val="1E2761"/>
          </a:solidFill>
          <a:ln/>
        </p:spPr>
      </p:sp>
      <p:sp>
        <p:nvSpPr>
          <p:cNvPr id="19" name="Text 17"/>
          <p:cNvSpPr/>
          <p:nvPr/>
        </p:nvSpPr>
        <p:spPr>
          <a:xfrm>
            <a:off x="6309360" y="1691640"/>
            <a:ext cx="24231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Lakehouse &amp; BI</a:t>
            </a:r>
            <a:endParaRPr lang="en-US" sz="1200" dirty="0"/>
          </a:p>
        </p:txBody>
      </p:sp>
      <p:sp>
        <p:nvSpPr>
          <p:cNvPr id="20" name="Text 18"/>
          <p:cNvSpPr/>
          <p:nvPr/>
        </p:nvSpPr>
        <p:spPr>
          <a:xfrm>
            <a:off x="6309360" y="2331720"/>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Trino (SQL fédéré)</a:t>
            </a:r>
            <a:endParaRPr lang="en-US" sz="1150" dirty="0"/>
          </a:p>
        </p:txBody>
      </p:sp>
      <p:sp>
        <p:nvSpPr>
          <p:cNvPr id="21" name="Text 19"/>
          <p:cNvSpPr/>
          <p:nvPr/>
        </p:nvSpPr>
        <p:spPr>
          <a:xfrm>
            <a:off x="6309360" y="2807208"/>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Apache Polaris (catalogue Iceberg)</a:t>
            </a:r>
            <a:endParaRPr lang="en-US" sz="1150" dirty="0"/>
          </a:p>
        </p:txBody>
      </p:sp>
      <p:sp>
        <p:nvSpPr>
          <p:cNvPr id="22" name="Text 20"/>
          <p:cNvSpPr/>
          <p:nvPr/>
        </p:nvSpPr>
        <p:spPr>
          <a:xfrm>
            <a:off x="6309360" y="3282696"/>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Apache Superset (BI)</a:t>
            </a:r>
            <a:endParaRPr lang="en-US" sz="1150" dirty="0"/>
          </a:p>
        </p:txBody>
      </p:sp>
      <p:sp>
        <p:nvSpPr>
          <p:cNvPr id="23" name="Shape 21"/>
          <p:cNvSpPr/>
          <p:nvPr/>
        </p:nvSpPr>
        <p:spPr>
          <a:xfrm>
            <a:off x="9006840" y="1691640"/>
            <a:ext cx="2697480" cy="4023360"/>
          </a:xfrm>
          <a:prstGeom prst="roundRect">
            <a:avLst>
              <a:gd name="adj" fmla="val 2712"/>
            </a:avLst>
          </a:prstGeom>
          <a:solidFill>
            <a:srgbClr val="F2F5FC"/>
          </a:solidFill>
          <a:ln/>
        </p:spPr>
      </p:sp>
      <p:sp>
        <p:nvSpPr>
          <p:cNvPr id="24" name="Shape 22"/>
          <p:cNvSpPr/>
          <p:nvPr/>
        </p:nvSpPr>
        <p:spPr>
          <a:xfrm>
            <a:off x="9006840" y="1691640"/>
            <a:ext cx="2697480" cy="502920"/>
          </a:xfrm>
          <a:prstGeom prst="rect">
            <a:avLst/>
          </a:prstGeom>
          <a:solidFill>
            <a:srgbClr val="1E2761"/>
          </a:solidFill>
          <a:ln/>
        </p:spPr>
      </p:sp>
      <p:sp>
        <p:nvSpPr>
          <p:cNvPr id="25" name="Text 23"/>
          <p:cNvSpPr/>
          <p:nvPr/>
        </p:nvSpPr>
        <p:spPr>
          <a:xfrm>
            <a:off x="9144000" y="1691640"/>
            <a:ext cx="242316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Stockage &amp; sécurité</a:t>
            </a:r>
            <a:endParaRPr lang="en-US" sz="1200" dirty="0"/>
          </a:p>
        </p:txBody>
      </p:sp>
      <p:sp>
        <p:nvSpPr>
          <p:cNvPr id="26" name="Text 24"/>
          <p:cNvSpPr/>
          <p:nvPr/>
        </p:nvSpPr>
        <p:spPr>
          <a:xfrm>
            <a:off x="9144000" y="2331720"/>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SeaweedFS (stockage S3)</a:t>
            </a:r>
            <a:endParaRPr lang="en-US" sz="1150" dirty="0"/>
          </a:p>
        </p:txBody>
      </p:sp>
      <p:sp>
        <p:nvSpPr>
          <p:cNvPr id="27" name="Text 25"/>
          <p:cNvSpPr/>
          <p:nvPr/>
        </p:nvSpPr>
        <p:spPr>
          <a:xfrm>
            <a:off x="9144000" y="2807208"/>
            <a:ext cx="2423160" cy="438912"/>
          </a:xfrm>
          <a:prstGeom prst="rect">
            <a:avLst/>
          </a:prstGeom>
          <a:noFill/>
          <a:ln/>
        </p:spPr>
        <p:txBody>
          <a:bodyPr wrap="square" lIns="0" tIns="0" rIns="0" bIns="0" rtlCol="0" anchor="ctr"/>
          <a:lstStyle/>
          <a:p>
            <a:pPr indent="0" marL="0">
              <a:buNone/>
            </a:pPr>
            <a:r>
              <a:rPr lang="en-US" sz="1150" dirty="0">
                <a:solidFill>
                  <a:srgbClr val="1B2033"/>
                </a:solidFill>
                <a:latin typeface="Calibri" pitchFamily="34" charset="0"/>
                <a:ea typeface="Calibri" pitchFamily="34" charset="-122"/>
                <a:cs typeface="Calibri" pitchFamily="34" charset="-120"/>
              </a:rPr>
              <a:t>•  Vault / External Secrets</a:t>
            </a:r>
            <a:endParaRPr lang="en-US" sz="1150" dirty="0"/>
          </a:p>
        </p:txBody>
      </p:sp>
      <p:sp>
        <p:nvSpPr>
          <p:cNvPr id="28" name="Shape 26"/>
          <p:cNvSpPr/>
          <p:nvPr/>
        </p:nvSpPr>
        <p:spPr>
          <a:xfrm>
            <a:off x="502920" y="5989320"/>
            <a:ext cx="11155680" cy="566928"/>
          </a:xfrm>
          <a:prstGeom prst="roundRect">
            <a:avLst>
              <a:gd name="adj" fmla="val 12903"/>
            </a:avLst>
          </a:prstGeom>
          <a:solidFill>
            <a:srgbClr val="E9EEF9"/>
          </a:solidFill>
          <a:ln/>
        </p:spPr>
      </p:sp>
      <p:sp>
        <p:nvSpPr>
          <p:cNvPr id="29" name="Text 27"/>
          <p:cNvSpPr/>
          <p:nvPr/>
        </p:nvSpPr>
        <p:spPr>
          <a:xfrm>
            <a:off x="777240" y="5989320"/>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100% open source, Apache 2.0 — chaque brique reste auditable et remplaçable.</a:t>
            </a:r>
            <a:endParaRPr lang="en-US" sz="1200" dirty="0"/>
          </a:p>
        </p:txBody>
      </p:sp>
      <p:sp>
        <p:nvSpPr>
          <p:cNvPr id="30" name="Text 28"/>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31" name="Text 29"/>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Annexe A</a:t>
            </a:r>
            <a:endParaRPr lang="en-US" sz="900" dirty="0"/>
          </a:p>
        </p:txBody>
      </p:sp>
      <p:sp>
        <p:nvSpPr>
          <p:cNvPr id="32" name="Text 30"/>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ANNEXE B — PRÉREQUIS</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Ce qu'il faut avant de démarrer</a:t>
            </a:r>
            <a:endParaRPr lang="en-US" sz="3000" dirty="0"/>
          </a:p>
        </p:txBody>
      </p:sp>
      <p:sp>
        <p:nvSpPr>
          <p:cNvPr id="4" name="Shape 2"/>
          <p:cNvSpPr/>
          <p:nvPr/>
        </p:nvSpPr>
        <p:spPr>
          <a:xfrm>
            <a:off x="502920" y="1618488"/>
            <a:ext cx="457200" cy="457200"/>
          </a:xfrm>
          <a:prstGeom prst="ellipse">
            <a:avLst/>
          </a:prstGeom>
          <a:solidFill>
            <a:srgbClr val="00A896"/>
          </a:solidFill>
          <a:ln/>
        </p:spPr>
      </p:sp>
      <p:sp>
        <p:nvSpPr>
          <p:cNvPr id="5" name="Text 3"/>
          <p:cNvSpPr/>
          <p:nvPr/>
        </p:nvSpPr>
        <p:spPr>
          <a:xfrm>
            <a:off x="502920" y="1618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61288" y="1554480"/>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Cluster Kubernetes cible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on-prem, cloud souverain ou private cloud, accessible et administrable par l'équipe plateforme du client.</a:t>
            </a:r>
            <a:endParaRPr lang="en-US" sz="1500" dirty="0"/>
          </a:p>
        </p:txBody>
      </p:sp>
      <p:sp>
        <p:nvSpPr>
          <p:cNvPr id="7" name="Shape 5"/>
          <p:cNvSpPr/>
          <p:nvPr/>
        </p:nvSpPr>
        <p:spPr>
          <a:xfrm>
            <a:off x="502920" y="2825496"/>
            <a:ext cx="457200" cy="457200"/>
          </a:xfrm>
          <a:prstGeom prst="ellipse">
            <a:avLst/>
          </a:prstGeom>
          <a:solidFill>
            <a:srgbClr val="00A896"/>
          </a:solidFill>
          <a:ln/>
        </p:spPr>
      </p:sp>
      <p:sp>
        <p:nvSpPr>
          <p:cNvPr id="8" name="Text 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61288" y="2761488"/>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Identité d'entreprise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un fournisseur d'identité compatible OIDC (existant ou à provisionner) pour l'intégration avec kubauth.</a:t>
            </a:r>
            <a:endParaRPr lang="en-US" sz="1500" dirty="0"/>
          </a:p>
        </p:txBody>
      </p:sp>
      <p:sp>
        <p:nvSpPr>
          <p:cNvPr id="10" name="Shape 8"/>
          <p:cNvSpPr/>
          <p:nvPr/>
        </p:nvSpPr>
        <p:spPr>
          <a:xfrm>
            <a:off x="502920" y="4032504"/>
            <a:ext cx="457200" cy="457200"/>
          </a:xfrm>
          <a:prstGeom prst="ellipse">
            <a:avLst/>
          </a:prstGeom>
          <a:solidFill>
            <a:srgbClr val="00A896"/>
          </a:solidFill>
          <a:ln/>
        </p:spPr>
      </p:sp>
      <p:sp>
        <p:nvSpPr>
          <p:cNvPr id="11" name="Text 9"/>
          <p:cNvSpPr/>
          <p:nvPr/>
        </p:nvSpPr>
        <p:spPr>
          <a:xfrm>
            <a:off x="50292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61288" y="3968496"/>
            <a:ext cx="10497312" cy="1069848"/>
          </a:xfrm>
          <a:prstGeom prst="rect">
            <a:avLst/>
          </a:prstGeom>
          <a:noFill/>
          <a:ln/>
        </p:spPr>
        <p:txBody>
          <a:bodyPr wrap="square" lIns="0" tIns="0" rIns="0" bIns="0" rtlCol="0" anchor="t"/>
          <a:lstStyle/>
          <a:p>
            <a:pPr indent="0" marL="0">
              <a:lnSpc>
                <a:spcPct val="115000"/>
              </a:lnSpc>
              <a:buNone/>
            </a:pPr>
            <a:r>
              <a:rPr lang="en-US" sz="1500" b="1" dirty="0">
                <a:solidFill>
                  <a:srgbClr val="1E2761"/>
                </a:solidFill>
                <a:latin typeface="Calibri" pitchFamily="34" charset="0"/>
                <a:ea typeface="Calibri" pitchFamily="34" charset="-122"/>
                <a:cs typeface="Calibri" pitchFamily="34" charset="-120"/>
              </a:rPr>
              <a:t>Stockage compatible S3 :  </a:t>
            </a:r>
            <a:pPr indent="0" marL="0">
              <a:lnSpc>
                <a:spcPct val="115000"/>
              </a:lnSpc>
              <a:buNone/>
            </a:pPr>
            <a:r>
              <a:rPr lang="en-US" sz="1400" dirty="0">
                <a:solidFill>
                  <a:srgbClr val="1B2033"/>
                </a:solidFill>
                <a:latin typeface="Calibri" pitchFamily="34" charset="0"/>
                <a:ea typeface="Calibri" pitchFamily="34" charset="-122"/>
                <a:cs typeface="Calibri" pitchFamily="34" charset="-120"/>
              </a:rPr>
              <a:t>un espace de stockage objet (SeaweedFS embarqué, ou solution S3 existante) pour le lakehouse Iceberg.</a:t>
            </a:r>
            <a:endParaRPr lang="en-US" sz="1500" dirty="0"/>
          </a:p>
        </p:txBody>
      </p:sp>
      <p:sp>
        <p:nvSpPr>
          <p:cNvPr id="13" name="Shape 11"/>
          <p:cNvSpPr/>
          <p:nvPr/>
        </p:nvSpPr>
        <p:spPr>
          <a:xfrm>
            <a:off x="502920" y="5989320"/>
            <a:ext cx="11155680" cy="566928"/>
          </a:xfrm>
          <a:prstGeom prst="roundRect">
            <a:avLst>
              <a:gd name="adj" fmla="val 12903"/>
            </a:avLst>
          </a:prstGeom>
          <a:solidFill>
            <a:srgbClr val="E9EEF9"/>
          </a:solidFill>
          <a:ln/>
        </p:spPr>
      </p:sp>
      <p:sp>
        <p:nvSpPr>
          <p:cNvPr id="14" name="Text 12"/>
          <p:cNvSpPr/>
          <p:nvPr/>
        </p:nvSpPr>
        <p:spPr>
          <a:xfrm>
            <a:off x="777240" y="5989320"/>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Le détail exact (versions, réseau, stockage) se confirme lors de l'atelier de cadrage du POC.</a:t>
            </a:r>
            <a:endParaRPr lang="en-US" sz="1200" dirty="0"/>
          </a:p>
        </p:txBody>
      </p:sp>
      <p:sp>
        <p:nvSpPr>
          <p:cNvPr id="15" name="Text 13"/>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6" name="Text 14"/>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Annexe B</a:t>
            </a:r>
            <a:endParaRPr lang="en-US" sz="900" dirty="0"/>
          </a:p>
        </p:txBody>
      </p:sp>
      <p:sp>
        <p:nvSpPr>
          <p:cNvPr id="17" name="Text 15"/>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058400" cy="274320"/>
          </a:xfrm>
          <a:prstGeom prst="rect">
            <a:avLst/>
          </a:prstGeom>
          <a:noFill/>
          <a:ln/>
        </p:spPr>
        <p:txBody>
          <a:bodyPr wrap="square" lIns="0" tIns="0" rIns="0" bIns="0" rtlCol="0" anchor="ctr"/>
          <a:lstStyle/>
          <a:p>
            <a:pPr indent="0" marL="0">
              <a:buNone/>
            </a:pPr>
            <a:r>
              <a:rPr lang="en-US" sz="1200" b="1" spc="200" kern="0" dirty="0">
                <a:solidFill>
                  <a:srgbClr val="017A72"/>
                </a:solidFill>
                <a:latin typeface="Calibri" pitchFamily="34" charset="0"/>
                <a:ea typeface="Calibri" pitchFamily="34" charset="-122"/>
                <a:cs typeface="Calibri" pitchFamily="34" charset="-120"/>
              </a:rPr>
              <a:t>ANNEXE C — SIZING INDICATIF</a:t>
            </a:r>
            <a:endParaRPr lang="en-US" sz="1200" dirty="0"/>
          </a:p>
        </p:txBody>
      </p:sp>
      <p:sp>
        <p:nvSpPr>
          <p:cNvPr id="3" name="Text 1"/>
          <p:cNvSpPr/>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Un cadre de dimensionnement, à affiner ensemble</a:t>
            </a:r>
            <a:endParaRPr lang="en-US" sz="3000" dirty="0"/>
          </a:p>
        </p:txBody>
      </p:sp>
      <p:sp>
        <p:nvSpPr>
          <p:cNvPr id="4" name="Shape 2"/>
          <p:cNvSpPr/>
          <p:nvPr/>
        </p:nvSpPr>
        <p:spPr>
          <a:xfrm>
            <a:off x="502920" y="1828800"/>
            <a:ext cx="5394960" cy="3108960"/>
          </a:xfrm>
          <a:prstGeom prst="roundRect">
            <a:avLst>
              <a:gd name="adj" fmla="val 2941"/>
            </a:avLst>
          </a:prstGeom>
          <a:solidFill>
            <a:srgbClr val="1E2761"/>
          </a:solidFill>
          <a:ln/>
        </p:spPr>
      </p:sp>
      <p:sp>
        <p:nvSpPr>
          <p:cNvPr id="5" name="Text 3"/>
          <p:cNvSpPr/>
          <p:nvPr/>
        </p:nvSpPr>
        <p:spPr>
          <a:xfrm>
            <a:off x="777240" y="210312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POC</a:t>
            </a:r>
            <a:endParaRPr lang="en-US" sz="2000" dirty="0"/>
          </a:p>
        </p:txBody>
      </p:sp>
      <p:sp>
        <p:nvSpPr>
          <p:cNvPr id="6" name="Text 4"/>
          <p:cNvSpPr/>
          <p:nvPr/>
        </p:nvSpPr>
        <p:spPr>
          <a:xfrm>
            <a:off x="777240" y="2606040"/>
            <a:ext cx="484632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5-10 utilisateurs pilotes</a:t>
            </a:r>
            <a:endParaRPr lang="en-US" sz="1300" dirty="0"/>
          </a:p>
        </p:txBody>
      </p:sp>
      <p:sp>
        <p:nvSpPr>
          <p:cNvPr id="7" name="Text 5"/>
          <p:cNvSpPr/>
          <p:nvPr/>
        </p:nvSpPr>
        <p:spPr>
          <a:xfrm>
            <a:off x="777240" y="3200400"/>
            <a:ext cx="4846320" cy="155448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Dimensionnement minimal pour valider les usages (lakehouse + SSO) sans contrainte de charge.</a:t>
            </a:r>
            <a:endParaRPr lang="en-US" sz="1300" dirty="0"/>
          </a:p>
        </p:txBody>
      </p:sp>
      <p:sp>
        <p:nvSpPr>
          <p:cNvPr id="8" name="Shape 6"/>
          <p:cNvSpPr/>
          <p:nvPr/>
        </p:nvSpPr>
        <p:spPr>
          <a:xfrm>
            <a:off x="6263640" y="1828800"/>
            <a:ext cx="5394960" cy="3108960"/>
          </a:xfrm>
          <a:prstGeom prst="roundRect">
            <a:avLst>
              <a:gd name="adj" fmla="val 2941"/>
            </a:avLst>
          </a:prstGeom>
          <a:solidFill>
            <a:srgbClr val="017A72"/>
          </a:solidFill>
          <a:ln/>
        </p:spPr>
      </p:sp>
      <p:sp>
        <p:nvSpPr>
          <p:cNvPr id="9" name="Text 7"/>
          <p:cNvSpPr/>
          <p:nvPr/>
        </p:nvSpPr>
        <p:spPr>
          <a:xfrm>
            <a:off x="6537960" y="210312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Production</a:t>
            </a:r>
            <a:endParaRPr lang="en-US" sz="2000" dirty="0"/>
          </a:p>
        </p:txBody>
      </p:sp>
      <p:sp>
        <p:nvSpPr>
          <p:cNvPr id="10" name="Text 8"/>
          <p:cNvSpPr/>
          <p:nvPr/>
        </p:nvSpPr>
        <p:spPr>
          <a:xfrm>
            <a:off x="6537960" y="2606040"/>
            <a:ext cx="484632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Montée en charge progressive</a:t>
            </a:r>
            <a:endParaRPr lang="en-US" sz="1300" dirty="0"/>
          </a:p>
        </p:txBody>
      </p:sp>
      <p:sp>
        <p:nvSpPr>
          <p:cNvPr id="11" name="Text 9"/>
          <p:cNvSpPr/>
          <p:nvPr/>
        </p:nvSpPr>
        <p:spPr>
          <a:xfrm>
            <a:off x="6537960" y="3200400"/>
            <a:ext cx="4846320" cy="155448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Dimensionnement défini avec l'équipe plateforme selon volumétrie de données, nombre d'utilisateurs et charge de calcul réels.</a:t>
            </a:r>
            <a:endParaRPr lang="en-US" sz="1300" dirty="0"/>
          </a:p>
        </p:txBody>
      </p:sp>
      <p:sp>
        <p:nvSpPr>
          <p:cNvPr id="12" name="Shape 10"/>
          <p:cNvSpPr/>
          <p:nvPr/>
        </p:nvSpPr>
        <p:spPr>
          <a:xfrm>
            <a:off x="502920" y="5257800"/>
            <a:ext cx="11155680" cy="566928"/>
          </a:xfrm>
          <a:prstGeom prst="roundRect">
            <a:avLst>
              <a:gd name="adj" fmla="val 12903"/>
            </a:avLst>
          </a:prstGeom>
          <a:solidFill>
            <a:srgbClr val="E9EEF9"/>
          </a:solidFill>
          <a:ln/>
        </p:spPr>
      </p:sp>
      <p:sp>
        <p:nvSpPr>
          <p:cNvPr id="13" name="Text 11"/>
          <p:cNvSpPr/>
          <p:nvPr/>
        </p:nvSpPr>
        <p:spPr>
          <a:xfrm>
            <a:off x="777240" y="5257800"/>
            <a:ext cx="10607040" cy="56692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SO WHAT   </a:t>
            </a:r>
            <a:pPr indent="0" marL="0">
              <a:buNone/>
            </a:pPr>
            <a:r>
              <a:rPr lang="en-US" sz="1300" i="1" dirty="0">
                <a:solidFill>
                  <a:srgbClr val="1E2761"/>
                </a:solidFill>
                <a:latin typeface="Calibri" pitchFamily="34" charset="0"/>
                <a:ea typeface="Calibri" pitchFamily="34" charset="-122"/>
                <a:cs typeface="Calibri" pitchFamily="34" charset="-120"/>
              </a:rPr>
              <a:t>Le sizing précis (CPU, mémoire, stockage) se construit avec vous, sur la base de vos volumétries réelles.</a:t>
            </a:r>
            <a:endParaRPr lang="en-US" sz="1200" dirty="0"/>
          </a:p>
        </p:txBody>
      </p:sp>
      <p:sp>
        <p:nvSpPr>
          <p:cNvPr id="14" name="Text 12"/>
          <p:cNvSpPr/>
          <p:nvPr/>
        </p:nvSpPr>
        <p:spPr>
          <a:xfrm>
            <a:off x="457200" y="6528816"/>
            <a:ext cx="182880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OKDP</a:t>
            </a:r>
            <a:endParaRPr lang="en-US" sz="900" dirty="0"/>
          </a:p>
        </p:txBody>
      </p:sp>
      <p:sp>
        <p:nvSpPr>
          <p:cNvPr id="15" name="Text 13"/>
          <p:cNvSpPr/>
          <p:nvPr/>
        </p:nvSpPr>
        <p:spPr>
          <a:xfrm>
            <a:off x="3337560" y="6528816"/>
            <a:ext cx="5486400"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Annexe C</a:t>
            </a:r>
            <a:endParaRPr lang="en-US" sz="900" dirty="0"/>
          </a:p>
        </p:txBody>
      </p:sp>
      <p:sp>
        <p:nvSpPr>
          <p:cNvPr id="16" name="Text 14"/>
          <p:cNvSpPr/>
          <p:nvPr/>
        </p:nvSpPr>
        <p:spPr>
          <a:xfrm>
            <a:off x="11247120" y="6528816"/>
            <a:ext cx="45720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2026-07-15T12:54:37Z</dcterms:created>
  <dcterms:modified xsi:type="dcterms:W3CDTF">2026-07-15T12:54:37Z</dcterms:modified>
</cp:coreProperties>
</file>